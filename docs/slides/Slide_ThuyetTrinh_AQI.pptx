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tiêu đề. Hào mở đầu, chào hội đồng, giới thiệu nhóm và đề tài. Nhấn: trình bày theo DÒNG DỮ LIỆU — Thu thập → Lưu trữ → Xử lý → Phục vụ → Hiển thị, mỗi người phụ trách một tầng.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5 phần theo dòng dữ liệu, mỗi người trình bày một tầng. Đây là bản đồ để hội đồng theo dõi mạch bàn giao xuôi.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Hào bắt đầu phần THU THẬP — điểm khởi đầu của dòng dữ liệu.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bài toán: đầu vào nồng độ 8 chất; đầu ra AQI chuẩn VN. 5 việc hệ thống phải làm. Chốt: owm_aqi (1–5) không thay được AQI VN (0–500) → nhóm tự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3V: Volume 8,5 triệu bản ghi thật; Velocity luồng live mỗi giờ qua Kafka; Veracity nguồn thiếu 2,2%, timestamp/toạ độ lệch. Variety thấp → trọng tâm Velocity+Veracity.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toàn hệ thống: OpenWeather→Collector→Kafka→Spark→{HDFS,HBase}→FastAPI→Grafana. Kiến trúc lai batch+streaming cảm hứng Lambda; hai làn độc lập chỉ gặp ở đầu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Kafka: broker + buffer, KHÔNG thu thập. Topic raw 3 partition key=station_id; DLQ cho bản sai schema. Spark chết vài giờ dữ liệu vẫn chờ. Hai điểm dễ nhầm: thu thập=Collector; stream=Spark Structured Streaming. Chuyển: mời Bảo nói về HDFS.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Hào bàn giao cho Bảo — tầng LƯU TRỮ.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HDFS: block + replication qua nhiều DataNode; NameNode giữ metadata. Đồ án dfs.replication=1. HDFS vừa input vừa output của Spark.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tầng /raw→/clean→/aqi→/agg (C1→C4), mỗi tầng thêm thông tin, không sửa ngược. HDFS cũng chứa /checkpoints và /hbase → dẫn sang quan hệ HDFS–HBase.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HBase đặt hbase.rootdir trên HDFS, MemStore flush thành HFile xuống HDFS. Tái dùng HDFS sẵn có, native với Hadoop/Spark, truy cập qua Thrift. Chuyển: mời Huyền nói về Spark.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bàn giao cho Huyền — phần lõi, ~3.5 phút.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Spark làm cả batch và streaming, cùng gọi MỘT aqi_core. Mapper↔withColumn, Reducer↔groupBy().agg(). Ba pha lõi: làm sạch→tính AQI→tổng hợp.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ánh xạ Mapper/Reducer 3 pha. Pha1 làm sạch→/clean; Pha2 AQI=max(IAQI)→/aqi; Pha3 tổng hợp→/agg+HBase. Thứ tự Pha1: khử trùng lặp/lọc ngoại lai trước, nội suy ≤3h, rồi trung bình.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breakpoint, AQI=max 6 chất. Ví dụ PM2.5 35,2→70,4. PM dùng NowCast 12h (AQI giờ), TB24h (AQI 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 trên 100K/1M/8M. 100K: 4 exec còn chậm hơn 2 exec do overhead; 8M: speedup 2,43×. Dữ liệu tổng hợp, executor thật đã xác minh.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Speedup dưới đường lý tưởng do Python UDF serialize + shuffle. Giới hạn: 4 worker cùng một máy, chưa phải cụm đa node, đo một lần. Vẫn là bằng chứng xu hướng cần phân tán. Chuyển: mời Khôi nói HBase.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Huyền bàn giao cho Khôi — phần NoSQL, ~3 phút.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HBase wide-column trên HDFS. Client giao tiếp trực tiếp RegionServer; ZooKeeper điều phối; HMaster quản trị; RegionServer chứa Region/MemStore/WAL; flush thành HFile xuống HDFS. HMaster không nằm trên luồng đọc/ghi → tránh nút thắt cổ chai.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CAP: HBase CP, Cassandra AP, MongoDB CP. Chọn CP vì dashboard AQI phải đọc đúng giá trị mới nhất. Bốn lý do chọn HBase: native HDFS/Spark, CP, RowKey chuỗi thời gian+range scan, đọc/ghi ngẫu nhiên nhanh.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RowKey {station_id}#{reverse_ts}. Prefix chống hotspot; reverse_ts đưa bản mới nhất lên đầu; range scan theo prefix. Một CF 'd'. Chuyển: mời Diệp hiển thị &amp;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Khôi bàn giao cho Diệp — hiển thị + DEMO, ~3.5 phút, có video dự phòng.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HBase→FastAPI (7 endpoint, Thrift, có retry)→Grafana (Infinity). Grafana PULL ~30s. FastAPI bù việc HBase không có truy vấn phức tạp. Dashboard: trạm/bản đồ/AQI/xếp hạng/chuỗi thời gian/phân cụm/dự báo.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4 bước: docker compose up 11 service → /health ok + Web UI → HBase shell scan air_quality → Grafana dashboard dữ liệu thật. LUÔN có video dự phòng. Baseline tag final-run-stable, 97 test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thật: Top 5 (Trung Đông + Lạng Sơn). Phân cụm K-means k=3 silhouette 0,3547 (yếu). Dự báo Random Forest RMSE 20,10/R² 0,73. owm_aqi tương quan cùng chiều nhưng chồng lấn rộng → không thay được AQI VN. Mô hình do máy tự chọn theo chỉ số → khách quan.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luận: hệ thống Big Data end-to-end chạy thật; đóng góp chính tự tính AQI chuẩn VN; HBase serving; hai nhánh máy tự chọn mô hình; scalability 2,43×; 97 test. Hướng phát triển: cụm đa node, thêm mô hình, pandas_udf, cảnh báo realtime, thêm nguồn dữ liệu.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Một số tài liệu tham khảo chính: hai bài báo 2015 (El Fazziki, Ghaemi), QĐ 1459, OpenWeather API, tài liệu Apache, và ba project GitHub tham khảo.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Cả nhóm sẵn sàng nhận câu hỏi — mỗi người trả lời phần mình phụ trách.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9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 ÁN PHÂN TÍCH DỮ LIỆU LỚN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Dữ liệu Chất lượng Không khí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Quality Index (AQI) Analytics — hệ thống Big Data end-to-end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40384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40384" y="37033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959456" y="395935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1" name="Shape 8"/>
          <p:cNvSpPr/>
          <p:nvPr/>
        </p:nvSpPr>
        <p:spPr>
          <a:xfrm>
            <a:off x="3233776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33776" y="37033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952848" y="395935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4" name="Shape 11"/>
          <p:cNvSpPr/>
          <p:nvPr/>
        </p:nvSpPr>
        <p:spPr>
          <a:xfrm>
            <a:off x="5227168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27168" y="37033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946240" y="395935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7" name="Shape 14"/>
          <p:cNvSpPr/>
          <p:nvPr/>
        </p:nvSpPr>
        <p:spPr>
          <a:xfrm>
            <a:off x="7220560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20560" y="37033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939632" y="395935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20" name="Shape 17"/>
          <p:cNvSpPr/>
          <p:nvPr/>
        </p:nvSpPr>
        <p:spPr>
          <a:xfrm>
            <a:off x="9213952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13952" y="37033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4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Lớp DS200.F31.CN2.TTNT   ·   GVHD: ThS. Nguyễn Hồ Duy Trí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28523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· Bảo · Huyền · Khôi · Diệp    —    trình bày theo dòng dữ liệu, ~15 phút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669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TP. Hồ Chí Minh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51560" y="1554480"/>
            <a:ext cx="10058400" cy="786384"/>
          </a:xfrm>
          <a:prstGeom prst="roundRect">
            <a:avLst>
              <a:gd name="adj" fmla="val 69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34440" y="1719072"/>
            <a:ext cx="457200" cy="457200"/>
          </a:xfrm>
          <a:prstGeom prst="ellipse">
            <a:avLst/>
          </a:prstGeom>
          <a:solidFill>
            <a:srgbClr val="3B9E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34440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1554480"/>
            <a:ext cx="4754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   </a:t>
            </a:r>
            <a:pPr indent="0" marL="0">
              <a:buNone/>
            </a:pPr>
            <a:r>
              <a:rPr lang="en-US" sz="1300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Kafka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1554480"/>
            <a:ext cx="2011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Hào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1554480"/>
            <a:ext cx="23774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· 3V · kiến trúc · Kafka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051560" y="2487168"/>
            <a:ext cx="10058400" cy="786384"/>
          </a:xfrm>
          <a:prstGeom prst="roundRect">
            <a:avLst>
              <a:gd name="adj" fmla="val 69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234440" y="2651760"/>
            <a:ext cx="457200" cy="457200"/>
          </a:xfrm>
          <a:prstGeom prst="ellipse">
            <a:avLst/>
          </a:prstGeom>
          <a:solidFill>
            <a:srgbClr val="34D3B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344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2487168"/>
            <a:ext cx="4754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   </a:t>
            </a:r>
            <a:pPr indent="0" marL="0">
              <a:buNone/>
            </a:pPr>
            <a:r>
              <a:rPr lang="en-US" sz="1300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HDFS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2487168"/>
            <a:ext cx="2011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Bảo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595360" y="2487168"/>
            <a:ext cx="23774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· 4 tầng · quan hệ HBase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51560" y="3419856"/>
            <a:ext cx="10058400" cy="786384"/>
          </a:xfrm>
          <a:prstGeom prst="roundRect">
            <a:avLst>
              <a:gd name="adj" fmla="val 69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234440" y="3584448"/>
            <a:ext cx="457200" cy="457200"/>
          </a:xfrm>
          <a:prstGeom prst="ellipse">
            <a:avLst/>
          </a:prstGeom>
          <a:solidFill>
            <a:srgbClr val="FF9E4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234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874520" y="3419856"/>
            <a:ext cx="4754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  </a:t>
            </a:r>
            <a:pPr indent="0" marL="0">
              <a:buNone/>
            </a:pPr>
            <a:r>
              <a:rPr lang="en-US" sz="1300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3419856"/>
            <a:ext cx="2011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595360" y="3419856"/>
            <a:ext cx="23774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3 pha · thuật toán AQI · scalability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1051560" y="4352544"/>
            <a:ext cx="10058400" cy="786384"/>
          </a:xfrm>
          <a:prstGeom prst="roundRect">
            <a:avLst>
              <a:gd name="adj" fmla="val 69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234440" y="4517136"/>
            <a:ext cx="457200" cy="457200"/>
          </a:xfrm>
          <a:prstGeom prst="ellipse">
            <a:avLst/>
          </a:prstGeom>
          <a:solidFill>
            <a:srgbClr val="B58BF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23444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874520" y="4352544"/>
            <a:ext cx="4754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   </a:t>
            </a:r>
            <a:pPr indent="0" marL="0">
              <a:buNone/>
            </a:pPr>
            <a:r>
              <a:rPr lang="en-US" sz="1300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HBase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4352544"/>
            <a:ext cx="2011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Khôi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595360" y="4352544"/>
            <a:ext cx="23774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 · CAP · RowKey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051560" y="5285232"/>
            <a:ext cx="10058400" cy="786384"/>
          </a:xfrm>
          <a:prstGeom prst="roundRect">
            <a:avLst>
              <a:gd name="adj" fmla="val 69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234440" y="5449824"/>
            <a:ext cx="457200" cy="457200"/>
          </a:xfrm>
          <a:prstGeom prst="ellipse">
            <a:avLst/>
          </a:prstGeom>
          <a:solidFill>
            <a:srgbClr val="53D07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234440" y="5449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874520" y="5285232"/>
            <a:ext cx="4754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   </a:t>
            </a:r>
            <a:pPr indent="0" marL="0">
              <a:buNone/>
            </a:pPr>
            <a:r>
              <a:rPr lang="en-US" sz="1300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Grafana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6675120" y="5285232"/>
            <a:ext cx="20116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Diệp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595360" y="5285232"/>
            <a:ext cx="23774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· DEMO · kết quả · kết luận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3B9E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3B9EFF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63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</a:t>
            </a:r>
            <a:endParaRPr lang="en-US" sz="42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Hào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B9EFF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Kafka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toán: từ nồng độ ô nhiễm đến chỉ số AQI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&amp; Đầu ra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49834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</a:t>
            </a:r>
            <a:endParaRPr lang="en-US" sz="11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Nồng độ 8 chất ô nhiễm (µg/m³) theo giờ, cho từng cặp (trạm, thời gian) — cả dữ liệu hiện tại và lịch sử nhiều năm.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100" kern="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AQI theo chuẩn Việt Nam (QĐ 1459), bảng tổng hợp &amp; xếp hạng thành phố, dashboard trực quan.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45352" y="1417320"/>
            <a:ext cx="5394960" cy="3977640"/>
          </a:xfrm>
          <a:prstGeom prst="roundRect">
            <a:avLst>
              <a:gd name="adj" fmla="val 137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73952" y="15361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cần làm gì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473952" y="1938528"/>
            <a:ext cx="493776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 &amp; lưu trữ phân tán dữ liệu quan trắc quy mô lớn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sạch: khử trùng lặp, loại giá trị bất thường, xử lý điểm thiếu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theo QĐ 1459 từ nồng độ — đóng góp thuật toán chính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hợp, xếp hạng thành phố, phân tích phân bố &amp; xu hướng</a:t>
            </a:r>
            <a:endParaRPr lang="en-US" sz="13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 kết quả qua HBase để trực quan trên Grafana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7059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ý quan trọng:  </a:t>
            </a:r>
            <a:pPr indent="0" marL="0">
              <a:buNone/>
            </a:pPr>
            <a:r>
              <a:rPr lang="en-US" sz="1250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≠ owm_aqi. OpenWeather trả sẵn trường main.aqi thang 1–5 (riêng của họ), KHÔNG phải AQI 0–500 của Việt Nam — nhóm phải tự tính.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B9EFF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Kafka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là bài toán Big Data? (3V)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3520440" cy="2788920"/>
          </a:xfrm>
          <a:prstGeom prst="roundRect">
            <a:avLst>
              <a:gd name="adj" fmla="val 196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14173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3B9E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417320"/>
            <a:ext cx="3520440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 </a:t>
            </a:r>
            <a:pPr indent="0" marL="0">
              <a:buNone/>
            </a:pPr>
            <a:r>
              <a:rPr lang="en-US" sz="1200" dirty="0">
                <a:solidFill>
                  <a:srgbClr val="12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Khối lượng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121408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8.576.904</a:t>
            </a:r>
            <a:endParaRPr lang="en-US" sz="29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81635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 · 279,4 MB nén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38328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trạm × 5 năm (2021–2026)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25112" y="1417320"/>
            <a:ext cx="3520440" cy="2788920"/>
          </a:xfrm>
          <a:prstGeom prst="roundRect">
            <a:avLst>
              <a:gd name="adj" fmla="val 196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5112" y="14173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34D3B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25112" y="1417320"/>
            <a:ext cx="3520440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 </a:t>
            </a:r>
            <a:pPr indent="0" marL="0">
              <a:buNone/>
            </a:pPr>
            <a:r>
              <a:rPr lang="en-US" sz="1200" dirty="0">
                <a:solidFill>
                  <a:srgbClr val="12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370832" y="2121408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2900" dirty="0"/>
          </a:p>
        </p:txBody>
      </p:sp>
      <p:sp>
        <p:nvSpPr>
          <p:cNvPr id="21" name="Text 18"/>
          <p:cNvSpPr txBox="1"/>
          <p:nvPr/>
        </p:nvSpPr>
        <p:spPr>
          <a:xfrm>
            <a:off x="4507992" y="281635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chạy liên tục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4507992" y="338328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live nạp mỗi giờ qua Kafka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101584" y="1417320"/>
            <a:ext cx="3520440" cy="2788920"/>
          </a:xfrm>
          <a:prstGeom prst="roundRect">
            <a:avLst>
              <a:gd name="adj" fmla="val 196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01584" y="141732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F9E4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01584" y="1417320"/>
            <a:ext cx="3520440" cy="548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Veracity  </a:t>
            </a:r>
            <a:pPr indent="0" marL="0">
              <a:buNone/>
            </a:pPr>
            <a:r>
              <a:rPr lang="en-US" sz="1200" dirty="0">
                <a:solidFill>
                  <a:srgbClr val="12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tin cậy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147304" y="2121408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2,2%</a:t>
            </a:r>
            <a:endParaRPr lang="en-US" sz="2900" dirty="0"/>
          </a:p>
        </p:txBody>
      </p:sp>
      <p:sp>
        <p:nvSpPr>
          <p:cNvPr id="27" name="Text 24"/>
          <p:cNvSpPr txBox="1"/>
          <p:nvPr/>
        </p:nvSpPr>
        <p:spPr>
          <a:xfrm>
            <a:off x="8284464" y="281635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giờ thiếu · toạ độ lệch ~78m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284464" y="338328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có lỗi/thiếu, timestamp lệch giờ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822960" y="438912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dữ liệu — OpenWeather Air Pollution API.  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nồng độ 8 chất/giờ cho một toạ độ, có cả lịch sử (từ 27/11/2020). API không có tên thành phố → nhóm tự gắn station_id / city / country từ cấu hình 200 trạm.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Variety thấp (một schema đồng nhất) → yếu tố quyết định là Velocity + Veracity. Volume là quy mô minh hoạ; cốt lõi là kiến trúc mở rộng được.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B9EFF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Kafka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 — dòng dữ liệu end-to-end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48640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OpenWeather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nguồn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892808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4" name="Shape 11"/>
          <p:cNvSpPr/>
          <p:nvPr/>
        </p:nvSpPr>
        <p:spPr>
          <a:xfrm>
            <a:off x="2185416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185416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chuẩn hoá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529584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7" name="Shape 14"/>
          <p:cNvSpPr/>
          <p:nvPr/>
        </p:nvSpPr>
        <p:spPr>
          <a:xfrm>
            <a:off x="3822192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3B9EFF"/>
          </a:solidFill>
          <a:ln w="12700">
            <a:solidFill>
              <a:srgbClr val="3B9E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822192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900" dirty="0">
                <a:solidFill>
                  <a:srgbClr val="12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/ đệm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166360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0" name="Shape 17"/>
          <p:cNvSpPr/>
          <p:nvPr/>
        </p:nvSpPr>
        <p:spPr>
          <a:xfrm>
            <a:off x="5458968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58968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+ stream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03136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3" name="Shape 20"/>
          <p:cNvSpPr/>
          <p:nvPr/>
        </p:nvSpPr>
        <p:spPr>
          <a:xfrm>
            <a:off x="7095744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095744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+ HBase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· phục vụ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39912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6" name="Shape 23"/>
          <p:cNvSpPr/>
          <p:nvPr/>
        </p:nvSpPr>
        <p:spPr>
          <a:xfrm>
            <a:off x="8732520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732520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cầu nối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076688" y="215798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9" name="Shape 26"/>
          <p:cNvSpPr/>
          <p:nvPr/>
        </p:nvSpPr>
        <p:spPr>
          <a:xfrm>
            <a:off x="10369296" y="17830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369296" y="1783080"/>
            <a:ext cx="1325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27889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  →  XỬ LÝ  →  LƯU TRỮ / PHỤC VỤ  →  HIỂN THỊ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48640" y="338328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777240" y="3502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Làn BATCH — lịch sử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" y="391363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1 lần (thỉnh thoảng lại): cả khối triệu bản ghi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vào: HDFS /raw (backfill)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vài phút – vài giờ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153912" y="3383280"/>
            <a:ext cx="548640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382512" y="35021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Làn STREAM — thời gian thực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6382512" y="391363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liên tục 24/7: vài chục bản ghi mỗi lượt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vào: Kafka (live)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vài giây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lai batch + streaming (cảm hứng Lambda).  </a:t>
            </a:r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làn chạy độc lập, chỉ hội tụ ở ĐẦU RA (cùng ghi /aqi + HBase) — không gộp ở đầu vào để tránh phải tính lại toàn bộ lịch sử mỗi giờ.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B9EFF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Kafka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Kafka — broker &amp; hàng đợi đệm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2880360"/>
          </a:xfrm>
          <a:prstGeom prst="roundRect">
            <a:avLst>
              <a:gd name="adj" fmla="val 1905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9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làm gì trong hệ thống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broker + hàng đợi đệm giữa Collector và Spark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air-quality-raw: 3 partition, key = station_id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air-quality-dlq: bản ghi sai schema (Dead Letter Queue)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apache/kafka 3.8.0 (KRaft, một node, không cần ZooKeeper riêng)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53912" y="1417320"/>
            <a:ext cx="5486400" cy="2880360"/>
          </a:xfrm>
          <a:prstGeom prst="roundRect">
            <a:avLst>
              <a:gd name="adj" fmla="val 1905"/>
            </a:avLst>
          </a:prstGeom>
          <a:solidFill>
            <a:srgbClr val="3B9EFF">
              <a:alpha val="16000"/>
            </a:srgbClr>
          </a:solidFill>
          <a:ln w="16510">
            <a:solidFill>
              <a:srgbClr val="3B9E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82512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Kafka đứng giữa?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2" y="1965960"/>
            <a:ext cx="4983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Nếu Spark dừng vài giờ, dữ liệu vẫn nằm an toàn trong topic chờ xử lý — không mất bản ghi nào. Kafka tách rời tốc độ thu thập khỏi tốc độ xử lý.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537960" y="3310128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37960" y="3310128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gọi API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10728" y="3639312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0" name="Shape 17"/>
          <p:cNvSpPr/>
          <p:nvPr/>
        </p:nvSpPr>
        <p:spPr>
          <a:xfrm>
            <a:off x="8403336" y="3310128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3B9EFF"/>
          </a:solidFill>
          <a:ln w="12700">
            <a:solidFill>
              <a:srgbClr val="3B9E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03336" y="3310128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900" dirty="0">
                <a:solidFill>
                  <a:srgbClr val="12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đệm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976104" y="3639312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3" name="Shape 20"/>
          <p:cNvSpPr/>
          <p:nvPr/>
        </p:nvSpPr>
        <p:spPr>
          <a:xfrm>
            <a:off x="10268712" y="3310128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10268712" y="3310128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48056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Ranh giới dễ hiểu nhầm — cần nói rõ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9834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Thu thập là do Python Collector, KHÔNG phải Kafka. 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Xử lý luồng là Spark Structured Streaming, KHÔNG phải Kafka Streams — Kafka chỉ vận chuyển dữ liệu.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34D3B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63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</a:t>
            </a:r>
            <a:endParaRPr lang="en-US" sz="42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Bảo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5714"/>
            </a:avLst>
          </a:prstGeom>
          <a:solidFill>
            <a:srgbClr val="34D3B4">
              <a:alpha val="16000"/>
            </a:srgbClr>
          </a:solidFill>
          <a:ln w="16510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1143000" y="489204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Chuyển tiếp:  </a:t>
            </a:r>
            <a:pPr indent="0" marL="0">
              <a:buNone/>
            </a:pPr>
            <a:r>
              <a:rPr lang="en-US" sz="1400" i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“Dữ liệu sau khi qua Kafka được đổ vào kho lưu trữ phân tán. Mời Bảo nói về HDFS.”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HDFS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— hệ tệp phân tán của Hadoop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122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điểm cốt lõi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50292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tệp lớn thành các block, phân tán trên nhiều máy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Replication: mỗi block có nhiều bản sao để chịu lỗi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NameNode quản lý metadata; DataNode lưu block thật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một lần, đọc nhiều lần — hợp với dữ liệu phân tích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Vừa là ĐẦU VÀO vừa là ĐẦU RA của Spark qua từng pha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53912" y="1417320"/>
            <a:ext cx="5486400" cy="4480560"/>
          </a:xfrm>
          <a:prstGeom prst="roundRect">
            <a:avLst>
              <a:gd name="adj" fmla="val 1224"/>
            </a:avLst>
          </a:prstGeom>
          <a:solidFill>
            <a:srgbClr val="34D3B4">
              <a:alpha val="16000"/>
            </a:srgbClr>
          </a:solidFill>
          <a:ln w="16510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863840" y="1874520"/>
            <a:ext cx="2103120" cy="731520"/>
          </a:xfrm>
          <a:prstGeom prst="roundRect">
            <a:avLst>
              <a:gd name="adj" fmla="val 7500"/>
            </a:avLst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63840" y="18745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metadata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15400" y="2606040"/>
            <a:ext cx="-1755648" cy="868680"/>
          </a:xfrm>
          <a:prstGeom prst="line">
            <a:avLst/>
          </a:prstGeom>
          <a:noFill/>
          <a:ln w="15875">
            <a:solidFill>
              <a:srgbClr val="7FE6D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915400" y="2606040"/>
            <a:ext cx="91440" cy="868680"/>
          </a:xfrm>
          <a:prstGeom prst="line">
            <a:avLst/>
          </a:prstGeom>
          <a:noFill/>
          <a:ln w="15875">
            <a:solidFill>
              <a:srgbClr val="7FE6D6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915400" y="2606040"/>
            <a:ext cx="1920240" cy="868680"/>
          </a:xfrm>
          <a:prstGeom prst="line">
            <a:avLst/>
          </a:prstGeom>
          <a:noFill/>
          <a:ln w="15875">
            <a:solidFill>
              <a:srgbClr val="7FE6D6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382512" y="3520440"/>
            <a:ext cx="1554480" cy="1554480"/>
          </a:xfrm>
          <a:prstGeom prst="roundRect">
            <a:avLst>
              <a:gd name="adj" fmla="val 3529"/>
            </a:avLst>
          </a:prstGeom>
          <a:solidFill>
            <a:srgbClr val="1B3157"/>
          </a:solidFill>
          <a:ln w="15875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382512" y="3611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DataNode 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65392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57E0CC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76872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88352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82512" y="4434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229600" y="3520440"/>
            <a:ext cx="1554480" cy="1554480"/>
          </a:xfrm>
          <a:prstGeom prst="roundRect">
            <a:avLst>
              <a:gd name="adj" fmla="val 3529"/>
            </a:avLst>
          </a:prstGeom>
          <a:solidFill>
            <a:srgbClr val="1B3157"/>
          </a:solidFill>
          <a:ln w="15875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229600" y="3611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DataNode 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41248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82396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57E0CC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23544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0" y="4434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10058400" y="3520440"/>
            <a:ext cx="1554480" cy="1554480"/>
          </a:xfrm>
          <a:prstGeom prst="roundRect">
            <a:avLst>
              <a:gd name="adj" fmla="val 3529"/>
            </a:avLst>
          </a:prstGeom>
          <a:solidFill>
            <a:srgbClr val="1B3157"/>
          </a:solidFill>
          <a:ln w="15875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0" y="3611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DataNode 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024128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65276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2C6B62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064240" y="4023360"/>
            <a:ext cx="320040" cy="320040"/>
          </a:xfrm>
          <a:prstGeom prst="roundRect">
            <a:avLst>
              <a:gd name="adj" fmla="val 8571"/>
            </a:avLst>
          </a:prstGeom>
          <a:solidFill>
            <a:srgbClr val="57E0CC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058400" y="4434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6382512" y="51663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màu = các bản sao (replica) của một block, đặt ở DataNode khác nhau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HDFS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tầng dữ liệu trên HDFS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48640" y="182880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/raw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 (C1)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— 8,5tr dòng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72968" y="243230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4" name="Shape 11"/>
          <p:cNvSpPr/>
          <p:nvPr/>
        </p:nvSpPr>
        <p:spPr>
          <a:xfrm>
            <a:off x="3465576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465576" y="182880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/clean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 sạch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cờ qc_flag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89904" y="243230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7" name="Shape 14"/>
          <p:cNvSpPr/>
          <p:nvPr/>
        </p:nvSpPr>
        <p:spPr>
          <a:xfrm>
            <a:off x="6382512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82512" y="182880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/aqi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tính AQI (C3)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iaqi_*, aqi, level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06840" y="243230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0" name="Shape 17"/>
          <p:cNvSpPr/>
          <p:nvPr/>
        </p:nvSpPr>
        <p:spPr>
          <a:xfrm>
            <a:off x="9299448" y="18288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99448" y="182880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/agg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hợp &amp; xếp hạng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ghi HBase (C4)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1828800"/>
            <a:ext cx="2606040" cy="1371600"/>
          </a:xfrm>
          <a:prstGeom prst="roundRect">
            <a:avLst>
              <a:gd name="adj" fmla="val 4000"/>
            </a:avLst>
          </a:prstGeom>
          <a:ln w="25400">
            <a:solidFill>
              <a:srgbClr val="3B9E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65576" y="1828800"/>
            <a:ext cx="2606040" cy="1371600"/>
          </a:xfrm>
          <a:prstGeom prst="roundRect">
            <a:avLst>
              <a:gd name="adj" fmla="val 4000"/>
            </a:avLst>
          </a:prstGeom>
          <a:ln w="25400">
            <a:solidFill>
              <a:srgbClr val="34D3B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82512" y="1828800"/>
            <a:ext cx="2606040" cy="1371600"/>
          </a:xfrm>
          <a:prstGeom prst="roundRect">
            <a:avLst>
              <a:gd name="adj" fmla="val 4000"/>
            </a:avLst>
          </a:prstGeom>
          <a:ln w="25400">
            <a:solidFill>
              <a:srgbClr val="FF9E4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99448" y="1828800"/>
            <a:ext cx="2606040" cy="1371600"/>
          </a:xfrm>
          <a:prstGeom prst="roundRect">
            <a:avLst>
              <a:gd name="adj" fmla="val 4000"/>
            </a:avLst>
          </a:prstGeom>
          <a:ln w="25400">
            <a:solidFill>
              <a:srgbClr val="53D07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361188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22960" y="3611880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đồng schema (CONTRACTS) xuyên suốt pipeline.  </a:t>
            </a:r>
            <a:pPr indent="0" marL="0">
              <a:buNone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tầng chỉ BỔ SUNG một lớp thông tin, không sửa ngược tầng trước. Mọi thành phần dùng chung schema cố định, dữ liệu chảy một chiều /raw → /clean → /aqi → /agg.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983480"/>
            <a:ext cx="11091672" cy="914400"/>
          </a:xfrm>
          <a:prstGeom prst="roundRect">
            <a:avLst>
              <a:gd name="adj" fmla="val 6000"/>
            </a:avLst>
          </a:prstGeom>
          <a:solidFill>
            <a:srgbClr val="34D3B4">
              <a:alpha val="16000"/>
            </a:srgbClr>
          </a:solidFill>
          <a:ln w="16510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2960" y="4983480"/>
            <a:ext cx="10561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khu HDFS còn chứa: </a:t>
            </a:r>
            <a:pPr indent="0" marL="0">
              <a:buNone/>
            </a:pPr>
            <a:r>
              <a:rPr lang="en-US" sz="1300" b="1" dirty="0">
                <a:solidFill>
                  <a:srgbClr val="8FE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/checkpoints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cho Structured Streaming và </a:t>
            </a:r>
            <a:pPr indent="0" marL="0">
              <a:buNone/>
            </a:pPr>
            <a:r>
              <a:rPr lang="en-US" sz="1300" b="1" dirty="0">
                <a:solidFill>
                  <a:srgbClr val="8FE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/hbase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nơi HBase lưu dữ liệu vật lý (nối sang phần sau).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HDFS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hệ HDFS ↔ HBase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63040"/>
            <a:ext cx="6766560" cy="4434840"/>
          </a:xfrm>
          <a:prstGeom prst="roundRect">
            <a:avLst>
              <a:gd name="adj" fmla="val 123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097280" y="1920240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097280" y="1920240"/>
            <a:ext cx="566928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HBase
</a:t>
            </a:r>
            <a:pPr algn="ctr" indent="0" marL="0">
              <a:buNone/>
            </a:pPr>
            <a:r>
              <a:rPr lang="en-US" sz="1150" dirty="0">
                <a:solidFill>
                  <a:srgbClr val="1E1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layer — bảng air_quality (MemStore → HFile)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703320" y="3017520"/>
            <a:ext cx="457200" cy="502920"/>
          </a:xfrm>
          <a:prstGeom prst="downArrow">
            <a:avLst/>
          </a:prstGeom>
          <a:solidFill>
            <a:srgbClr val="9BB0C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20624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HFile ghi xuống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97280" y="3566160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34D3B4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1097280" y="3566160"/>
            <a:ext cx="566928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1100" dirty="0">
                <a:solidFill>
                  <a:srgbClr val="08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hbase.rootdir = hdfs://namenode:9000/hbase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8463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 KHÔNG tự lưu dữ liệu — nó lưu vật lý trên HDFS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452360" y="146304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680960" y="158191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 thiết kế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680960" y="1965960"/>
            <a:ext cx="37490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 HDFS → HBase dùng lại chính HDFS đó, không cần thêm tầng lưu trữ mới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gốc (native) với Hadoop/Spark — rất chặt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Python truy cập HBase qua dịch vụ Thrift (cổng 9090)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dfs.replication = 1 (một DataNode, mục đích học tập)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FF9E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63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</a:t>
            </a:r>
            <a:endParaRPr lang="en-US" sz="42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5714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1143000" y="489204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Chuyển tiếp:  </a:t>
            </a:r>
            <a:pPr indent="0" marL="0">
              <a:buNone/>
            </a:pPr>
            <a:r>
              <a:rPr lang="en-US" sz="1400" i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“Dữ liệu đã nằm trong HDFS, giờ đến bước xử lý bằng Spark — mời Huyền.”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xử lý Spark — batch &amp; streaming dùng chung lõi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làn — MỘT lõi tính AQI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làn batch (Pha 1/2/3) và làn Structured Streaming đều import lại cùng module aqi_core → hai làn không thể cho hai kết quả khác nhau do lệch công thức.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53912" y="141732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82512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xạ MapReduce ↔ Spark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2" y="1938528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↔  withColumn / map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↔  groupBy().agg()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tả theo Mapper/Reducer để bám khung El Fazziki (2015)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251960"/>
            <a:ext cx="3520440" cy="1051560"/>
          </a:xfrm>
          <a:prstGeom prst="roundRect">
            <a:avLst>
              <a:gd name="adj" fmla="val 5217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48640" y="4251960"/>
            <a:ext cx="35204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7368" y="469544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0" name="Shape 17"/>
          <p:cNvSpPr/>
          <p:nvPr/>
        </p:nvSpPr>
        <p:spPr>
          <a:xfrm>
            <a:off x="4379976" y="4251960"/>
            <a:ext cx="3520440" cy="1051560"/>
          </a:xfrm>
          <a:prstGeom prst="roundRect">
            <a:avLst>
              <a:gd name="adj" fmla="val 5217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379976" y="4251960"/>
            <a:ext cx="35204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/aqi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18704" y="469544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23" name="Shape 20"/>
          <p:cNvSpPr/>
          <p:nvPr/>
        </p:nvSpPr>
        <p:spPr>
          <a:xfrm>
            <a:off x="8211312" y="4251960"/>
            <a:ext cx="3520440" cy="1051560"/>
          </a:xfrm>
          <a:prstGeom prst="roundRect">
            <a:avLst>
              <a:gd name="adj" fmla="val 5217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211312" y="4251960"/>
            <a:ext cx="35204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/agg + HBase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lõi — tổng hợp từ khảo cứu (El Fazziki 2015 + các project MapReduce trên GitHub), cài trên Spark thay cho Hadoop MapReduce thuần.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— ánh xạ Mapper / Reducer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4690872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Mapper phát ra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Reducer làm gì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Làm sạch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key=(station_id, 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= bản ghi thô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Khử trùng lặp, loại giá trị âm/ngoài ngưỡng, nội suy khoảng thiếu ≤ 3 giờ, gắn cờ chất lượng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/clean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Tính AQI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key=(station_id, 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= IAQI từng chất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AQI = max(IAQI), gán mức + chất trội (dominant)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/aqi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Tổng hợp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key=(city, date)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hoặc (city, level)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Trung bình / max, đếm phân bố mức, xếp hạng thành phố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/agg, HBase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75488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22960" y="4754880"/>
            <a:ext cx="10561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tự trong Pha 1 có chủ đích:  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&amp; lọc ngoại lai TRƯỚC → rồi nội suy khoảng thiếu ngắn (≤ 3h) → cuối cùng mới tính cửa sổ trung bình, để mỗi bước làm việc trên dữ liệu sạch hơn bước trước.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lõi — tính AQI (đóng góp khoa học)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6766560" cy="2331720"/>
          </a:xfrm>
          <a:prstGeom prst="roundRect">
            <a:avLst>
              <a:gd name="adj" fmla="val 2353"/>
            </a:avLst>
          </a:prstGeom>
          <a:solidFill>
            <a:srgbClr val="0F1F3C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27048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 nội suy sub-index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6596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I_low)/(BP_high − BP_low) × (Cₓ − BP_low) + I_low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46888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),   x ∈ {PM2.5, PM10, O₃, NO₂, SO₂, CO}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01752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(PM2.5, TB 24h = 35,2):  </a:t>
            </a:r>
            <a:pPr indent="0" marL="0">
              <a:buNone/>
            </a:pPr>
            <a:r>
              <a:rPr lang="en-US" sz="1300" b="1" dirty="0">
                <a:solidFill>
                  <a:srgbClr val="9DE5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= (100−50)/(50−25)×(35,2−25)+50 = 70,4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452360" y="1417320"/>
            <a:ext cx="4187952" cy="2331720"/>
          </a:xfrm>
          <a:prstGeom prst="roundRect">
            <a:avLst>
              <a:gd name="adj" fmla="val 2353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680960" y="15270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là đóng góp khoa học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192024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VN từ nồng độ — không dùng owm_aqi</a:t>
            </a:r>
            <a:endParaRPr lang="en-US" sz="11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PM2.5/PM10: AQI ngày dùng TB 24h, AQI giờ dùng NowCast 12h</a:t>
            </a:r>
            <a:endParaRPr lang="en-US" sz="11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Breakpoint tách file cấu hình → đổi chuẩn VN_1459/US_EPA không sửa code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9776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 — tra nhãn &amp; màu từ giá trị AQI cuối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85216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4CAF5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85216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10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2433828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F4C43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433828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10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82440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F3722C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282440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131052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D62828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131052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7979664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8E44AD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7979664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828276" y="4434840"/>
            <a:ext cx="1738884" cy="1298448"/>
          </a:xfrm>
          <a:prstGeom prst="roundRect">
            <a:avLst>
              <a:gd name="adj" fmla="val 4225"/>
            </a:avLst>
          </a:prstGeom>
          <a:solidFill>
            <a:srgbClr val="7B2410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828276" y="4434840"/>
            <a:ext cx="1738884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1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 — vì sao cần phân tán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1097280"/>
                <a:gridCol w="1005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A18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 ×4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E4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16,39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11,84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15,97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99,00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51,24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48,43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749,31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385,22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308,79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263640" y="1444752"/>
            <a:ext cx="5330952" cy="3447288"/>
          </a:xfrm>
          <a:prstGeom prst="roundRect">
            <a:avLst>
              <a:gd name="adj" fmla="val 1326"/>
            </a:avLst>
          </a:prstGeom>
          <a:solidFill>
            <a:srgbClr val="FFFFFF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3" name="Image 1" descr="scalability_runt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536192"/>
            <a:ext cx="5148072" cy="326440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48640" y="3977640"/>
            <a:ext cx="5486400" cy="1965960"/>
          </a:xfrm>
          <a:prstGeom prst="roundRect">
            <a:avLst>
              <a:gd name="adj" fmla="val 2791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77240" y="4069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kết quả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" y="4434840"/>
            <a:ext cx="50292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càng lớn, lợi ích phân tán càng rõ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100K: 4 exec (15,97s) còn CHẬM hơn 2 exec — chi phí khởi tạo/điều phối lấn át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8M: 4 exec nhanh hơn 1 exec 2,43×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983480"/>
            <a:ext cx="51480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logic Pha 2 trên dữ liệu tổng hợp 100K/1M/8M, Spark Standalone, đã xác minh đúng 1/2/4 executor (9/9 cấu hình).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FF9E4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Huyền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Spark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 &amp; giới hạn — bằng chứng cần Big Data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63040"/>
            <a:ext cx="6035040" cy="38862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2" name="Image 1" descr="scalability_speed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03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12280" y="1554480"/>
            <a:ext cx="4828032" cy="2011680"/>
          </a:xfrm>
          <a:prstGeom prst="roundRect">
            <a:avLst>
              <a:gd name="adj" fmla="val 272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040880" y="16642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 dưới tuyến tính (không đạt 4×) vì: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2084832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UDF phải serialize giữa JVM ↔ tiến trình Python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phí điều phối và shuffle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812280" y="3703320"/>
            <a:ext cx="4828032" cy="1920240"/>
          </a:xfrm>
          <a:prstGeom prst="roundRect">
            <a:avLst>
              <a:gd name="adj" fmla="val 2857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Giới hạn (nói thẳng)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41605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4 worker chạy trên CÙNG một máy (container Docker) → phân tán đa tiến trình, chưa phải cụm nhiều node. Mỗi cấu hình đo một lần nên chưa có độ lệch chuẩn.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B58B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63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42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Khôi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5714"/>
            </a:avLst>
          </a:prstGeom>
          <a:solidFill>
            <a:srgbClr val="B58BF2">
              <a:alpha val="16000"/>
            </a:srgbClr>
          </a:solidFill>
          <a:ln w="16510">
            <a:solidFill>
              <a:srgbClr val="B58BF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1143000" y="489204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Chuyển tiếp:  </a:t>
            </a:r>
            <a:pPr indent="0" marL="0">
              <a:buNone/>
            </a:pPr>
            <a:r>
              <a:rPr lang="en-US" sz="1400" i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“Kết quả AQI sau xử lý cần được lưu để truy vấn nhanh. Khôi sẽ trình bày HBase.”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Khôi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HBase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HBase — kiến trúc wide-column trên HDFS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4114800" cy="4480560"/>
          </a:xfrm>
          <a:prstGeom prst="roundRect">
            <a:avLst>
              <a:gd name="adj" fmla="val 1333"/>
            </a:avLst>
          </a:prstGeom>
          <a:solidFill>
            <a:srgbClr val="B58BF2">
              <a:alpha val="16000"/>
            </a:srgbClr>
          </a:solidFill>
          <a:ln w="16510">
            <a:solidFill>
              <a:srgbClr val="B58BF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C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 là gì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3657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phân tán, mã nguồn mở, hệ sinh thái Hadoop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Dựa trên thiết kế Google BigTable — nhóm wide-column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Đọc/ghi ngẫu nhiên nhanh trên tập dữ liệu rất lớn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dữ liệu vật lý trên HDFS</a:t>
            </a:r>
            <a:endParaRPr lang="en-US" sz="12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Hợp: chuỗi thời gian, log, IoT. Không hợp: join/giao dịch phức tạp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800600" y="1417320"/>
            <a:ext cx="6839712" cy="4480560"/>
          </a:xfrm>
          <a:prstGeom prst="roundRect">
            <a:avLst>
              <a:gd name="adj" fmla="val 122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691640"/>
            <a:ext cx="3657600" cy="530352"/>
          </a:xfrm>
          <a:prstGeom prst="roundRect">
            <a:avLst>
              <a:gd name="adj" fmla="val 10345"/>
            </a:avLst>
          </a:prstGeom>
          <a:solidFill>
            <a:srgbClr val="1B3157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09360" y="1691640"/>
            <a:ext cx="365760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
</a:t>
            </a:r>
            <a:pPr algn="ctr" indent="0" marL="0">
              <a:buNone/>
            </a:pPr>
            <a:r>
              <a:rPr lang="en-US" sz="9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/ Get / Scan / Delete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0" y="2450592"/>
            <a:ext cx="2011680" cy="621792"/>
          </a:xfrm>
          <a:prstGeom prst="roundRect">
            <a:avLst>
              <a:gd name="adj" fmla="val 8824"/>
            </a:avLst>
          </a:prstGeom>
          <a:solidFill>
            <a:srgbClr val="1B3157"/>
          </a:solidFill>
          <a:ln w="12700">
            <a:solidFill>
              <a:srgbClr val="B58B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2450592"/>
            <a:ext cx="201168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ZooKeeper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phối cluster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406640" y="2450592"/>
            <a:ext cx="2560320" cy="621792"/>
          </a:xfrm>
          <a:prstGeom prst="roundRect">
            <a:avLst>
              <a:gd name="adj" fmla="val 8824"/>
            </a:avLst>
          </a:prstGeom>
          <a:solidFill>
            <a:srgbClr val="1B3157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06640" y="2450592"/>
            <a:ext cx="256032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HMaster
</a:t>
            </a:r>
            <a:pPr algn="ctr" indent="0" marL="0">
              <a:buNone/>
            </a:pPr>
            <a:r>
              <a:rPr lang="en-US" sz="95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Region, cân bằng tải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029200" y="3346704"/>
            <a:ext cx="6309360" cy="1417320"/>
          </a:xfrm>
          <a:prstGeom prst="roundRect">
            <a:avLst>
              <a:gd name="adj" fmla="val 3871"/>
            </a:avLst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120640" y="3410712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RegionServer  — phục vụ đọc/ghi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212080" y="3803904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F3EE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0" y="3803904"/>
            <a:ext cx="19202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
</a:t>
            </a:r>
            <a:pPr algn="ctr" indent="0" marL="0">
              <a:buNone/>
            </a:pPr>
            <a:r>
              <a:rPr lang="en-US" sz="900" dirty="0">
                <a:solidFill>
                  <a:srgbClr val="6A5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RowKey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269480" y="3803904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F3EE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269480" y="3803904"/>
            <a:ext cx="19202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MemStore
</a:t>
            </a:r>
            <a:pPr algn="ctr" indent="0" marL="0">
              <a:buNone/>
            </a:pPr>
            <a:r>
              <a:rPr lang="en-US" sz="900" dirty="0">
                <a:solidFill>
                  <a:srgbClr val="6A5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đệm ghi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326880" y="3803904"/>
            <a:ext cx="1920240" cy="868680"/>
          </a:xfrm>
          <a:prstGeom prst="roundRect">
            <a:avLst>
              <a:gd name="adj" fmla="val 6316"/>
            </a:avLst>
          </a:prstGeom>
          <a:solidFill>
            <a:srgbClr val="F3EEFC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326880" y="3803904"/>
            <a:ext cx="192024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 / HLog
</a:t>
            </a:r>
            <a:pPr algn="ctr" indent="0" marL="0">
              <a:buNone/>
            </a:pPr>
            <a:r>
              <a:rPr lang="en-US" sz="900" dirty="0">
                <a:solidFill>
                  <a:srgbClr val="6A5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trước, phục hồi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4992624"/>
            <a:ext cx="3657600" cy="621792"/>
          </a:xfrm>
          <a:prstGeom prst="roundRect">
            <a:avLst>
              <a:gd name="adj" fmla="val 8824"/>
            </a:avLst>
          </a:prstGeom>
          <a:solidFill>
            <a:srgbClr val="34D3B4"/>
          </a:solidFill>
          <a:ln w="13970">
            <a:solidFill>
              <a:srgbClr val="34D3B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309360" y="4992624"/>
            <a:ext cx="365760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950" dirty="0">
                <a:solidFill>
                  <a:srgbClr val="08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MemStore → Flush → HFile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Khôi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HBase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&amp; so sánh với hệ cùng loại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3383280" cy="2331720"/>
          </a:xfrm>
          <a:prstGeom prst="roundRect">
            <a:avLst>
              <a:gd name="adj" fmla="val 2353"/>
            </a:avLst>
          </a:prstGeom>
          <a:solidFill>
            <a:srgbClr val="B58BF2">
              <a:alpha val="16000"/>
            </a:srgbClr>
          </a:solidFill>
          <a:ln w="16510">
            <a:solidFill>
              <a:srgbClr val="B58BF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270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C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 là hệ CP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202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tiên Nhất quán (C) + chịu phân mảnh (P), hy sinh Sẵn sàng (A) trong lúc chuyển giao Region.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432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8C4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hợp AQI:  </a:t>
            </a:r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phải đọc đúng giá trị mới nhất, đọc sai/cũ sẽ cảnh báo sai mức ô nhiễm.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75255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9384"/>
                <a:gridCol w="1929384"/>
                <a:gridCol w="1929384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chí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8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8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Cassandra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8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210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MongoDB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8B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Nhóm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Wide-column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Wide-column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 (mạnh)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(cuối)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Kiến trúc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Master–worker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Masterless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 set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Nền lưu trữ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HDFS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Riêng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Riêng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1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Hadoop/Spark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 (chặt)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8E2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5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A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48640" y="3977640"/>
            <a:ext cx="11091672" cy="1920240"/>
          </a:xfrm>
          <a:prstGeom prst="roundRect">
            <a:avLst>
              <a:gd name="adj" fmla="val 285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77240" y="40873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HBase — bốn lý do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822960" y="4498848"/>
            <a:ext cx="384048" cy="384048"/>
          </a:xfrm>
          <a:prstGeom prst="ellipse">
            <a:avLst/>
          </a:prstGeom>
          <a:solidFill>
            <a:srgbClr val="B58BF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2296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4453128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gốc HDFS/Spark — dùng lại HDFS sẵn có, không thêm tầng mới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309360" y="4498848"/>
            <a:ext cx="384048" cy="384048"/>
          </a:xfrm>
          <a:prstGeom prst="ellipse">
            <a:avLst/>
          </a:prstGeom>
          <a:solidFill>
            <a:srgbClr val="B58BF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30936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812280" y="4453128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Nhất quán mạnh (CP) — dashboard luôn đọc AQI mới nhất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22960" y="5157216"/>
            <a:ext cx="384048" cy="384048"/>
          </a:xfrm>
          <a:prstGeom prst="ellipse">
            <a:avLst/>
          </a:prstGeom>
          <a:solidFill>
            <a:srgbClr val="B58BF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229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325880" y="5111496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RowKey (trạm, thời gian) hợp chuỗi thời gian, hỗ trợ range scan theo trạm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309360" y="5157216"/>
            <a:ext cx="384048" cy="384048"/>
          </a:xfrm>
          <a:prstGeom prst="ellipse">
            <a:avLst/>
          </a:prstGeom>
          <a:solidFill>
            <a:srgbClr val="B58B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3093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6812280" y="5111496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Đọc/ghi ngẫu nhiên độ trễ thấp trên khối dữ liệu tăng dần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B58BF2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Khôi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HBase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RowKey — bản triển khai chính thức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0F1F3C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417320"/>
            <a:ext cx="10607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RowKey = {station_id}#{reverse_ts}      với    reverse_ts = 9999999999 − ts_epoch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971800"/>
            <a:ext cx="3520440" cy="1783080"/>
          </a:xfrm>
          <a:prstGeom prst="roundRect">
            <a:avLst>
              <a:gd name="adj" fmla="val 30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2971800"/>
            <a:ext cx="3520440" cy="502920"/>
          </a:xfrm>
          <a:prstGeom prst="roundRect">
            <a:avLst>
              <a:gd name="adj" fmla="val 10909"/>
            </a:avLst>
          </a:prstGeom>
          <a:solidFill>
            <a:srgbClr val="B58B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station_id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tán ghi đều, tránh hotspot region khi ghi streaming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25112" y="2971800"/>
            <a:ext cx="3520440" cy="1783080"/>
          </a:xfrm>
          <a:prstGeom prst="roundRect">
            <a:avLst>
              <a:gd name="adj" fmla="val 30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5112" y="2971800"/>
            <a:ext cx="3520440" cy="502920"/>
          </a:xfrm>
          <a:prstGeom prst="roundRect">
            <a:avLst>
              <a:gd name="adj" fmla="val 10909"/>
            </a:avLst>
          </a:prstGeom>
          <a:solidFill>
            <a:srgbClr val="B58B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25112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reverse_ts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07992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MỚI NHẤT của mỗi trạm nằm ở đầu → scan lấy giá trị mới nhất rất nhanh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101584" y="2971800"/>
            <a:ext cx="3520440" cy="1783080"/>
          </a:xfrm>
          <a:prstGeom prst="roundRect">
            <a:avLst>
              <a:gd name="adj" fmla="val 3077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01584" y="2971800"/>
            <a:ext cx="3520440" cy="502920"/>
          </a:xfrm>
          <a:prstGeom prst="roundRect">
            <a:avLst>
              <a:gd name="adj" fmla="val 10909"/>
            </a:avLst>
          </a:prstGeom>
          <a:solidFill>
            <a:srgbClr val="B58BF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01584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scan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84464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theo trạm + khoảng thời gian chỉ bằng prefix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48640" y="493776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2960" y="4937760"/>
            <a:ext cx="10561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8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column family duy nhất “d”  </a:t>
            </a:r>
            <a:pPr indent="0" marL="0">
              <a:buNone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(tên 1 ký tự để tiết kiệm dung lượng, vì CF lặp ở mọi cell). Cột: d:city, d:pm25…d:co, d:aqi, d:level, d:label, d:dom.  Bản demo dùng 2 CF cho dễ đọc; bản triển khai gộp 1 CF + reverse_ts để tối ưu range-scan &amp; chống hotspot.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240384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0384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THẬP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59456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8" name="Shape 5"/>
          <p:cNvSpPr/>
          <p:nvPr/>
        </p:nvSpPr>
        <p:spPr>
          <a:xfrm>
            <a:off x="3233776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3776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52848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1" name="Shape 8"/>
          <p:cNvSpPr/>
          <p:nvPr/>
        </p:nvSpPr>
        <p:spPr>
          <a:xfrm>
            <a:off x="5227168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27168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6240" y="1307592"/>
            <a:ext cx="292608" cy="146304"/>
          </a:xfrm>
          <a:prstGeom prst="rightArrow">
            <a:avLst/>
          </a:prstGeom>
          <a:solidFill>
            <a:srgbClr val="6E86A8"/>
          </a:solidFill>
          <a:ln/>
        </p:spPr>
      </p:sp>
      <p:sp>
        <p:nvSpPr>
          <p:cNvPr id="14" name="Shape 11"/>
          <p:cNvSpPr/>
          <p:nvPr/>
        </p:nvSpPr>
        <p:spPr>
          <a:xfrm>
            <a:off x="7220560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C3157"/>
          </a:solidFill>
          <a:ln w="12700">
            <a:solidFill>
              <a:srgbClr val="3C57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20560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6D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90A6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939632" y="1307592"/>
            <a:ext cx="292608" cy="146304"/>
          </a:xfrm>
          <a:prstGeom prst="rightArrow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9213952" y="105156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53D07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13952" y="105156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85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2606040"/>
            <a:ext cx="1371600" cy="1371600"/>
          </a:xfrm>
          <a:prstGeom prst="ellipse">
            <a:avLst/>
          </a:prstGeom>
          <a:solidFill>
            <a:srgbClr val="53D07A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2606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4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2478024" y="3063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4200" dirty="0"/>
          </a:p>
        </p:txBody>
      </p:sp>
      <p:sp>
        <p:nvSpPr>
          <p:cNvPr id="23" name="Text 20"/>
          <p:cNvSpPr txBox="1"/>
          <p:nvPr/>
        </p:nvSpPr>
        <p:spPr>
          <a:xfrm>
            <a:off x="25146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Diệp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5714"/>
            </a:avLst>
          </a:prstGeom>
          <a:solidFill>
            <a:srgbClr val="53D07A">
              <a:alpha val="16000"/>
            </a:srgbClr>
          </a:solidFill>
          <a:ln w="16510">
            <a:solidFill>
              <a:srgbClr val="53D07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1143000" y="489204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Chuyển tiếp:  </a:t>
            </a:r>
            <a:pPr indent="0" marL="0">
              <a:buNone/>
            </a:pPr>
            <a:r>
              <a:rPr lang="en-US" sz="1400" i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“Dữ liệu đã sẵn trong HBase, cuối cùng là hiển thị và demo — mời Diệp.”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53D07A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Diệp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Grafana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hiển thị — Grafana ↔ FastAPI ↔ HBase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1097280" y="169164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97280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air_quality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24528" y="208940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4" name="Shape 11"/>
          <p:cNvSpPr/>
          <p:nvPr/>
        </p:nvSpPr>
        <p:spPr>
          <a:xfrm>
            <a:off x="4517136" y="169164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517136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endpoint (Thrift)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44384" y="2089404"/>
            <a:ext cx="274320" cy="164592"/>
          </a:xfrm>
          <a:prstGeom prst="rightArrow">
            <a:avLst/>
          </a:prstGeom>
          <a:solidFill>
            <a:srgbClr val="8AA0C0"/>
          </a:solidFill>
          <a:ln/>
        </p:spPr>
      </p:sp>
      <p:sp>
        <p:nvSpPr>
          <p:cNvPr id="17" name="Shape 14"/>
          <p:cNvSpPr/>
          <p:nvPr/>
        </p:nvSpPr>
        <p:spPr>
          <a:xfrm>
            <a:off x="7936992" y="169164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16294A"/>
          </a:solidFill>
          <a:ln w="1397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936992" y="1691640"/>
            <a:ext cx="310896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
</a:t>
            </a:r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Infinity datasource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7889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PULL ~30 giây một lần → gọi FastAPI lấy giá trị mới nhất từ HBase. Dashboard không phụ thuộc nhịp ghi của pipeline.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383280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endpoint FastAPI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3913632"/>
            <a:ext cx="50292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/health · /stations · /aqi/latest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/aqi/timeseries · /aqi/ranking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/ext/clusters · /ext/forecast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retry một lần khi kết nối HBase Thrift bị stale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53912" y="3383280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53D07A">
              <a:alpha val="16000"/>
            </a:srgbClr>
          </a:solidFill>
          <a:ln w="16510">
            <a:solidFill>
              <a:srgbClr val="53D07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82512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E9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final hiển thị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3913632"/>
            <a:ext cx="50292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Danh sách trạm + bản đồ + AQI mới nhất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xếp hạng thành phố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Chuỗi thời gian AQI và từng chất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phân cụm + đường dự báo 24 giờ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là lớp API trung gian khắc phục việc HBase không có ngôn ngữ truy vấn phức tạp — tổng hợp &amp; định dạng dữ liệu cho Grafana.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53D07A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Diệp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Grafana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trực tiếp — hệ thống chạy thật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50876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1700784"/>
            <a:ext cx="457200" cy="457200"/>
          </a:xfrm>
          <a:prstGeom prst="ellipse">
            <a:avLst/>
          </a:prstGeom>
          <a:solidFill>
            <a:srgbClr val="53D0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1508760"/>
            <a:ext cx="7223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  </a:t>
            </a:r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11 service theo thứ tự kafka → hdfs → spark → zookeeper → hbase → serving-api/grafana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46888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3157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457200" cy="457200"/>
          </a:xfrm>
          <a:prstGeom prst="ellipse">
            <a:avLst/>
          </a:prstGeom>
          <a:solidFill>
            <a:srgbClr val="53D07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152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468880"/>
            <a:ext cx="7223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Kiểm tra sức khoẻ   </a:t>
            </a:r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/health → {"status":"ok"}; mở Web UI (HDFS :9870, Spark :8080, HBase :16010)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4290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31520" y="3621024"/>
            <a:ext cx="457200" cy="457200"/>
          </a:xfrm>
          <a:prstGeom prst="ellipse">
            <a:avLst/>
          </a:prstGeom>
          <a:solidFill>
            <a:srgbClr val="53D07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3429000"/>
            <a:ext cx="7223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HBase shell   </a:t>
            </a:r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bảng air_quality — xem bản ghi live theo row key đảo thời gian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38912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3157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4581144"/>
            <a:ext cx="457200" cy="457200"/>
          </a:xfrm>
          <a:prstGeom prst="ellipse">
            <a:avLst/>
          </a:prstGeom>
          <a:solidFill>
            <a:srgbClr val="53D07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3152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2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4389120"/>
            <a:ext cx="7223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Grafana :3000   </a:t>
            </a:r>
            <a:pPr indent="0" marL="0">
              <a:buNone/>
            </a:pPr>
            <a:r>
              <a:rPr lang="en-US" sz="11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AQI: bản đồ, xếp hạng, chuỗi thời gian, phân cụm, dự báo — dữ liệu thật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961120" y="1508760"/>
            <a:ext cx="2679192" cy="3950208"/>
          </a:xfrm>
          <a:prstGeom prst="roundRect">
            <a:avLst>
              <a:gd name="adj" fmla="val 2048"/>
            </a:avLst>
          </a:prstGeom>
          <a:solidFill>
            <a:srgbClr val="FF9E42">
              <a:alpha val="16000"/>
            </a:srgbClr>
          </a:solidFill>
          <a:ln w="16510">
            <a:solidFill>
              <a:srgbClr val="FF9E4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098280" y="1627632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demo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098280" y="2057400"/>
            <a:ext cx="240487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có rủi ro mạng/service. Đã quay VIDEO demo dự phòng (docker compose + dashboard chạy).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Lỡ mạng/service chết → bật video, không đứng hình.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DE7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Ch.4 (cài đặt) không đọc từng bước — gộp vào demo.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532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ổn định: commit 639dd0a · tag git final-run-stable · 97 unit test pass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53D07A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Diệp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Grafana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phân tích trên dữ liệu thật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1463040"/>
            <a:ext cx="5440680" cy="530352"/>
          </a:xfrm>
          <a:prstGeom prst="roundRect">
            <a:avLst>
              <a:gd name="adj" fmla="val 10345"/>
            </a:avLst>
          </a:prstGeom>
          <a:solidFill>
            <a:srgbClr val="53D0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" y="1463040"/>
            <a:ext cx="516636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121408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ô nhiễm nhất (01/09/2026): Abu Dhabi, Sharjah, Ajman City, Dubai, Lạng Sơn — chi phối bởi PM2.5 &amp; PM10.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199632" y="146304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99632" y="1463040"/>
            <a:ext cx="5440680" cy="530352"/>
          </a:xfrm>
          <a:prstGeom prst="roundRect">
            <a:avLst>
              <a:gd name="adj" fmla="val 10345"/>
            </a:avLst>
          </a:prstGeom>
          <a:solidFill>
            <a:srgbClr val="B58B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36792" y="1463040"/>
            <a:ext cx="516636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28232" y="2121408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thuật toán, chọn theo silhouette. K-means k=3 thắng (0,3547) — cấu trúc yếu, chỉ hơn Bisecting K-means 0,015.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749040"/>
            <a:ext cx="5440680" cy="530352"/>
          </a:xfrm>
          <a:prstGeom prst="roundRect">
            <a:avLst>
              <a:gd name="adj" fmla="val 10345"/>
            </a:avLst>
          </a:prstGeom>
          <a:solidFill>
            <a:srgbClr val="FF9E4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749040"/>
            <a:ext cx="516636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407408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SGD / Random Forest / CNN-LSTM. Random Forest thắng: RMSE 20,10 · R² 0,7297. PM10+PM2.5 ≈ 0,63 độ quan trọng.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199632" y="3749040"/>
            <a:ext cx="5440680" cy="2103120"/>
          </a:xfrm>
          <a:prstGeom prst="roundRect">
            <a:avLst>
              <a:gd name="adj" fmla="val 2609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99632" y="3749040"/>
            <a:ext cx="5440680" cy="530352"/>
          </a:xfrm>
          <a:prstGeom prst="roundRect">
            <a:avLst>
              <a:gd name="adj" fmla="val 10345"/>
            </a:avLst>
          </a:prstGeom>
          <a:solidFill>
            <a:srgbClr val="3B9E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336792" y="3749040"/>
            <a:ext cx="516636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owm_aqi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28232" y="4407408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tự tính tăng đều theo owm_aqi (13,3 → 181,2) nhưng khoảng chồng lấn rộng → owm_aqi KHÔNG thay được AQI VN.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927287" y="384048"/>
            <a:ext cx="2761488" cy="548640"/>
          </a:xfrm>
          <a:prstGeom prst="roundRect">
            <a:avLst>
              <a:gd name="adj" fmla="val 16667"/>
            </a:avLst>
          </a:prstGeom>
          <a:solidFill>
            <a:srgbClr val="53D07A"/>
          </a:solidFill>
          <a:ln/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046159" y="493776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046159" y="493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3D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11919" y="384048"/>
            <a:ext cx="221284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Diệp  </a:t>
            </a:r>
            <a:pPr algn="l" indent="0" marL="0">
              <a:buNone/>
            </a:pPr>
            <a:r>
              <a:rPr lang="en-US" sz="1100" dirty="0">
                <a:solidFill>
                  <a:srgbClr val="F2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Grafana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1919" y="658368"/>
            <a:ext cx="22128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HIỂN THỊ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&amp; hướng phát triển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1224"/>
            </a:avLst>
          </a:prstGeom>
          <a:solidFill>
            <a:srgbClr val="53D07A">
              <a:alpha val="16000"/>
            </a:srgbClr>
          </a:solidFill>
          <a:ln w="16510">
            <a:solidFill>
              <a:srgbClr val="53D07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EE9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được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1938528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end-to-end chạy thật, đóng gói Docker 11 service — dựng lại bằng một lệnh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theo QĐ 1459 (đóng góp khoa học), một aqi_core dùng chung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 serving: 1 CF, row key chống hotspot; nạp 428.866 dòng ~1'15"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nhánh mở rộng máy tự chọn mô hình (phân cụm + dự báo)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2,43× trên 8M dòng; 97 unit test; tag final-run-stable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53912" y="1417320"/>
            <a:ext cx="5486400" cy="4480560"/>
          </a:xfrm>
          <a:prstGeom prst="roundRect">
            <a:avLst>
              <a:gd name="adj" fmla="val 122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82512" y="15361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phát triển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382512" y="1938528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 cụm nhiều node thật (dfs.replication ≥ 3) để kiểm chứng chịu lỗi &amp; scalability đa máy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XGBoost / LightGBM / ensemble-stacking; DBSCAN+DNN; baseline persistence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Pha 2 bằng pandas_udf (vector hoá) giảm chi phí serialize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thời gian thực khi AQI vượt ngưỡng; dự báo dài hơn 24h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Cải thiện chất lượng phân cụm; thêm nguồn dữ liệu (khí tượng, vệ tinh)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329184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liệu tham khảo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4480560"/>
          </a:xfrm>
          <a:prstGeom prst="roundRect">
            <a:avLst>
              <a:gd name="adj" fmla="val 1224"/>
            </a:avLst>
          </a:prstGeom>
          <a:solidFill>
            <a:srgbClr val="16294A"/>
          </a:solidFill>
          <a:ln w="12700">
            <a:solidFill>
              <a:srgbClr val="3A557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1691640"/>
            <a:ext cx="104698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El Fazziki A. et al. (2015). A Multi-Agent Framework for a Hadoop Based Air Quality Decision Support System. CAiSE 2015 Industry Track.</a:t>
            </a:r>
            <a:endParaRPr lang="en-US" sz="1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Ghaemi Z., Farnaghi M., Alimohammadi A. (2015). Hadoop-Based Distributed System for Online Prediction of Air Pollution Based on SVM. ISPRS Archives XL-1/W5.</a:t>
            </a:r>
            <a:endParaRPr lang="en-US" sz="1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Tổng cục Môi trường (2019). Quyết định 1459/QĐ-TCMT — Hướng dẫn kỹ thuật tính toán và công bố chỉ số AQI Việt Nam.</a:t>
            </a:r>
            <a:endParaRPr lang="en-US" sz="1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OpenWeather. Air Pollution API Documentation.</a:t>
            </a:r>
            <a:endParaRPr lang="en-US" sz="1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Apache Software Foundation. HBase / Spark / Kafka / HDFS Reference Guides.</a:t>
            </a:r>
            <a:endParaRPr lang="en-US" sz="14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Iris-pot · KavindaRajapaksha · AirKristo — các project MapReduce AQI tham khảo trên GitHub.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274320"/>
            <a:ext cx="603504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11680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pic>
        <p:nvPicPr>
          <p:cNvPr id="5" name="Image 1" descr="tpl_qn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46120"/>
            <a:ext cx="3108960" cy="2331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22860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841248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4 xin cảm ơn hội đồng đã lắng nghe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4160520"/>
            <a:ext cx="7132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8E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Hào · Bảo · Huyền · Khôi · Diệp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9BB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Dữ liệu Chất lượng Không khí (AQI Analytics) · Big Data ·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2026-09-21T02:54:29Z</dcterms:created>
  <dcterms:modified xsi:type="dcterms:W3CDTF">2026-09-21T02:54:29Z</dcterms:modified>
</cp:coreProperties>
</file>