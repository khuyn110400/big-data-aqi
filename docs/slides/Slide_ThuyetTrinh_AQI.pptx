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tiêu đề. Hào mở đầu, chào hội đồng, giới thiệu nhóm và đề tài. Nhấn: trình bày theo DÒNG DỮ LIỆU — Thu thập → Lưu trữ → Xử lý → Phục vụ → Hiển thị, mỗi người phụ trách một tầng.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Hào bắt đầu phần THU THẬP. Đây là điểm khởi đầu của dòng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 &amp; bài toán. Nhấn: đầu vào là nồng độ 8 chất; đầu ra là AQI chuẩn VN. 5 việc hệ thống phải làm. Điểm chốt: owm_aqi (1–5) không thay được AQI VN (0–500) → nhóm tự tính (sẽ nói kỹ ở phần Huyền).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3V của bài toán: Volume 8,5 triệu bản ghi thật (200 trạm × 5 năm); Velocity luồng live mỗi giờ qua Kafka; Veracity nguồn thiếu 2,2%, timestamp lệch, toạ độ lệch 78m. Variety thấp nên trọng tâm là Velocity + Veracity. Nguồn: OpenWeather, nhóm tự gắn định danh trạm.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 roadmap toàn hệ thống — đây là bản đồ để cả nhóm bám theo. Dữ liệu: OpenWeather→Collector→Kafka→Spark→{HDFS,HBase}→FastAPI→Grafana. Kiến trúc LAI batch+streaming cảm hứng Lambda: 3 tầng batch/speed/serving. Hai làn độc lập, chỉ gặp nhau ở đầu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Vai trò Kafka: broker + buffer, KHÔNG thu thập. Topic air-quality-raw 3 partition key=station_id; DLQ cho bản ghi sai schema. Lợi ích: Spark chết vài giờ, dữ liệu vẫn chờ trong Kafka. Hai điểm dễ nhầm: (1) thu thập là Collector; (2) stream là Spark Structured Streaming chứ không phải Kafka Streams. Chuyển: 'Dữ liệu sau Kafka được đổ vào kho lưu trữ phân tán — mời Bảo nói về HDFS.'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Hào bàn giao cho Bảo. Bảo bắt đầu tầng LƯU TRỮ.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HDFS: chia tệp thành block, replicate qua nhiều DataNode để chịu lỗi; NameNode giữ metadata. Trong đồ án dfs.replication=1 (một máy học tập). HDFS vừa là input vừa output của Spark. Sơ đồ: NameNode điều phối, mỗi block có bản sao đặt ở DataNode khác nhau.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tầng /raw→/clean→/aqi→/agg, mỗi tầng thêm một lớp thông tin (C1→C4), không sửa ngược. Đây là 'hợp đồng schema' giúp cả batch và stream nhất quán. HDFS cũng chứa /checkpoints và /hbase — dẫn sang quan hệ HDFS–HBase.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HBase không lưu dữ liệu riêng — nó đặt hbase.rootdir trên HDFS (hdfs://namenode:9000/hbase), MemStore flush thành HFile xuống HDFS. Lợi ích: tái dùng HDFS sẵn có, tích hợp native với Hadoop/Spark. Python truy cập qua Thrift. Chuyển: 'Dữ liệu đã nằm trong HDFS, giờ đến bước xử lý bằng Spark — mời Huyền.'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Bảo bàn giao cho Huyền. Đây là phần 'lõi' — nặng nhất, ~3.5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Tầng xử lý: Spark làm cả batch và streaming, cùng gọi MỘT module aqi_core (không lệch kết quả). Ta mô tả bằng ngôn ngữ Mapper/Reducer nhưng cài bằng Spark DataFrame (map↔withColumn, reduce↔groupBy().agg()). Ba pha lõi: làm sạch → tính AQI → tổng hợp.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ánh xạ Mapper/Reducer của ba pha (Bảng 3.4 trong báo cáo). Pha 1 làm sạch → /clean; Pha 2 tính AQI=max(IAQI) → /aqi; Pha 3 tổng hợp &amp; xếp hạng → /agg + HBase. Nhấn thứ tự Pha 1: khử trùng lặp/lọc ngoại lai trước, nội suy ≤3h, rồi mới trung bình.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Đóng góp khoa học chính. IAQI nội suy tuyến tính theo breakpoint, AQI = max của 6 chất. Ví dụ tay PM2.5 35,2 → IAQI 70,4. PM dùng NowCast 12h cho AQI giờ, TB 24h cho AQI ngày. Breakpoint để ở file cấu hình. Sáu mức QĐ 1459 với màu. Đây là điểm hơn các project chỉ đếm nhãn có sẵn.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Thực nghiệm scalability chứng minh cần phân tán. Bảng thời gian Pha 2 theo 1/2/4 executor trên 100K/1M/8M. Điểm mấu chốt: workload nhỏ (100K) 4 exec còn chậm hơn 2 exec do overhead; workload lớn (8M) speedup 2,43×. Dữ liệu tổng hợp, Spark Standalone, executor thật đã xác minh.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 so với 1 executor: đường thực tế nằm dưới đường lý tưởng. Lý do dưới tuyến tính: Python UDF serialize JVM↔Python + shuffle. Giới hạn trung thực: 4 worker trên cùng một máy, chưa phải cụm đa node, đo một lần. Đây vẫn là bằng chứng xu hướng cần xử lý phân tán. Chuyển: 'Kết quả AQI cần lưu để truy vấn nhanh — Khôi trình bày HBase.'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Huyền bàn giao cho Khôi. Phần NoSQL — được chấm nặng, ~3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HBase: NoSQL wide-column dựa trên BigTable, lưu trên HDFS. Kiến trúc: Client giao tiếp trực tiếp RegionServer (không qua HMaster ở luồng đọc/ghi); ZooKeeper điều phối; HMaster quản trị; RegionServer chứa Region/MemStore/WAL; flush thành HFile xuống HDFS. Nhờ HMaster không nằm trên luồng chính → tránh nút thắt cổ chai.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CAP: HBase là CP (nhất quán mạnh), Cassandra AP, MongoDB CP. Chọn CP vì dashboard AQI phải đọc đúng giá trị mới nhất. Bảng so sánh 3 hệ. Bốn lý do chọn HBase: native HDFS/Spark, CP, RowKey chuỗi thời gian + range scan, đọc/ghi ngẫu nhiên nhanh. Lưu ý: demo một RegionServer nên đánh đổi C/A chưa thực sự xảy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RowKey {station_id}#{reverse_ts}, reverse_ts=9999999999−ts_epoch. Prefix station_id chống hotspot; reverse_ts đưa bản mới nhất lên đầu; range scan theo prefix. Một CF 'd' (tên 1 ký tự tiết kiệm dung lượng). Demo 2 CF cho dễ đọc, triển khai gộp 1 CF. Chuyển: 'Dữ liệu đã sẵn trong HBase, cuối cùng là hiển thị và demo — mời Diệp.'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Khôi bàn giao cho Diệp. Phần hiển thị + DEMO trực tiếp, ~3.5 phút. Có video demo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Tầng hiển thị: HBase → FastAPI (7 endpoint, happybase qua Thrift, có retry) → Grafana (datasource Infinity). Grafana PULL mỗi ~30s. FastAPI bù cho việc HBase không có truy vấn phức tạp. Dashboard final: trạm/bản đồ/AQI mới nhất/xếp hạng/chuỗi thời gian/phân cụm/dự báo.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trực tiếp — đây là phần trọng tâm của Diệp. 4 bước: docker compose up 11 service → /health ok + Web UI → HBase shell scan air_quality (bản ghi live) → Grafana dashboard dữ liệu thật. LUÔN có video dự phòng nếu mạng/service lỗi. Không đọc từng bước cài đặt. Baseline: tag final-run-stable, 97 test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thật: Top 5 thành phố ô nhiễm (Trung Đông + Lạng Sơn). Phân cụm K-means k=3 silhouette 0,3547 (yếu, thắng sát). Dự báo Random Forest thắng RMSE 20,10/R² 0,73 (SGD thắng MAE). Đối chiếu owm_aqi: tương quan cùng chiều nhưng chồng lấn rộng → không thay được AQI VN. Nhắc: mô hình do máy tự chọn theo chỉ số → khách quan, lặp lại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hệ thống Big Data end-to-end chạy thật; đóng góp chính là tự tính AQI chuẩn VN; HBase serving; hai nhánh máy tự chọn mô hình; scalability 2,43×; 97 test. Hướng phát triển: cụm đa node thật, thêm mô hình (XGBoost/LightGBM/stacking, DBSCAN+DNN, baseline persistence), pandas_udf, cảnh báo realtime, thêm nguồn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cảm ơn &amp; Q&amp;A. Cả nhóm sẵn sàng nhận câu hỏi — mỗi người trả lời phần mình phụ trách.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122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PHÂN TÍCH DỮ LIỆU LỚN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Dữ liệu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Chất lượng Không khí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(AQI) Analytics — hệ thống Big Data end-to-end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9012" y="39776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9012" y="3977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58084" y="42336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9" name="Shape 7"/>
          <p:cNvSpPr/>
          <p:nvPr/>
        </p:nvSpPr>
        <p:spPr>
          <a:xfrm>
            <a:off x="3232404" y="39776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32404" y="3977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51476" y="42336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225796" y="39776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5796" y="3977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4868" y="42336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219188" y="39776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19188" y="3977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38260" y="42336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8" name="Shape 16"/>
          <p:cNvSpPr/>
          <p:nvPr/>
        </p:nvSpPr>
        <p:spPr>
          <a:xfrm>
            <a:off x="9212580" y="39776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12580" y="3977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</a:t>
            </a:r>
            <a:pPr algn="l" indent="0" marL="0">
              <a:buNone/>
            </a:pPr>
            <a:r>
              <a:rPr lang="en-US" sz="13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Lớp DS200.F31.CN2.TTNT   ·   GVHD: ThS. Nguyễn Hồ Duy Trí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68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· Bảo · Huyền · Khôi · Diệp    —    trình bày theo dòng dữ liệu, ~15 phút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012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E5EA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239012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58084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32404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32404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1476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8" name="Shape 6"/>
          <p:cNvSpPr/>
          <p:nvPr/>
        </p:nvSpPr>
        <p:spPr>
          <a:xfrm>
            <a:off x="5225796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5796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4868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1" name="Shape 9"/>
          <p:cNvSpPr/>
          <p:nvPr/>
        </p:nvSpPr>
        <p:spPr>
          <a:xfrm>
            <a:off x="7219188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19188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8260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212580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2E5EA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Hào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toán: từ nồng độ ô nhiễm đến chỉ số AQI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 &amp; Đầu 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11680"/>
            <a:ext cx="4983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Nồng độ 8 chất ô nhiễm (µg/m³) theo giờ, cho từng cặp (trạm, thời gian) — cả dữ liệu hiện tại và lịch sử nhiều năm.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AQI theo chuẩn Việt Nam (QĐ 1459), bảng tổng hợp &amp; xếp hạng thành phố, dashboard trực quan.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46304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73952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cần làm gì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0116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lưu trữ phân tán dữ liệu quan trắc quy mô lớn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sạch: khử trùng lặp, loại giá trị bất thường, xử lý điểm thiếu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AQI theo QĐ 1459 từ nồng độ — đóng góp thuật toán chính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hợp, xếp hạng thành phố, phân tích phân bố &amp; xu hướng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 kết quả qua HBase để trực quan trên Grafana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4E6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4E6"/>
          </a:solidFill>
          <a:ln w="12700">
            <a:solidFill>
              <a:srgbClr val="F0C4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quan trọng:  </a:t>
            </a:r>
            <a:pPr indent="0" marL="0">
              <a:buNone/>
            </a:pPr>
            <a:r>
              <a:rPr lang="en-US" sz="125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≠ owm_aqi. OpenWeather trả sẵn trường main.aqi thang 1–5 (riêng của họ), KHÔNG phải AQI 0–500 của Việt Nam — nhóm phải tự tính.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là bài toán Big Data? (3V)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2E5E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</a:t>
            </a:r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402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8.576.904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 thô · 279,4 MB nén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trạm × 5 năm (2021–2026)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5112" y="15087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1508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0E8C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25112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 </a:t>
            </a:r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22402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chạy liên tục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live nạp mỗi giờ qua Kafka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1584" y="15087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15087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E070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01584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  </a:t>
            </a:r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47304" y="22402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2926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thiếu · toạ độ lệch ~78m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có lỗi/thiếu, timestamp lệch giờ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5262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dữ liệu — OpenWeather Air Pollution API.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nồng độ 8 chất/giờ cho một toạ độ, có cả lịch sử (từ 27/11/2020). API không có tên thành phố → nhóm tự gắn station_id / city / country từ cấu hình 200 trạm.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thấp (một schema đồng nhất) → yếu tố quyết định là Velocity + Veracity. Volume ở đây là quy mô minh hoạ; điểm cốt lõi là kiến trúc mở rộng được.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 — dòng dữ liệu end-to-end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nguồn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92808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1" name="Shape 9"/>
          <p:cNvSpPr/>
          <p:nvPr/>
        </p:nvSpPr>
        <p:spPr>
          <a:xfrm>
            <a:off x="2185416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85416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chuẩn hoá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29584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4" name="Shape 12"/>
          <p:cNvSpPr/>
          <p:nvPr/>
        </p:nvSpPr>
        <p:spPr>
          <a:xfrm>
            <a:off x="3822192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22192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9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/ đệm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66360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58968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58968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stream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03136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5744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95744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+ HBase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· phục vụ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39912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23" name="Shape 21"/>
          <p:cNvSpPr/>
          <p:nvPr/>
        </p:nvSpPr>
        <p:spPr>
          <a:xfrm>
            <a:off x="8732520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732520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 nối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76688" y="215798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69296" y="17830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369296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 →  XỬ LÝ  →  LƯU TRỮ / PHỤC VỤ  →  HIỂN THỊ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Làn BATCH — lịch sử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9319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1 lần (thỉnh thoảng lại): cả khối triệu bản ghi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vào: HDFS /raw (backfill)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vài phút – vài giờ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53912" y="33832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382512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Làn STREAM — thời gian thực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82512" y="39319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liên tục 24/7: vài chục bản ghi mỗi lượt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vào: Kafka (live)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vài giây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lai batch + streaming (cảm hứng Lambda).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làn chạy độc lập, chỉ hội tụ ở ĐẦU RA (cùng ghi /aqi + HBase) — không gộp ở đầu vào để tránh phải tính lại toàn bộ lịch sử mỗi giờ.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Kafka — broker &amp; hàng đợi đệm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làm gì trong hệ thống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574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+ hàng đợi đệm giữa Collector và Spark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air-quality-raw: 3 partition, key = station_id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air-quality-dlq: chứa bản ghi sai schema (Dead Letter Queue)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apache/kafka 3.8.0 (KRaft, một node, không cần ZooKeeper riêng)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53912" y="150876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EAF1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150876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EAF1FA"/>
          </a:solidFill>
          <a:ln w="15240">
            <a:solidFill>
              <a:srgbClr val="2E5E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Kafka đứng giữa?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1031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Spark dừng vài giờ, dữ liệu vẫn nằm an toàn trong topic chờ xử lý — không mất bản ghi nào. Kafka tách rời tốc độ thu thập khỏi tốc độ xử lý.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383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API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10728" y="371246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3336" y="3383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03336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9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đệm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76104" y="371246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68712" y="3383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268712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4E6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4E6"/>
          </a:solidFill>
          <a:ln w="12700">
            <a:solidFill>
              <a:srgbClr val="F0C4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Ranh giới dễ hiểu nhầm — cần nói rõ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Thu thập là do Python Collector, KHÔNG phải Kafka. 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Xử lý luồng là Spark Structured Streaming, KHÔNG phải Kafka Streams — Kafka chỉ vận chuyển dữ liệu.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012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9012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58084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32404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0E8C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32404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1476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225796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5796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4868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1" name="Shape 9"/>
          <p:cNvSpPr/>
          <p:nvPr/>
        </p:nvSpPr>
        <p:spPr>
          <a:xfrm>
            <a:off x="7219188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19188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8260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212580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Bảo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C3350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6667"/>
            </a:avLst>
          </a:prstGeom>
          <a:solidFill>
            <a:srgbClr val="1C3350"/>
          </a:solidFill>
          <a:ln w="19050">
            <a:solidFill>
              <a:srgbClr val="0E8C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70916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tiếp:  </a:t>
            </a:r>
            <a:pPr indent="0" marL="0">
              <a:buNone/>
            </a:pPr>
            <a:r>
              <a:rPr lang="en-US" sz="1400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“Dữ liệu sau khi qua Kafka được đổ vào kho lưu trữ phân tán. Mời Bảo nói về HDFS.”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HDFS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 — hệ tệp phân tán của Hadoop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Đặc điểm cốt lõi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031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tệp lớn thành các block, phân tán trên nhiều máy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mỗi block có nhiều bản sao để chịu lỗi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quản lý metadata; DataNode lưu block thật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một lần, đọc nhiều lần — hợp với dữ liệu phân tích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Vừa là ĐẦU VÀO vừa là ĐẦU RA của Spark qua từng pha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0FAF8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0FAF8"/>
          </a:solidFill>
          <a:ln w="15240">
            <a:solidFill>
              <a:srgbClr val="0E8C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9659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63840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metadata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2743200"/>
            <a:ext cx="-1755648" cy="822960"/>
          </a:xfrm>
          <a:prstGeom prst="line">
            <a:avLst/>
          </a:prstGeom>
          <a:noFill/>
          <a:ln w="15875">
            <a:solidFill>
              <a:srgbClr val="9FC9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15400" y="2743200"/>
            <a:ext cx="91440" cy="822960"/>
          </a:xfrm>
          <a:prstGeom prst="line">
            <a:avLst/>
          </a:prstGeom>
          <a:noFill/>
          <a:ln w="15875">
            <a:solidFill>
              <a:srgbClr val="9FC9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15400" y="2743200"/>
            <a:ext cx="1920240" cy="822960"/>
          </a:xfrm>
          <a:prstGeom prst="line">
            <a:avLst/>
          </a:prstGeom>
          <a:noFill/>
          <a:ln w="15875">
            <a:solidFill>
              <a:srgbClr val="9FC9C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82512" y="361188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E8C7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82512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65392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BDECE4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76872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E8C7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2396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BDECE4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58400" y="361188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E8C7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0584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4128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5276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D9F2ED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64240" y="411480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BDECE4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5840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màu = các bản sao (replica) của một block, đặt ở DataNode khác nhau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HDFS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tầng dữ liệu trên HDFS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/raw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 thô (C1)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— 8,5tr dòng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72968" y="243230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1" name="Shape 9"/>
          <p:cNvSpPr/>
          <p:nvPr/>
        </p:nvSpPr>
        <p:spPr>
          <a:xfrm>
            <a:off x="3465576" y="1828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65576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/clean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sạch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cờ chất lượng qc_flag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243230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2512" y="1828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82512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/aqi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tính AQI (C3)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iaqi_* , aqi,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243230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9448" y="1828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99448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/agg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&amp; xếp hạng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ghi HBase (C4)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1828800"/>
            <a:ext cx="2606040" cy="1371600"/>
          </a:xfrm>
          <a:prstGeom prst="roundRect">
            <a:avLst>
              <a:gd name="adj" fmla="val 4000"/>
            </a:avLst>
          </a:prstGeom>
          <a:ln w="25400">
            <a:solidFill>
              <a:srgbClr val="2E5E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1828800"/>
            <a:ext cx="2606040" cy="1371600"/>
          </a:xfrm>
          <a:prstGeom prst="roundRect">
            <a:avLst>
              <a:gd name="adj" fmla="val 4000"/>
            </a:avLst>
          </a:prstGeom>
          <a:ln w="25400">
            <a:solidFill>
              <a:srgbClr val="0E8C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1828800"/>
            <a:ext cx="2606040" cy="1371600"/>
          </a:xfrm>
          <a:prstGeom prst="roundRect">
            <a:avLst>
              <a:gd name="adj" fmla="val 4000"/>
            </a:avLst>
          </a:prstGeom>
          <a:ln w="25400">
            <a:solidFill>
              <a:srgbClr val="E070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9448" y="1828800"/>
            <a:ext cx="2606040" cy="1371600"/>
          </a:xfrm>
          <a:prstGeom prst="roundRect">
            <a:avLst>
              <a:gd name="adj" fmla="val 4000"/>
            </a:avLst>
          </a:prstGeom>
          <a:ln w="25400">
            <a:solidFill>
              <a:srgbClr val="1E9E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1188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361188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schema (CONTRACTS) xuyên suốt pipeline. 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tầng chỉ BỔ SUNG một lớp thông tin, không sửa ngược tầng trước. Nhờ vậy mọi thành phần dùng chung schema cố định, dữ liệu chảy một chiều /raw → /clean → /aqi → /agg.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0FAF8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0FAF8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02920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khu HDFS còn chứa: </a:t>
            </a:r>
            <a:pPr indent="0" marL="0">
              <a:buNone/>
            </a:pP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/checkpoints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 Structured Streaming và thư mục </a:t>
            </a:r>
            <a:pPr indent="0" marL="0">
              <a:buNone/>
            </a:pP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/hbase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nơi HBase lưu dữ liệu vật lý (nối sang phần sau).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HDFS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hệ HDFS ↔ HBase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766560" cy="4389120"/>
          </a:xfrm>
          <a:prstGeom prst="roundRect">
            <a:avLst>
              <a:gd name="adj" fmla="val 1250"/>
            </a:avLst>
          </a:prstGeom>
          <a:solidFill>
            <a:srgbClr val="F0FAF8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9659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97280" y="1965960"/>
            <a:ext cx="56692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HBase
</a:t>
            </a:r>
            <a:pPr algn="ctr" indent="0" marL="0">
              <a:buNone/>
            </a:pPr>
            <a:r>
              <a:rPr lang="en-US" sz="1150" dirty="0">
                <a:solidFill>
                  <a:srgbClr val="F0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 — bảng air_quality (MemStore → HFile)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3063240"/>
            <a:ext cx="457200" cy="502920"/>
          </a:xfrm>
          <a:prstGeom prst="downArrow">
            <a:avLst/>
          </a:prstGeom>
          <a:solidFill>
            <a:srgbClr val="8AA0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HFile ghi xuống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3611880"/>
            <a:ext cx="56692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1100" dirty="0">
                <a:solidFill>
                  <a:srgbClr val="E6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hbase.rootdir = hdfs://namenode:9000/hbase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8920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 KHÔNG tự lưu dữ liệu — nó lưu vật lý trên HDFS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1554480"/>
            <a:ext cx="4187952" cy="4389120"/>
          </a:xfrm>
          <a:prstGeom prst="roundRect">
            <a:avLst>
              <a:gd name="adj" fmla="val 131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nghĩa thiết kế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10312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HDFS → HBase dùng lại chính HDFS đó, không cần thêm tầng lưu trữ mới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gốc (native) với Hadoop/Spark — rất chặt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Python truy cập HBase qua dịch vụ Thrift (cổng 9090)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dfs.replication = 1 (một DataNode, mục đích học tập)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012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9012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58084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5" name="Shape 3"/>
          <p:cNvSpPr/>
          <p:nvPr/>
        </p:nvSpPr>
        <p:spPr>
          <a:xfrm>
            <a:off x="3232404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32404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1476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225796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070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25796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4868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19188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19188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8260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212580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Huyền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C3350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6667"/>
            </a:avLst>
          </a:prstGeom>
          <a:solidFill>
            <a:srgbClr val="1C3350"/>
          </a:solidFill>
          <a:ln w="19050">
            <a:solidFill>
              <a:srgbClr val="E070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70916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tiếp:  </a:t>
            </a:r>
            <a:pPr indent="0" marL="0">
              <a:buNone/>
            </a:pPr>
            <a:r>
              <a:rPr lang="en-US" sz="1400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“Dữ liệu đã nằm trong HDFS, giờ đến bước xử lý bằng Spark — mời Huyền.”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Huyền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xử lý Spark — batch &amp; streaming dùng chung lõi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3E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3E9"/>
          </a:solidFill>
          <a:ln w="15240">
            <a:solidFill>
              <a:srgbClr val="E070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làn — MỘT lõi tính AQI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03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làn batch (Pha 1/2/3) và làn Structured Streaming đều import lại cùng module aqi_core → hai làn không thể cho hai kết quả khác nhau do lệch công thức.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912" y="15087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Ánh xạ MapReduce ↔ Spark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1031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 ↔  withColumn / map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↔  groupBy().agg()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theo Mapper/Reducer để bám khung El Fazziki (2015)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1 · Làm sạch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87368" y="474116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9976" y="42976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79976" y="4297680"/>
            <a:ext cx="35204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2 · Tính AQI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/aqi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18704" y="474116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42976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11312" y="4297680"/>
            <a:ext cx="35204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3 · Tổng hợp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/agg + HBase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ba pha lõi — tổng hợp từ khảo cứu (El Fazziki 2015 + các project MapReduce trên GitHub), cài trên Spark thay cho Hadoop MapReduce thuần.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Huyền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ba pha — ánh xạ Mapper / Reducer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4690872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Mapper phát 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Reducer làm gì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Làm sạch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key=(station_id, 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= bản ghi thô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Khử trùng lặp, loại giá trị âm/ngoài ngưỡng, nội suy khoảng thiếu ≤ 3 giờ, gắn cờ chất lượng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Tính AQI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key=(station_id, 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= IAQI từng chất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= max(IAQI), gán mức + chất trội (dominant)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/aqi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Tổng hợp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key=(city, date)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hoặc (city, level)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/ max, đếm phân bố mức, xếp hạng thành phố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/agg, HBase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FFF3E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FFF3E9"/>
          </a:solidFill>
          <a:ln w="12700">
            <a:solidFill>
              <a:srgbClr val="E07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754880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trong Pha 1 có chủ đích: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khử trùng lặp &amp; lọc ngoại lai TRƯỚC → rồi nội suy khoảng thiếu ngắn (≤ 3h) → cuối cùng mới tính cửa sổ trung bình, để mỗi bước làm việc trên dữ liệu sạch hơn bước trước.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Huyền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lõi — tính AQI (đóng góp khoa học)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766560" cy="2331720"/>
          </a:xfrm>
          <a:prstGeom prst="roundRect">
            <a:avLst>
              <a:gd name="adj" fmla="val 2353"/>
            </a:avLst>
          </a:prstGeom>
          <a:solidFill>
            <a:srgbClr val="12233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5727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nội suy sub-index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2996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IAQIₓ = (I_high − I_low)/(BP_high − BP_low) × (Cₓ − BP_low) + I_low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420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 = max( IAQIₓ ),   x ∈ {PM2.5, PM10, O₃, NO₂, SO₂, CO}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6324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(PM2.5, TB 24h = 35,2):  </a:t>
            </a:r>
            <a:pPr indent="0" marL="0">
              <a:buNone/>
            </a:pPr>
            <a:r>
              <a:rPr lang="en-US" sz="1300" b="1" dirty="0">
                <a:solidFill>
                  <a:srgbClr val="9D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IAQI = (100−50)/(50−25)×(35,2−25)+50 = 70,4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463040"/>
            <a:ext cx="4187952" cy="2331720"/>
          </a:xfrm>
          <a:prstGeom prst="roundRect">
            <a:avLst>
              <a:gd name="adj" fmla="val 2353"/>
            </a:avLst>
          </a:prstGeom>
          <a:solidFill>
            <a:srgbClr val="FFF3E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52360" y="1463040"/>
            <a:ext cx="4187952" cy="2331720"/>
          </a:xfrm>
          <a:prstGeom prst="roundRect">
            <a:avLst>
              <a:gd name="adj" fmla="val 2353"/>
            </a:avLst>
          </a:prstGeom>
          <a:solidFill>
            <a:srgbClr val="FFF3E9"/>
          </a:solidFill>
          <a:ln w="15240">
            <a:solidFill>
              <a:srgbClr val="E070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là đóng góp khoa học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196596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tính AQI chuẩn VN từ nồng độ — không dùng owm_aqi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PM2.5/PM10: AQI ngày dùng TB 24h, AQI giờ dùng NowCast 12h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tách file cấu hình → đổi chuẩn VN_1459/US_EPA không sửa code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 mức AQI theo QĐ 1459 — tra nhãn &amp; màu từ giá trị AQI cuối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5216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
</a:t>
            </a:r>
            <a:pPr algn="ctr" indent="0" marL="0">
              <a:buNone/>
            </a:pPr>
            <a:r>
              <a:rPr lang="en-US" sz="1050" dirty="0">
                <a:solidFill>
                  <a:srgbClr val="334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33828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F4C43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433828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
</a:t>
            </a:r>
            <a:pPr algn="ctr" indent="0" marL="0">
              <a:buNone/>
            </a:pPr>
            <a:r>
              <a:rPr lang="en-US" sz="1050" dirty="0">
                <a:solidFill>
                  <a:srgbClr val="334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51–100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82440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F3722C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282440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Kém
</a:t>
            </a:r>
            <a:pPr algn="ctr"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101–150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31052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31052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Xấu
</a:t>
            </a:r>
            <a:pPr algn="ctr"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151–200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979664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79664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xấu
</a:t>
            </a:r>
            <a:pPr algn="ctr"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201–300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828276" y="4480560"/>
            <a:ext cx="1738884" cy="1280160"/>
          </a:xfrm>
          <a:prstGeom prst="roundRect">
            <a:avLst>
              <a:gd name="adj" fmla="val 4286"/>
            </a:avLst>
          </a:prstGeom>
          <a:solidFill>
            <a:srgbClr val="7B241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828276" y="4480560"/>
            <a:ext cx="1738884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hại
</a:t>
            </a:r>
            <a:pPr algn="ctr"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301–500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Huyền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nghiệm scalability — vì sao cần phân tán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09728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exec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exec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exec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×4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0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51,24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749,31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385,22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308,79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scalability_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8760"/>
            <a:ext cx="5330952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9776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3E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39776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3E9"/>
          </a:solidFill>
          <a:ln w="15240">
            <a:solidFill>
              <a:srgbClr val="E0701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kết quả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4348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càng lớn, lợi ích phân tán càng rõ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100K: 4 exec (15,97s) còn CHẬM hơn 2 exec — chi phí khởi tạo/điều phối lấn át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8M: 4 exec nhanh hơn 1 exec 2,43×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5029200"/>
            <a:ext cx="5330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riêng logic Pha 2 trên dữ liệu tổng hợp 100K/1M/8M, Spark Standalone, đã xác minh đúng 1/2/4 executor (9/9 cấu hình).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E0701A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Huyền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&amp; giới hạn — bằng chứng cần Big Data</a:t>
            </a:r>
            <a:endParaRPr lang="en-US" sz="2500" dirty="0"/>
          </a:p>
        </p:txBody>
      </p:sp>
      <p:pic>
        <p:nvPicPr>
          <p:cNvPr id="8" name="Image 0" descr="scalability_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12280" y="1554480"/>
            <a:ext cx="4828032" cy="2011680"/>
          </a:xfrm>
          <a:prstGeom prst="roundRect">
            <a:avLst>
              <a:gd name="adj" fmla="val 2727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40880" y="16642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dưới tuyến tính (không đạt 4×) vì: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103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UDF phải serialize giữa JVM ↔ tiến trình Python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điều phối và shuffle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12280" y="3703320"/>
            <a:ext cx="4828032" cy="1691640"/>
          </a:xfrm>
          <a:prstGeom prst="roundRect">
            <a:avLst>
              <a:gd name="adj" fmla="val 3243"/>
            </a:avLst>
          </a:prstGeom>
          <a:solidFill>
            <a:srgbClr val="FFF3E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3703320"/>
            <a:ext cx="4828032" cy="1691640"/>
          </a:xfrm>
          <a:prstGeom prst="roundRect">
            <a:avLst>
              <a:gd name="adj" fmla="val 3243"/>
            </a:avLst>
          </a:prstGeom>
          <a:solidFill>
            <a:srgbClr val="FFF3E9"/>
          </a:solidFill>
          <a:ln w="15240">
            <a:solidFill>
              <a:srgbClr val="E07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3794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 (nói thẳng)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1605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worker chạy trên CÙNG một máy (container Docker) → phân tán đa tiến trình, chưa phải cụm nhiều node. Mỗi cấu hình đo một lần nên chưa có độ lệch chuẩn.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012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9012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58084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5" name="Shape 3"/>
          <p:cNvSpPr/>
          <p:nvPr/>
        </p:nvSpPr>
        <p:spPr>
          <a:xfrm>
            <a:off x="3232404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32404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1476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8" name="Shape 6"/>
          <p:cNvSpPr/>
          <p:nvPr/>
        </p:nvSpPr>
        <p:spPr>
          <a:xfrm>
            <a:off x="5225796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5796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4868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19188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7A3F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19188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8260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12580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HBase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Khôi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C3350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6667"/>
            </a:avLst>
          </a:prstGeom>
          <a:solidFill>
            <a:srgbClr val="1C3350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70916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tiếp:  </a:t>
            </a:r>
            <a:pPr indent="0" marL="0">
              <a:buNone/>
            </a:pPr>
            <a:r>
              <a:rPr lang="en-US" sz="1400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“Kết quả AQI sau xử lý cần được lưu để truy vấn nhanh. Khôi sẽ trình bày HBase.”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HBase — kiến trúc wide-column trên HDFS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F6F1FB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HBase là gì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phân tán, mã nguồn mở, hệ sinh thái Hadoop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trên thiết kế Google BigTable — nhóm wide-column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ngẫu nhiên nhanh trên tập dữ liệu rất lớn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vật lý trên HDFS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Hợp: chuỗi thời gian, log, IoT. Không hợp: join/giao dịch phức tạp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6839712" cy="4434840"/>
          </a:xfrm>
          <a:prstGeom prst="roundRect">
            <a:avLst>
              <a:gd name="adj" fmla="val 1237"/>
            </a:avLst>
          </a:prstGeom>
          <a:solidFill>
            <a:srgbClr val="FBFCFE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7373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
</a:t>
            </a:r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Get / Scan / Delete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514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FE7F8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cluster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25146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0664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HMaster
</a:t>
            </a:r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Region, cân bằng tải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429000"/>
            <a:ext cx="6309360" cy="1417320"/>
          </a:xfrm>
          <a:prstGeom prst="roundRect">
            <a:avLst>
              <a:gd name="adj" fmla="val 3871"/>
            </a:avLst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120640" y="349300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RegionServer  — phục vụ đọc/ghi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38862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1208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RowKey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38862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948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MemStore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đệm ghi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38862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688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/ HLog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trước, phục hồi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07492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0E8C7F"/>
          </a:solidFill>
          <a:ln w="15875">
            <a:solidFill>
              <a:srgbClr val="0E8C7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30936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950" dirty="0">
                <a:solidFill>
                  <a:srgbClr val="EF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MemStore → Flush → HFile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&amp; so sánh với hệ cùng loại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F6F1FB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F6F1FB"/>
          </a:solidFill>
          <a:ln w="15240">
            <a:solidFill>
              <a:srgbClr val="7A3F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72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HBase là hệ CP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965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Nhất quán (C) + chịu phân mảnh (P), hy sinh Sẵn sàng (A) trong lúc chuyển giao Region.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88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hợp AQI: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phải đọc đúng giá trị mới nhất, đọc sai/cũ sẽ cảnh báo sai mức ô nhiễm.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63040"/>
          <a:ext cx="75255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9384"/>
                <a:gridCol w="1929384"/>
                <a:gridCol w="192938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3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3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3F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3F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Wide-column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Wide-column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(mạnh)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(cuối)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Master–worker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Nền lưu trữ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Riêng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Riêng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Hadoop/Spark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(rất chặt)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2791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40965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chọn HBase — bốn lý 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4526280"/>
            <a:ext cx="384048" cy="384048"/>
          </a:xfrm>
          <a:prstGeom prst="ellipse">
            <a:avLst/>
          </a:prstGeom>
          <a:solidFill>
            <a:srgbClr val="7A3FB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4805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gốc HDFS/Spark — dùng lại HDFS sẵn có, không thêm tầng mới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09360" y="4526280"/>
            <a:ext cx="384048" cy="384048"/>
          </a:xfrm>
          <a:prstGeom prst="ellipse">
            <a:avLst/>
          </a:prstGeom>
          <a:solidFill>
            <a:srgbClr val="7A3FB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0936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44805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mạnh (CP) — dashboard luôn đọc AQI mới nhất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212080"/>
            <a:ext cx="384048" cy="384048"/>
          </a:xfrm>
          <a:prstGeom prst="ellipse">
            <a:avLst/>
          </a:prstGeom>
          <a:solidFill>
            <a:srgbClr val="7A3FB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5166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RowKey (trạm, thời gian) hợp chuỗi thời gian, hỗ trợ range scan theo trạm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09360" y="5212080"/>
            <a:ext cx="384048" cy="384048"/>
          </a:xfrm>
          <a:prstGeom prst="ellipse">
            <a:avLst/>
          </a:prstGeom>
          <a:solidFill>
            <a:srgbClr val="7A3FB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093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5166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ngẫu nhiên độ trễ thấp trên khối dữ liệu tăng dần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7A3FB0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7A3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RowKey — bản triển khai chính thức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12233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10607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RowKey = {station_id}#{reverse_ts}      với    reverse_ts = 9999999999 − ts_epoch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6F1FB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63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7A3F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3520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station_id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657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tán ghi đều, tránh hotspot region khi ghi streaming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5112" y="30632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6F1FB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3063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7A3F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25112" y="3063240"/>
            <a:ext cx="3520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3657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 MỚI NHẤT của mỗi trạm nằm ở đầu → scan lấy giá trị mới nhất rất nhanh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01584" y="306324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F6F1FB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306324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7A3FB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01584" y="3063240"/>
            <a:ext cx="3520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scan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3657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theo trạm + khoảng thời gian chỉ bằng prefix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98348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3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column family duy nhất “d”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(tên 1 ký tự để tiết kiệm dung lượng, vì CF lặp ở mọi cell). Cột: d:city, d:pm25…d:co, d:aqi, d:level, d:label, d:dom.  Bản demo dùng 2 CF cho dễ đọc; bản triển khai gộp 1 CF + reverse_ts để tối ưu range-scan &amp; chống hotspot.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012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9012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958084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5" name="Shape 3"/>
          <p:cNvSpPr/>
          <p:nvPr/>
        </p:nvSpPr>
        <p:spPr>
          <a:xfrm>
            <a:off x="3232404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32404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1476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8" name="Shape 6"/>
          <p:cNvSpPr/>
          <p:nvPr/>
        </p:nvSpPr>
        <p:spPr>
          <a:xfrm>
            <a:off x="5225796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5796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4868" y="1033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1" name="Shape 9"/>
          <p:cNvSpPr/>
          <p:nvPr/>
        </p:nvSpPr>
        <p:spPr>
          <a:xfrm>
            <a:off x="7219188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19188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8260" y="1033272"/>
            <a:ext cx="292608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12580" y="777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E9E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12580" y="777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E9E52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Diệp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C3350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709160"/>
            <a:ext cx="10543032" cy="1097280"/>
          </a:xfrm>
          <a:prstGeom prst="roundRect">
            <a:avLst>
              <a:gd name="adj" fmla="val 6667"/>
            </a:avLst>
          </a:prstGeom>
          <a:solidFill>
            <a:srgbClr val="1C3350"/>
          </a:solidFill>
          <a:ln w="19050">
            <a:solidFill>
              <a:srgbClr val="1E9E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70916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tiếp:  </a:t>
            </a:r>
            <a:pPr indent="0" marL="0">
              <a:buNone/>
            </a:pPr>
            <a:r>
              <a:rPr lang="en-US" sz="1400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“Dữ liệu đã sẵn trong HBase, cuối cùng là hiển thị và demo — mời Diệp.”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1E9E52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Diệp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hiển thị — Grafana ↔ FastAPI ↔ HBase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097280" y="169164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97280" y="1691640"/>
            <a:ext cx="3108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air_quality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24528" y="208940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1" name="Shape 9"/>
          <p:cNvSpPr/>
          <p:nvPr/>
        </p:nvSpPr>
        <p:spPr>
          <a:xfrm>
            <a:off x="4517136" y="169164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17136" y="1691640"/>
            <a:ext cx="3108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endpoint (happybase/Thrift)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44384" y="2089404"/>
            <a:ext cx="274320" cy="164592"/>
          </a:xfrm>
          <a:prstGeom prst="rightArrow">
            <a:avLst/>
          </a:prstGeom>
          <a:solidFill>
            <a:srgbClr val="9AA9B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6992" y="169164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936992" y="1691640"/>
            <a:ext cx="3108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datasource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PULL ~30 giây một lần → gọi FastAPI lấy giá trị mới nhất từ HBase. Dashboard không phụ thuộc nhịp ghi của pipeline.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endpoint FastAPI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93192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  ·   /stations   ·   /aqi/latest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/aqi/timeseries   ·   /aqi/ranking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/ext/clusters   ·   /ext/forecast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retry một lần khi kết nối HBase Thrift bị stale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3383280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EAF7E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3912" y="3383280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EAF7EF"/>
          </a:solidFill>
          <a:ln w="15240">
            <a:solidFill>
              <a:srgbClr val="1E9E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final hiển thị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93192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trạm + bản đồ + AQI mới nhất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xếp hạng thành phố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thời gian AQI và từng chất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phân cụm + đường dự báo 24 giờ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là lớp API trung gian khắc phục việc HBase không có ngôn ngữ truy vấn phức tạp — tổng hợp &amp; định dạng dữ liệu cho Grafana.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1E9E52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Diệp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trực tiếp — hệ thống chạy thật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46504"/>
            <a:ext cx="457200" cy="457200"/>
          </a:xfrm>
          <a:prstGeom prst="ellipse">
            <a:avLst/>
          </a:prstGeom>
          <a:solidFill>
            <a:srgbClr val="1E9E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554480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11 service theo thứ tự kafka → hdfs → spark → zookeeper → hbase → serving-api/grafana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06624"/>
            <a:ext cx="457200" cy="457200"/>
          </a:xfrm>
          <a:prstGeom prst="ellipse">
            <a:avLst/>
          </a:prstGeom>
          <a:solidFill>
            <a:srgbClr val="1E9E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514600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Kiểm tra sức khoẻ 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 → {"status":"ok"}; mở các Web UI (HDFS :9870, Spark :8080, HBase :16010)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66744"/>
            <a:ext cx="457200" cy="457200"/>
          </a:xfrm>
          <a:prstGeom prst="ellipse">
            <a:avLst/>
          </a:prstGeom>
          <a:solidFill>
            <a:srgbClr val="1E9E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474720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HBase shell 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bảng air_quality — xem bản ghi live theo row key đảo thời gian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626864"/>
            <a:ext cx="457200" cy="457200"/>
          </a:xfrm>
          <a:prstGeom prst="ellipse">
            <a:avLst/>
          </a:prstGeom>
          <a:solidFill>
            <a:srgbClr val="1E9E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434840"/>
            <a:ext cx="7223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:3000 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AQI: bản đồ, xếp hạng, chuỗi thời gian, phân cụm, dự báo — dữ liệu thật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61120" y="1554480"/>
            <a:ext cx="2679192" cy="3904488"/>
          </a:xfrm>
          <a:prstGeom prst="roundRect">
            <a:avLst>
              <a:gd name="adj" fmla="val 2048"/>
            </a:avLst>
          </a:prstGeom>
          <a:solidFill>
            <a:srgbClr val="FFF4E6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0" y="1554480"/>
            <a:ext cx="2679192" cy="3904488"/>
          </a:xfrm>
          <a:prstGeom prst="roundRect">
            <a:avLst>
              <a:gd name="adj" fmla="val 2730"/>
            </a:avLst>
          </a:prstGeom>
          <a:solidFill>
            <a:srgbClr val="FFF4E6"/>
          </a:solidFill>
          <a:ln w="15240">
            <a:solidFill>
              <a:srgbClr val="F0C4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169164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phòng demo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103120"/>
            <a:ext cx="24048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có rủi ro mạng/service. Đã quay VIDEO demo dự phòng (docker compose + dashboard chạy).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Lỡ mạng/service chết → bật video, không đứng hình.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(cài đặt) không đọc từng bước — gộp vào demo.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ổn định: commit 639dd0a · tag git final-run-stable · 97 unit test pass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1E9E52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Diệp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phân tích trên dữ liệu thật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1E9E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508760"/>
            <a:ext cx="5166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Xếp hạng thành phố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67128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ô nhiễm nhất (01/09/2026): Abu Dhabi, Sharjah, Ajman City, Dubai, Lạng Sơn — chi phối bởi PM2.5 &amp; PM10.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9632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087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7A3F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36792" y="1508760"/>
            <a:ext cx="5166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cụm vùng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167128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thuật toán, chọn theo silhouette. K-means k=3 thắng (0,3547) — cấu trúc yếu, chỉ hơn Bisecting K-means 0,015.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070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5166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báo AQI 24h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53128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/ Random Forest / CNN-LSTM. Random Forest thắng: RMSE 20,10 · R² 0,7297. PM10+PM2.5 ≈ 0,63 độ quan trọng.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99632" y="3794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37947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2E5E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6792" y="3794760"/>
            <a:ext cx="5166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owm_aqi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4453128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tự tính tăng đều theo owm_aqi (13,3 → 181,2) nhưng khoảng chồng lấn rộng → owm_aqi KHÔNG thay được AQI VN.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45720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1E9E52"/>
          </a:solidFill>
          <a:ln/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79408" y="576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9408" y="576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457200"/>
            <a:ext cx="2221992" cy="328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Diệp  </a:t>
            </a:r>
            <a:pPr algn="l"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54312" y="740664"/>
            <a:ext cx="222199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"/>
            <a:ext cx="8092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EAF7E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EAF7EF"/>
          </a:solidFill>
          <a:ln w="15240">
            <a:solidFill>
              <a:srgbClr val="1E9E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Đạt được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chạy thật, đóng gói Docker 11 service — dựng lại bằng một lệnh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tính AQI theo QĐ 1459 (đóng góp khoa học), một aqi_core dùng chung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 serving: 1 CF, row key chống hotspot; nạp 428.866 dòng ~1'15"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 mở rộng máy tự chọn mô hình (phân cụm + dự báo)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2,43× trên 8M dòng; 97 unit test; tag final-run-stable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3912" y="15087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2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05740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cụm nhiều node thật (dfs.replication ≥ 3) để kiểm chứng chịu lỗi &amp; scalability đa máy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XGBoost / LightGBM / ensemble-stacking; DBSCAN+DNN; baseline persistence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Pha 2 bằng pandas_udf (vector hoá) giảm chi phí serialize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thời gian thực khi AQI vượt ngưỡng; dự báo dài hơn 24h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chất lượng phân cụm; thêm nguồn dữ liệu (khí tượng, vệ tinh)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hội đồng đã lắng nghe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 sẵn sàng cho phần hỏi — đáp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39012" y="4206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9012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58084" y="4462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7" name="Shape 5"/>
          <p:cNvSpPr/>
          <p:nvPr/>
        </p:nvSpPr>
        <p:spPr>
          <a:xfrm>
            <a:off x="3232404" y="4206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32404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51476" y="4462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0" name="Shape 8"/>
          <p:cNvSpPr/>
          <p:nvPr/>
        </p:nvSpPr>
        <p:spPr>
          <a:xfrm>
            <a:off x="5225796" y="4206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5796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4868" y="4462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19188" y="4206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19188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VỤ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38260" y="4462272"/>
            <a:ext cx="292608" cy="146304"/>
          </a:xfrm>
          <a:prstGeom prst="rightArrow">
            <a:avLst/>
          </a:prstGeom>
          <a:solidFill>
            <a:srgbClr val="5B6B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212580" y="42062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0344F"/>
          </a:solidFill>
          <a:ln w="12700">
            <a:solidFill>
              <a:srgbClr val="3A4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2580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
</a:t>
            </a:r>
            <a:pPr algn="ctr" indent="0" marL="0">
              <a:buNone/>
            </a:pPr>
            <a:r>
              <a:rPr lang="en-US" sz="850" spc="100" kern="0" dirty="0">
                <a:solidFill>
                  <a:srgbClr val="8A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 · Bảo · Huyền · Khôi · Diệp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 Chất lượng Không khí (AQI Analytics) · Big Data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2026-09-21T02:35:11Z</dcterms:created>
  <dcterms:modified xsi:type="dcterms:W3CDTF">2026-09-21T02:35:11Z</dcterms:modified>
</cp:coreProperties>
</file>