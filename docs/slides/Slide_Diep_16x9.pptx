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trình bày phần kết luận và hướng phát triển của đồ án.
Ý chính của phần này là hệ thống đã đi hết một vòng end-to-end: từ thu thập dữ liệu, xử lý bằng Spark trên HDFS, lưu và phục vụ bằng HBase/FastAPI, đến trực quan hóa trên Grafana.
Nhóm đã có dữ liệu sau Pha 1 khoảng 8,7696 triệu dòng giờ, đã nạp hơn 428 nghìn dòng lịch sử vào HBase để phục vụ dashboard, và kiểm chứng scalability với speedup khoảng 2,43 lần trên workload 8 triệu dòng khi tăng lên 4 executor.
Phần này em sẽ không đi lại chi tiết từng job, mà tập trung chốt: nhóm đã đạt được gì, còn hạn chế gì, và nếu phát triển tiếp thì nên đi theo hướng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kết quả, nhóm đã hoàn thành được mục tiêu ban đầu của đề tài.
Thứ nhất là pipeline lõi: dữ liệu đi qua collector, Kafka, Spark, HDFS và HBase, có cả xử lý batch lẫn streaming.
Thứ hai là phần thuật toán: nhóm không dùng trực tiếp owm_aqi của OpenWeather, mà tự tính AQI theo chuẩn Việt Nam từ 6 chất ô nhiễm. Đây là phần đóng góp quan trọng vì owm_aqi chỉ là thang riêng 1 đến 5 của nhà cung cấp.
Thứ ba là tầng phục vụ: HBase lưu dữ liệu theo row key tối ưu cho truy vấn mới nhất theo trạm, FastAPI chuẩn hóa kết quả thành API cho Grafana.
Cuối cùng là dashboard: Grafana hiển thị được danh sách trạm, bản đồ, AQI mới nhất, ranking, chuỗi thời gian, pollutants, clustering và forecast. Ngoài pipeline lõi, nhóm cũng chạy thêm phân cụm và dự báo 24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cạnh kết quả đạt được, nhóm cũng nêu rõ các hạn chế.
Hạn chế lớn nhất là hạ tầng. Các service và executor đều chạy trên cùng một máy vật lý thông qua Docker, nên đây chưa phải cụm nhiều node đúng nghĩa. Vì vậy benchmark chỉ chứng minh xu hướng tăng tốc khi tăng executor, chưa chứng minh được khả năng chịu lỗi node hay scale-out production.
Thứ hai là benchmark scalability chỉ đo trên synthetic workload, tuy cùng logic tính AQI của Pha 2, nhưng mỗi cấu hình mới đo một lần nên chưa có độ lệch chuẩn.
Thứ ba là forecast. Random Forest đang có RMSE thấp nhất và R² cao nhất, nhưng nhóm vẫn cần thêm baseline đơn giản như persistence để biết mô hình học máy tốt hơn cách đoán tầm thường bao nhiêu.
Cuối cùng, clustering có silhouette 0,3547, tức là có cấu trúc nhưng chưa tách biệt rõ. Đây là kết quả nên diễn giải thận trọng, không nói quá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hướng phát triển, nhóm đề xuất ba hướng chính.
Thứ nhất là scale-out hạ tầng. Bản hiện tại đã chạy end-to-end nhưng vẫn trên một máy. Nếu phát triển tiếp, cần triển khai nhiều DataNode, nhiều RegionServer và tăng replication để kiểm thử khả năng chịu lỗi thật.
Thứ hai là tối ưu xử lý. Pha tính AQI hiện còn dùng Python UDF nên có chi phí serialize giữa JVM và Python. Có thể chuyển sang pandas UDF để vector hóa theo batch và giảm overhead. Đồng thời có thể mở rộng số trạm hoặc bổ sung thêm nguồn dữ liệu như khí tượng và ảnh vệ tinh.
Thứ ba là nâng chất lượng mô hình. Có thể thử XGBoost, LightGBM, ensemble-stacking, bổ sung baseline persistence cho forecast, và phát triển cảnh báo AQI gần thời gian thực khi vượt ngưỡng.
Nhìn chung, nhóm đã hoàn thành bản chứng minh end-to-end; hướng tiếp theo là đưa từ bản demo học thuật lên gần hơn với một hệ thống vận hành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1" cy="1"/>
          <a:chOff x="0" y="0"/>
          <a:chExt cx="1" cy="1"/>
        </a:xfrm>
      </p:grpSpPr>
      <p:sp>
        <p:nvSpPr>
          <p:cNvPr id="2" name="Shape 0"/>
          <p:cNvSpPr/>
          <p:nvPr/>
        </p:nvSpPr>
        <p:spPr>
          <a:xfrm>
            <a:off x="0" y="0"/>
            <a:ext cx="1" cy="1463040"/>
          </a:xfrm>
          <a:prstGeom prst="line">
            <a:avLst/>
          </a:prstGeom>
          <a:noFill/>
          <a:ln w="31750">
            <a:solidFill>
              <a:srgbClr val="00AEEF"/>
            </a:solidFill>
            <a:prstDash val="solid"/>
          </a:ln>
        </p:spPr>
        <p:txBody>
          <a:bodyPr/>
          <a:p/>
        </p:txBody>
      </p:sp>
      <p:sp>
        <p:nvSpPr>
          <p:cNvPr id="3" name="Shape 1"/>
          <p:cNvSpPr/>
          <p:nvPr/>
        </p:nvSpPr>
        <p:spPr>
          <a:xfrm>
            <a:off x="0" y="0"/>
            <a:ext cx="1920240" cy="1"/>
          </a:xfrm>
          <a:prstGeom prst="line">
            <a:avLst/>
          </a:prstGeom>
          <a:noFill/>
          <a:ln w="31750">
            <a:solidFill>
              <a:srgbClr val="00AEEF"/>
            </a:solidFill>
            <a:prstDash val="solid"/>
          </a:ln>
        </p:spPr>
        <p:txBody>
          <a:bodyPr/>
          <a:p/>
        </p:txBody>
      </p:sp>
      <p:sp>
        <p:nvSpPr>
          <p:cNvPr id="4" name="Shape 2"/>
          <p:cNvSpPr/>
          <p:nvPr/>
        </p:nvSpPr>
        <p:spPr>
          <a:xfrm>
            <a:off x="0" y="0"/>
            <a:ext cx="347472" cy="384048"/>
          </a:xfrm>
          <a:prstGeom prst="line">
            <a:avLst/>
          </a:prstGeom>
          <a:noFill/>
          <a:ln w="31750">
            <a:solidFill>
              <a:srgbClr val="00AEEF"/>
            </a:solidFill>
            <a:prstDash val="solid"/>
          </a:ln>
        </p:spPr>
        <p:txBody>
          <a:bodyPr/>
          <a:p/>
        </p:txBody>
      </p:sp>
      <p:sp>
        <p:nvSpPr>
          <p:cNvPr id="5" name="Shape 3"/>
          <p:cNvSpPr/>
          <p:nvPr/>
        </p:nvSpPr>
        <p:spPr>
          <a:xfrm flipH="1">
            <a:off x="10271760" y="6858000"/>
            <a:ext cx="1920240" cy="1"/>
          </a:xfrm>
          <a:prstGeom prst="line">
            <a:avLst/>
          </a:prstGeom>
          <a:noFill/>
          <a:ln w="31750">
            <a:solidFill>
              <a:srgbClr val="00AEEF"/>
            </a:solidFill>
            <a:prstDash val="solid"/>
          </a:ln>
        </p:spPr>
        <p:txBody>
          <a:bodyPr/>
          <a:p/>
        </p:txBody>
      </p:sp>
      <p:sp>
        <p:nvSpPr>
          <p:cNvPr id="6" name="Shape 4"/>
          <p:cNvSpPr/>
          <p:nvPr/>
        </p:nvSpPr>
        <p:spPr>
          <a:xfrm flipV="1">
            <a:off x="12191999" y="5715000"/>
            <a:ext cx="1" cy="1143000"/>
          </a:xfrm>
          <a:prstGeom prst="line">
            <a:avLst/>
          </a:prstGeom>
          <a:noFill/>
          <a:ln w="31750">
            <a:solidFill>
              <a:srgbClr val="00AEEF"/>
            </a:solidFill>
            <a:prstDash val="solid"/>
          </a:ln>
        </p:spPr>
        <p:txBody>
          <a:bodyPr/>
          <a:p/>
        </p:txBody>
      </p:sp>
      <p:sp>
        <p:nvSpPr>
          <p:cNvPr id="7" name="Shape 5"/>
          <p:cNvSpPr/>
          <p:nvPr/>
        </p:nvSpPr>
        <p:spPr>
          <a:xfrm flipH="1" flipV="1">
            <a:off x="11844528" y="6473952"/>
            <a:ext cx="347472" cy="384048"/>
          </a:xfrm>
          <a:prstGeom prst="line">
            <a:avLst/>
          </a:prstGeom>
          <a:noFill/>
          <a:ln w="31750">
            <a:solidFill>
              <a:srgbClr val="00AEEF"/>
            </a:solidFill>
            <a:prstDash val="solid"/>
          </a:ln>
        </p:spPr>
        <p:txBody>
          <a:bodyPr/>
          <a:p/>
        </p:txBody>
      </p:sp>
      <p:sp>
        <p:nvSpPr>
          <p:cNvPr id="8" name="Shape 6"/>
          <p:cNvSpPr/>
          <p:nvPr/>
        </p:nvSpPr>
        <p:spPr>
          <a:xfrm>
            <a:off x="0" y="4736592"/>
            <a:ext cx="320040" cy="384048"/>
          </a:xfrm>
          <a:prstGeom prst="rect">
            <a:avLst/>
          </a:prstGeom>
          <a:solidFill>
            <a:srgbClr val="0070C0"/>
          </a:solidFill>
          <a:ln w="12700">
            <a:solidFill>
              <a:srgbClr val="FFFFFF">
                <a:alpha val="75000"/>
              </a:srgbClr>
            </a:solidFill>
            <a:prstDash val="solid"/>
          </a:ln>
        </p:spPr>
        <p:txBody>
          <a:bodyPr/>
          <a:p/>
        </p:txBody>
      </p:sp>
      <p:sp>
        <p:nvSpPr>
          <p:cNvPr id="9" name="Shape 7"/>
          <p:cNvSpPr/>
          <p:nvPr/>
        </p:nvSpPr>
        <p:spPr>
          <a:xfrm>
            <a:off x="0" y="5193792"/>
            <a:ext cx="320040" cy="384048"/>
          </a:xfrm>
          <a:prstGeom prst="rect">
            <a:avLst/>
          </a:prstGeom>
          <a:solidFill>
            <a:srgbClr val="00AEEF"/>
          </a:solidFill>
          <a:ln w="12700">
            <a:solidFill>
              <a:srgbClr val="FFFFFF">
                <a:alpha val="75000"/>
              </a:srgbClr>
            </a:solidFill>
            <a:prstDash val="solid"/>
          </a:ln>
        </p:spPr>
        <p:txBody>
          <a:bodyPr/>
          <a:p/>
        </p:txBody>
      </p:sp>
      <p:sp>
        <p:nvSpPr>
          <p:cNvPr id="10" name="Shape 8"/>
          <p:cNvSpPr/>
          <p:nvPr/>
        </p:nvSpPr>
        <p:spPr>
          <a:xfrm>
            <a:off x="0" y="5650992"/>
            <a:ext cx="320040" cy="384048"/>
          </a:xfrm>
          <a:prstGeom prst="rect">
            <a:avLst/>
          </a:prstGeom>
          <a:solidFill>
            <a:srgbClr val="0070C0"/>
          </a:solidFill>
          <a:ln w="12700">
            <a:solidFill>
              <a:srgbClr val="FFFFFF">
                <a:alpha val="75000"/>
              </a:srgbClr>
            </a:solidFill>
            <a:prstDash val="solid"/>
          </a:ln>
        </p:spPr>
        <p:txBody>
          <a:bodyPr/>
          <a:p/>
        </p:txBody>
      </p:sp>
      <p:sp>
        <p:nvSpPr>
          <p:cNvPr id="11" name="Shape 9"/>
          <p:cNvSpPr/>
          <p:nvPr/>
        </p:nvSpPr>
        <p:spPr>
          <a:xfrm>
            <a:off x="0" y="6108192"/>
            <a:ext cx="320040" cy="384048"/>
          </a:xfrm>
          <a:prstGeom prst="rect">
            <a:avLst/>
          </a:prstGeom>
          <a:solidFill>
            <a:srgbClr val="00AEEF"/>
          </a:solidFill>
          <a:ln w="12700">
            <a:solidFill>
              <a:srgbClr val="FFFFFF">
                <a:alpha val="75000"/>
              </a:srgbClr>
            </a:solidFill>
            <a:prstDash val="solid"/>
          </a:ln>
        </p:spPr>
        <p:txBody>
          <a:bodyPr/>
          <a:p/>
        </p:txBody>
      </p:sp>
      <p:pic>
        <p:nvPicPr>
          <p:cNvPr id="12" name="Image 0" descr="/mnt/data/template_assets/image1.png">    </p:cNvPr>
          <p:cNvPicPr>
            <a:picLocks noChangeAspect="1"/>
          </p:cNvPicPr>
          <p:nvPr/>
        </p:nvPicPr>
        <p:blipFill>
          <a:blip r:embed="rId1"/>
          <a:stretch>
            <a:fillRect/>
          </a:stretch>
        </p:blipFill>
        <p:spPr>
          <a:xfrm>
            <a:off x="11844528" y="146304"/>
            <a:ext cx="347472" cy="292608"/>
          </a:xfrm>
          <a:prstGeom prst="rect">
            <a:avLst/>
          </a:prstGeom>
        </p:spPr>
      </p:pic>
      <p:sp>
        <p:nvSpPr>
          <p:cNvPr id="13" name="Text 10"/>
          <p:cNvSpPr/>
          <p:nvPr/>
        </p:nvSpPr>
        <p:spPr>
          <a:xfrm>
            <a:off x="877824" y="6565392"/>
            <a:ext cx="5608320" cy="164592"/>
          </a:xfrm>
          <a:prstGeom prst="rect">
            <a:avLst/>
          </a:prstGeom>
          <a:noFill/>
          <a:ln/>
        </p:spPr>
        <p:txBody>
          <a:bodyPr wrap="square" rtlCol="0" anchor="ctr"/>
          <a:lstStyle/>
          <a:p>
            <a:pPr indent="0" marL="0">
              <a:buNone/>
            </a:pPr>
            <a:r>
              <a:rPr lang="en-US" sz="750" dirty="0">
                <a:solidFill>
                  <a:srgbClr val="777777"/>
                </a:solidFill>
                <a:latin typeface="Arial" pitchFamily="34" charset="0"/>
                <a:ea typeface="Arial" pitchFamily="34" charset="-122"/>
                <a:cs typeface="Arial" pitchFamily="34" charset="-120"/>
              </a:rPr>
              <a:t>Trường Đại học Công nghệ Thông tin, ĐHQG-HCM</a:t>
            </a:r>
            <a:endParaRPr lang="en-US" sz="750" dirty="0"/>
          </a:p>
        </p:txBody>
      </p:sp>
      <p:sp>
        <p:nvSpPr>
          <p:cNvPr id="14" name="Text 11"/>
          <p:cNvSpPr/>
          <p:nvPr/>
        </p:nvSpPr>
        <p:spPr>
          <a:xfrm>
            <a:off x="11990832" y="6446520"/>
            <a:ext cx="201168" cy="146304"/>
          </a:xfrm>
          <a:prstGeom prst="rect">
            <a:avLst/>
          </a:prstGeom>
          <a:noFill/>
          <a:ln/>
        </p:spPr>
        <p:txBody>
          <a:bodyPr wrap="square" lIns="127" tIns="127" rIns="127" bIns="127" rtlCol="0" anchor="ctr">
            <a:normAutofit/>
          </a:bodyPr>
          <a:lstStyle/>
          <a:p>
            <a:pPr algn="ctr" indent="0" marL="0">
              <a:buNone/>
            </a:pPr>
            <a:r>
              <a:rPr lang="en-US" sz="650" dirty="0">
                <a:solidFill>
                  <a:srgbClr val="777777"/>
                </a:solidFill>
                <a:latin typeface="Arial" pitchFamily="34" charset="0"/>
                <a:ea typeface="Arial" pitchFamily="34" charset="-122"/>
                <a:cs typeface="Arial" pitchFamily="34" charset="-120"/>
              </a:rPr>
              <a:t>1</a:t>
            </a:r>
            <a:endParaRPr lang="en-US" sz="650" dirty="0"/>
          </a:p>
        </p:txBody>
      </p:sp>
      <p:sp>
        <p:nvSpPr>
          <p:cNvPr id="15" name="Text 12"/>
          <p:cNvSpPr/>
          <p:nvPr/>
        </p:nvSpPr>
        <p:spPr>
          <a:xfrm>
            <a:off x="877824" y="713232"/>
            <a:ext cx="10119360" cy="566928"/>
          </a:xfrm>
          <a:prstGeom prst="rect">
            <a:avLst/>
          </a:prstGeom>
          <a:noFill/>
          <a:ln/>
        </p:spPr>
        <p:txBody>
          <a:bodyPr wrap="square" rtlCol="0" anchor="ctr">
            <a:normAutofit/>
          </a:bodyPr>
          <a:lstStyle/>
          <a:p>
            <a:pPr indent="0" marL="0">
              <a:buNone/>
            </a:pPr>
            <a:r>
              <a:rPr lang="en-US" sz="2700" b="1" dirty="0">
                <a:solidFill>
                  <a:srgbClr val="0070C0"/>
                </a:solidFill>
                <a:latin typeface="Arial" pitchFamily="34" charset="0"/>
                <a:ea typeface="Arial" pitchFamily="34" charset="-122"/>
                <a:cs typeface="Arial" pitchFamily="34" charset="-120"/>
              </a:rPr>
              <a:t>5. KẾT LUẬN VÀ HƯỚNG PHÁT TRIỂN</a:t>
            </a:r>
            <a:endParaRPr lang="en-US" sz="2700" dirty="0"/>
          </a:p>
        </p:txBody>
      </p:sp>
      <p:sp>
        <p:nvSpPr>
          <p:cNvPr id="16" name="Text 13"/>
          <p:cNvSpPr/>
          <p:nvPr/>
        </p:nvSpPr>
        <p:spPr>
          <a:xfrm>
            <a:off x="902208" y="1389888"/>
            <a:ext cx="10241280" cy="310896"/>
          </a:xfrm>
          <a:prstGeom prst="rect">
            <a:avLst/>
          </a:prstGeom>
          <a:noFill/>
          <a:ln/>
        </p:spPr>
        <p:txBody>
          <a:bodyPr wrap="square" rtlCol="0" anchor="ctr">
            <a:normAutofit/>
          </a:bodyPr>
          <a:lstStyle/>
          <a:p>
            <a:pPr indent="0" marL="0">
              <a:buNone/>
            </a:pPr>
            <a:r>
              <a:rPr lang="en-US" sz="1300" i="1" dirty="0">
                <a:solidFill>
                  <a:srgbClr val="1F2A44"/>
                </a:solidFill>
                <a:latin typeface="Arial" pitchFamily="34" charset="0"/>
                <a:ea typeface="Arial" pitchFamily="34" charset="-122"/>
                <a:cs typeface="Arial" pitchFamily="34" charset="-120"/>
              </a:rPr>
              <a:t>Tổng kết mức độ hoàn thành và định hướng mở rộng hệ thống Big Data AQI</a:t>
            </a:r>
            <a:endParaRPr lang="en-US" sz="1300" dirty="0"/>
          </a:p>
        </p:txBody>
      </p:sp>
      <p:sp>
        <p:nvSpPr>
          <p:cNvPr id="17" name="Text 14"/>
          <p:cNvSpPr/>
          <p:nvPr/>
        </p:nvSpPr>
        <p:spPr>
          <a:xfrm>
            <a:off x="1121664" y="1965960"/>
            <a:ext cx="9875520" cy="310896"/>
          </a:xfrm>
          <a:prstGeom prst="rect">
            <a:avLst/>
          </a:prstGeom>
          <a:noFill/>
          <a:ln/>
        </p:spPr>
        <p:txBody>
          <a:bodyPr wrap="square" rtlCol="0" anchor="ctr">
            <a:normAutofit/>
          </a:bodyPr>
          <a:lstStyle/>
          <a:p>
            <a:pPr indent="0" marL="0">
              <a:buNone/>
            </a:pPr>
            <a:r>
              <a:rPr lang="en-US" sz="1800" b="1" dirty="0">
                <a:solidFill>
                  <a:srgbClr val="0B1B4F"/>
                </a:solidFill>
                <a:latin typeface="Arial" pitchFamily="34" charset="0"/>
                <a:ea typeface="Arial" pitchFamily="34" charset="-122"/>
                <a:cs typeface="Arial" pitchFamily="34" charset="-120"/>
              </a:rPr>
              <a:t>Hệ thống đã đi hết một vòng end-to-end:</a:t>
            </a:r>
            <a:endParaRPr lang="en-US" sz="1800" dirty="0"/>
          </a:p>
        </p:txBody>
      </p:sp>
      <p:sp>
        <p:nvSpPr>
          <p:cNvPr id="18" name="Shape 15"/>
          <p:cNvSpPr/>
          <p:nvPr/>
        </p:nvSpPr>
        <p:spPr>
          <a:xfrm>
            <a:off x="1158240" y="2743200"/>
            <a:ext cx="1645920" cy="950976"/>
          </a:xfrm>
          <a:prstGeom prst="hexagon">
            <a:avLst/>
          </a:prstGeom>
          <a:solidFill>
            <a:srgbClr val="E8F6FF"/>
          </a:solidFill>
          <a:ln w="15240">
            <a:solidFill>
              <a:srgbClr val="0070C0"/>
            </a:solidFill>
            <a:prstDash val="solid"/>
          </a:ln>
        </p:spPr>
        <p:txBody>
          <a:bodyPr/>
          <a:p/>
        </p:txBody>
      </p:sp>
      <p:sp>
        <p:nvSpPr>
          <p:cNvPr id="19" name="Text 16"/>
          <p:cNvSpPr/>
          <p:nvPr/>
        </p:nvSpPr>
        <p:spPr>
          <a:xfrm>
            <a:off x="1267968" y="2944368"/>
            <a:ext cx="1426464" cy="402336"/>
          </a:xfrm>
          <a:prstGeom prst="rect">
            <a:avLst/>
          </a:prstGeom>
          <a:noFill/>
          <a:ln/>
        </p:spPr>
        <p:txBody>
          <a:bodyPr wrap="square" rtlCol="0" anchor="ctr">
            <a:normAutofit/>
          </a:bodyPr>
          <a:lstStyle/>
          <a:p>
            <a:pPr algn="ctr" indent="0" marL="0">
              <a:buNone/>
            </a:pPr>
            <a:r>
              <a:rPr lang="en-US" sz="1120" b="1" dirty="0">
                <a:solidFill>
                  <a:srgbClr val="0B1B4F"/>
                </a:solidFill>
                <a:latin typeface="Arial" pitchFamily="34" charset="0"/>
                <a:ea typeface="Arial" pitchFamily="34" charset="-122"/>
                <a:cs typeface="Arial" pitchFamily="34" charset="-120"/>
              </a:rPr>
              <a:t>Thu thập</a:t>
            </a:r>
            <a:endParaRPr lang="en-US" sz="1120" dirty="0"/>
          </a:p>
          <a:p>
            <a:pPr algn="ctr" indent="0" marL="0">
              <a:buNone/>
            </a:pPr>
            <a:r>
              <a:rPr lang="en-US" sz="1120" b="1" dirty="0">
                <a:solidFill>
                  <a:srgbClr val="0B1B4F"/>
                </a:solidFill>
                <a:latin typeface="Arial" pitchFamily="34" charset="0"/>
                <a:ea typeface="Arial" pitchFamily="34" charset="-122"/>
                <a:cs typeface="Arial" pitchFamily="34" charset="-120"/>
              </a:rPr>
              <a:t>OpenWeather</a:t>
            </a:r>
            <a:endParaRPr lang="en-US" sz="1120" dirty="0"/>
          </a:p>
        </p:txBody>
      </p:sp>
      <p:sp>
        <p:nvSpPr>
          <p:cNvPr id="20" name="Shape 17"/>
          <p:cNvSpPr/>
          <p:nvPr/>
        </p:nvSpPr>
        <p:spPr>
          <a:xfrm>
            <a:off x="2926080" y="3072384"/>
            <a:ext cx="548640" cy="201168"/>
          </a:xfrm>
          <a:prstGeom prst="rightArrow">
            <a:avLst/>
          </a:prstGeom>
          <a:solidFill>
            <a:srgbClr val="0070C0"/>
          </a:solidFill>
          <a:ln w="12700">
            <a:solidFill>
              <a:srgbClr val="0070C0"/>
            </a:solidFill>
            <a:prstDash val="solid"/>
          </a:ln>
        </p:spPr>
        <p:txBody>
          <a:bodyPr/>
          <a:p/>
        </p:txBody>
      </p:sp>
      <p:sp>
        <p:nvSpPr>
          <p:cNvPr id="21" name="Shape 18"/>
          <p:cNvSpPr/>
          <p:nvPr/>
        </p:nvSpPr>
        <p:spPr>
          <a:xfrm>
            <a:off x="3840480" y="2743200"/>
            <a:ext cx="1645920" cy="950976"/>
          </a:xfrm>
          <a:prstGeom prst="hexagon">
            <a:avLst/>
          </a:prstGeom>
          <a:solidFill>
            <a:srgbClr val="F6FBFF"/>
          </a:solidFill>
          <a:ln w="15240">
            <a:solidFill>
              <a:srgbClr val="0070C0"/>
            </a:solidFill>
            <a:prstDash val="solid"/>
          </a:ln>
        </p:spPr>
        <p:txBody>
          <a:bodyPr/>
          <a:p/>
        </p:txBody>
      </p:sp>
      <p:sp>
        <p:nvSpPr>
          <p:cNvPr id="22" name="Text 19"/>
          <p:cNvSpPr/>
          <p:nvPr/>
        </p:nvSpPr>
        <p:spPr>
          <a:xfrm>
            <a:off x="3950208" y="2944368"/>
            <a:ext cx="1426464" cy="402336"/>
          </a:xfrm>
          <a:prstGeom prst="rect">
            <a:avLst/>
          </a:prstGeom>
          <a:noFill/>
          <a:ln/>
        </p:spPr>
        <p:txBody>
          <a:bodyPr wrap="square" rtlCol="0" anchor="ctr">
            <a:normAutofit/>
          </a:bodyPr>
          <a:lstStyle/>
          <a:p>
            <a:pPr algn="ctr" indent="0" marL="0">
              <a:buNone/>
            </a:pPr>
            <a:r>
              <a:rPr lang="en-US" sz="1120" b="1" dirty="0">
                <a:solidFill>
                  <a:srgbClr val="0B1B4F"/>
                </a:solidFill>
                <a:latin typeface="Arial" pitchFamily="34" charset="0"/>
                <a:ea typeface="Arial" pitchFamily="34" charset="-122"/>
                <a:cs typeface="Arial" pitchFamily="34" charset="-120"/>
              </a:rPr>
              <a:t>Xử lý</a:t>
            </a:r>
            <a:endParaRPr lang="en-US" sz="1120" dirty="0"/>
          </a:p>
          <a:p>
            <a:pPr algn="ctr" indent="0" marL="0">
              <a:buNone/>
            </a:pPr>
            <a:r>
              <a:rPr lang="en-US" sz="1120" b="1" dirty="0">
                <a:solidFill>
                  <a:srgbClr val="0B1B4F"/>
                </a:solidFill>
                <a:latin typeface="Arial" pitchFamily="34" charset="0"/>
                <a:ea typeface="Arial" pitchFamily="34" charset="-122"/>
                <a:cs typeface="Arial" pitchFamily="34" charset="-120"/>
              </a:rPr>
              <a:t>Spark + HDFS</a:t>
            </a:r>
            <a:endParaRPr lang="en-US" sz="1120" dirty="0"/>
          </a:p>
        </p:txBody>
      </p:sp>
      <p:sp>
        <p:nvSpPr>
          <p:cNvPr id="23" name="Shape 20"/>
          <p:cNvSpPr/>
          <p:nvPr/>
        </p:nvSpPr>
        <p:spPr>
          <a:xfrm>
            <a:off x="5608320" y="3072384"/>
            <a:ext cx="548640" cy="201168"/>
          </a:xfrm>
          <a:prstGeom prst="rightArrow">
            <a:avLst/>
          </a:prstGeom>
          <a:solidFill>
            <a:srgbClr val="0070C0"/>
          </a:solidFill>
          <a:ln w="12700">
            <a:solidFill>
              <a:srgbClr val="0070C0"/>
            </a:solidFill>
            <a:prstDash val="solid"/>
          </a:ln>
        </p:spPr>
        <p:txBody>
          <a:bodyPr/>
          <a:p/>
        </p:txBody>
      </p:sp>
      <p:sp>
        <p:nvSpPr>
          <p:cNvPr id="24" name="Shape 21"/>
          <p:cNvSpPr/>
          <p:nvPr/>
        </p:nvSpPr>
        <p:spPr>
          <a:xfrm>
            <a:off x="6522720" y="2743200"/>
            <a:ext cx="1645920" cy="950976"/>
          </a:xfrm>
          <a:prstGeom prst="hexagon">
            <a:avLst/>
          </a:prstGeom>
          <a:solidFill>
            <a:srgbClr val="E8F6FF"/>
          </a:solidFill>
          <a:ln w="15240">
            <a:solidFill>
              <a:srgbClr val="0070C0"/>
            </a:solidFill>
            <a:prstDash val="solid"/>
          </a:ln>
        </p:spPr>
        <p:txBody>
          <a:bodyPr/>
          <a:p/>
        </p:txBody>
      </p:sp>
      <p:sp>
        <p:nvSpPr>
          <p:cNvPr id="25" name="Text 22"/>
          <p:cNvSpPr/>
          <p:nvPr/>
        </p:nvSpPr>
        <p:spPr>
          <a:xfrm>
            <a:off x="6632448" y="2944368"/>
            <a:ext cx="1426464" cy="402336"/>
          </a:xfrm>
          <a:prstGeom prst="rect">
            <a:avLst/>
          </a:prstGeom>
          <a:noFill/>
          <a:ln/>
        </p:spPr>
        <p:txBody>
          <a:bodyPr wrap="square" rtlCol="0" anchor="ctr">
            <a:normAutofit/>
          </a:bodyPr>
          <a:lstStyle/>
          <a:p>
            <a:pPr algn="ctr" indent="0" marL="0">
              <a:buNone/>
            </a:pPr>
            <a:r>
              <a:rPr lang="en-US" sz="1120" b="1" dirty="0">
                <a:solidFill>
                  <a:srgbClr val="0B1B4F"/>
                </a:solidFill>
                <a:latin typeface="Arial" pitchFamily="34" charset="0"/>
                <a:ea typeface="Arial" pitchFamily="34" charset="-122"/>
                <a:cs typeface="Arial" pitchFamily="34" charset="-120"/>
              </a:rPr>
              <a:t>Serving</a:t>
            </a:r>
            <a:endParaRPr lang="en-US" sz="1120" dirty="0"/>
          </a:p>
          <a:p>
            <a:pPr algn="ctr" indent="0" marL="0">
              <a:buNone/>
            </a:pPr>
            <a:r>
              <a:rPr lang="en-US" sz="1120" b="1" dirty="0">
                <a:solidFill>
                  <a:srgbClr val="0B1B4F"/>
                </a:solidFill>
                <a:latin typeface="Arial" pitchFamily="34" charset="0"/>
                <a:ea typeface="Arial" pitchFamily="34" charset="-122"/>
                <a:cs typeface="Arial" pitchFamily="34" charset="-120"/>
              </a:rPr>
              <a:t>HBase + FastAPI</a:t>
            </a:r>
            <a:endParaRPr lang="en-US" sz="1120" dirty="0"/>
          </a:p>
        </p:txBody>
      </p:sp>
      <p:sp>
        <p:nvSpPr>
          <p:cNvPr id="26" name="Shape 23"/>
          <p:cNvSpPr/>
          <p:nvPr/>
        </p:nvSpPr>
        <p:spPr>
          <a:xfrm>
            <a:off x="8290560" y="3072384"/>
            <a:ext cx="548640" cy="201168"/>
          </a:xfrm>
          <a:prstGeom prst="rightArrow">
            <a:avLst/>
          </a:prstGeom>
          <a:solidFill>
            <a:srgbClr val="0070C0"/>
          </a:solidFill>
          <a:ln w="12700">
            <a:solidFill>
              <a:srgbClr val="0070C0"/>
            </a:solidFill>
            <a:prstDash val="solid"/>
          </a:ln>
        </p:spPr>
        <p:txBody>
          <a:bodyPr/>
          <a:p/>
        </p:txBody>
      </p:sp>
      <p:sp>
        <p:nvSpPr>
          <p:cNvPr id="27" name="Shape 24"/>
          <p:cNvSpPr/>
          <p:nvPr/>
        </p:nvSpPr>
        <p:spPr>
          <a:xfrm>
            <a:off x="9204960" y="2743200"/>
            <a:ext cx="1645920" cy="950976"/>
          </a:xfrm>
          <a:prstGeom prst="hexagon">
            <a:avLst/>
          </a:prstGeom>
          <a:solidFill>
            <a:srgbClr val="F6FBFF"/>
          </a:solidFill>
          <a:ln w="15240">
            <a:solidFill>
              <a:srgbClr val="0070C0"/>
            </a:solidFill>
            <a:prstDash val="solid"/>
          </a:ln>
        </p:spPr>
        <p:txBody>
          <a:bodyPr/>
          <a:p/>
        </p:txBody>
      </p:sp>
      <p:sp>
        <p:nvSpPr>
          <p:cNvPr id="28" name="Text 25"/>
          <p:cNvSpPr/>
          <p:nvPr/>
        </p:nvSpPr>
        <p:spPr>
          <a:xfrm>
            <a:off x="9314688" y="2944368"/>
            <a:ext cx="1426464" cy="402336"/>
          </a:xfrm>
          <a:prstGeom prst="rect">
            <a:avLst/>
          </a:prstGeom>
          <a:noFill/>
          <a:ln/>
        </p:spPr>
        <p:txBody>
          <a:bodyPr wrap="square" rtlCol="0" anchor="ctr">
            <a:normAutofit/>
          </a:bodyPr>
          <a:lstStyle/>
          <a:p>
            <a:pPr algn="ctr" indent="0" marL="0">
              <a:buNone/>
            </a:pPr>
            <a:r>
              <a:rPr lang="en-US" sz="1120" b="1" dirty="0">
                <a:solidFill>
                  <a:srgbClr val="0B1B4F"/>
                </a:solidFill>
                <a:latin typeface="Arial" pitchFamily="34" charset="0"/>
                <a:ea typeface="Arial" pitchFamily="34" charset="-122"/>
                <a:cs typeface="Arial" pitchFamily="34" charset="-120"/>
              </a:rPr>
              <a:t>Hiển thị</a:t>
            </a:r>
            <a:endParaRPr lang="en-US" sz="1120" dirty="0"/>
          </a:p>
          <a:p>
            <a:pPr algn="ctr" indent="0" marL="0">
              <a:buNone/>
            </a:pPr>
            <a:r>
              <a:rPr lang="en-US" sz="1120" b="1" dirty="0">
                <a:solidFill>
                  <a:srgbClr val="0B1B4F"/>
                </a:solidFill>
                <a:latin typeface="Arial" pitchFamily="34" charset="0"/>
                <a:ea typeface="Arial" pitchFamily="34" charset="-122"/>
                <a:cs typeface="Arial" pitchFamily="34" charset="-120"/>
              </a:rPr>
              <a:t>Grafana</a:t>
            </a:r>
            <a:endParaRPr lang="en-US" sz="1120" dirty="0"/>
          </a:p>
        </p:txBody>
      </p:sp>
      <p:sp>
        <p:nvSpPr>
          <p:cNvPr id="29" name="Shape 26"/>
          <p:cNvSpPr/>
          <p:nvPr/>
        </p:nvSpPr>
        <p:spPr>
          <a:xfrm>
            <a:off x="1158240" y="4480560"/>
            <a:ext cx="2255520" cy="1005840"/>
          </a:xfrm>
          <a:prstGeom prst="rect">
            <a:avLst/>
          </a:prstGeom>
          <a:solidFill>
            <a:srgbClr val="FFFFFF"/>
          </a:solidFill>
          <a:ln w="15240">
            <a:solidFill>
              <a:srgbClr val="0070C0"/>
            </a:solidFill>
            <a:prstDash val="solid"/>
          </a:ln>
        </p:spPr>
        <p:txBody>
          <a:bodyPr/>
          <a:p/>
        </p:txBody>
      </p:sp>
      <p:sp>
        <p:nvSpPr>
          <p:cNvPr id="30" name="Shape 27"/>
          <p:cNvSpPr/>
          <p:nvPr/>
        </p:nvSpPr>
        <p:spPr>
          <a:xfrm>
            <a:off x="1158240" y="4480560"/>
            <a:ext cx="97536" cy="1005840"/>
          </a:xfrm>
          <a:prstGeom prst="rect">
            <a:avLst/>
          </a:prstGeom>
          <a:solidFill>
            <a:srgbClr val="0070C0"/>
          </a:solidFill>
          <a:ln w="12700">
            <a:solidFill>
              <a:srgbClr val="0070C0"/>
            </a:solidFill>
            <a:prstDash val="solid"/>
          </a:ln>
        </p:spPr>
        <p:txBody>
          <a:bodyPr/>
          <a:p/>
        </p:txBody>
      </p:sp>
      <p:sp>
        <p:nvSpPr>
          <p:cNvPr id="31" name="Text 28"/>
          <p:cNvSpPr/>
          <p:nvPr/>
        </p:nvSpPr>
        <p:spPr>
          <a:xfrm>
            <a:off x="1426464" y="4590288"/>
            <a:ext cx="1889760" cy="347472"/>
          </a:xfrm>
          <a:prstGeom prst="rect">
            <a:avLst/>
          </a:prstGeom>
          <a:noFill/>
          <a:ln/>
        </p:spPr>
        <p:txBody>
          <a:bodyPr wrap="square" rtlCol="0" anchor="ctr">
            <a:normAutofit/>
          </a:bodyPr>
          <a:lstStyle/>
          <a:p>
            <a:pPr indent="0" marL="0">
              <a:buNone/>
            </a:pPr>
            <a:r>
              <a:rPr sz="2200" b="1">
                <a:solidFill>
                  <a:srgbClr val="0B1B4F"/>
                </a:solidFill>
                <a:latin typeface="Arial"/>
              </a:rPr>
              <a:t>8,7696M</a:t>
            </a:r>
            <a:endParaRPr lang="en-US" sz="2200" dirty="0"/>
          </a:p>
        </p:txBody>
      </p:sp>
      <p:sp>
        <p:nvSpPr>
          <p:cNvPr id="32" name="Text 29"/>
          <p:cNvSpPr/>
          <p:nvPr/>
        </p:nvSpPr>
        <p:spPr>
          <a:xfrm>
            <a:off x="1426464" y="5010912"/>
            <a:ext cx="1889760" cy="329184"/>
          </a:xfrm>
          <a:prstGeom prst="rect">
            <a:avLst/>
          </a:prstGeom>
          <a:noFill/>
          <a:ln/>
        </p:spPr>
        <p:txBody>
          <a:bodyPr wrap="square" rtlCol="0" anchor="ctr">
            <a:normAutofit/>
          </a:bodyPr>
          <a:lstStyle/>
          <a:p>
            <a:pPr indent="0" marL="0">
              <a:buNone/>
            </a:pPr>
            <a:r>
              <a:rPr sz="1050">
                <a:solidFill>
                  <a:srgbClr val="5B6472"/>
                </a:solidFill>
                <a:latin typeface="Arial"/>
              </a:rPr>
              <a:t>dòng giờ sạch sau Pha 1</a:t>
            </a:r>
            <a:endParaRPr lang="en-US" sz="1050" dirty="0"/>
          </a:p>
        </p:txBody>
      </p:sp>
      <p:sp>
        <p:nvSpPr>
          <p:cNvPr id="33" name="Shape 30"/>
          <p:cNvSpPr/>
          <p:nvPr/>
        </p:nvSpPr>
        <p:spPr>
          <a:xfrm>
            <a:off x="3694176" y="4480560"/>
            <a:ext cx="2499360" cy="1005840"/>
          </a:xfrm>
          <a:prstGeom prst="rect">
            <a:avLst/>
          </a:prstGeom>
          <a:solidFill>
            <a:srgbClr val="FFFFFF"/>
          </a:solidFill>
          <a:ln w="15240">
            <a:solidFill>
              <a:srgbClr val="00AEEF"/>
            </a:solidFill>
            <a:prstDash val="solid"/>
          </a:ln>
        </p:spPr>
        <p:txBody>
          <a:bodyPr/>
          <a:p/>
        </p:txBody>
      </p:sp>
      <p:sp>
        <p:nvSpPr>
          <p:cNvPr id="34" name="Shape 31"/>
          <p:cNvSpPr/>
          <p:nvPr/>
        </p:nvSpPr>
        <p:spPr>
          <a:xfrm>
            <a:off x="3694176" y="4480560"/>
            <a:ext cx="97536" cy="1005840"/>
          </a:xfrm>
          <a:prstGeom prst="rect">
            <a:avLst/>
          </a:prstGeom>
          <a:solidFill>
            <a:srgbClr val="00AEEF"/>
          </a:solidFill>
          <a:ln w="12700">
            <a:solidFill>
              <a:srgbClr val="00AEEF"/>
            </a:solidFill>
            <a:prstDash val="solid"/>
          </a:ln>
        </p:spPr>
        <p:txBody>
          <a:bodyPr/>
          <a:p/>
        </p:txBody>
      </p:sp>
      <p:sp>
        <p:nvSpPr>
          <p:cNvPr id="35" name="Text 32"/>
          <p:cNvSpPr/>
          <p:nvPr/>
        </p:nvSpPr>
        <p:spPr>
          <a:xfrm>
            <a:off x="3962400" y="4590288"/>
            <a:ext cx="2133600" cy="347472"/>
          </a:xfrm>
          <a:prstGeom prst="rect">
            <a:avLst/>
          </a:prstGeom>
          <a:noFill/>
          <a:ln/>
        </p:spPr>
        <p:txBody>
          <a:bodyPr wrap="square" rtlCol="0" anchor="ctr">
            <a:normAutofit/>
          </a:bodyPr>
          <a:lstStyle/>
          <a:p>
            <a:pPr indent="0" marL="0">
              <a:buNone/>
            </a:pPr>
            <a:r>
              <a:rPr lang="en-US" sz="2200" b="1" dirty="0">
                <a:solidFill>
                  <a:srgbClr val="0B1B4F"/>
                </a:solidFill>
                <a:latin typeface="Arial" pitchFamily="34" charset="0"/>
                <a:ea typeface="Arial" pitchFamily="34" charset="-122"/>
                <a:cs typeface="Arial" pitchFamily="34" charset="-120"/>
              </a:rPr>
              <a:t>428.866</a:t>
            </a:r>
            <a:endParaRPr lang="en-US" sz="2200" dirty="0"/>
          </a:p>
        </p:txBody>
      </p:sp>
      <p:sp>
        <p:nvSpPr>
          <p:cNvPr id="36" name="Text 33"/>
          <p:cNvSpPr/>
          <p:nvPr/>
        </p:nvSpPr>
        <p:spPr>
          <a:xfrm>
            <a:off x="3962400" y="5010912"/>
            <a:ext cx="2133600" cy="329184"/>
          </a:xfrm>
          <a:prstGeom prst="rect">
            <a:avLst/>
          </a:prstGeom>
          <a:noFill/>
          <a:ln/>
        </p:spPr>
        <p:txBody>
          <a:bodyPr wrap="square" rtlCol="0" anchor="ctr">
            <a:normAutofit/>
          </a:bodyPr>
          <a:lstStyle/>
          <a:p>
            <a:pPr indent="0" marL="0">
              <a:buNone/>
            </a:pPr>
            <a:r>
              <a:rPr lang="en-US" sz="1050" dirty="0">
                <a:solidFill>
                  <a:srgbClr val="5B6472"/>
                </a:solidFill>
                <a:latin typeface="Arial" pitchFamily="34" charset="0"/>
                <a:ea typeface="Arial" pitchFamily="34" charset="-122"/>
                <a:cs typeface="Arial" pitchFamily="34" charset="-120"/>
              </a:rPr>
              <a:t>dòng lịch sử trong HBase</a:t>
            </a:r>
            <a:endParaRPr lang="en-US" sz="1050" dirty="0"/>
          </a:p>
        </p:txBody>
      </p:sp>
      <p:sp>
        <p:nvSpPr>
          <p:cNvPr id="37" name="Shape 34"/>
          <p:cNvSpPr/>
          <p:nvPr/>
        </p:nvSpPr>
        <p:spPr>
          <a:xfrm>
            <a:off x="6498336" y="4480560"/>
            <a:ext cx="2316480" cy="1005840"/>
          </a:xfrm>
          <a:prstGeom prst="rect">
            <a:avLst/>
          </a:prstGeom>
          <a:solidFill>
            <a:srgbClr val="FFFFFF"/>
          </a:solidFill>
          <a:ln w="15240">
            <a:solidFill>
              <a:srgbClr val="1B8A5A"/>
            </a:solidFill>
            <a:prstDash val="solid"/>
          </a:ln>
        </p:spPr>
        <p:txBody>
          <a:bodyPr/>
          <a:p/>
        </p:txBody>
      </p:sp>
      <p:sp>
        <p:nvSpPr>
          <p:cNvPr id="38" name="Shape 35"/>
          <p:cNvSpPr/>
          <p:nvPr/>
        </p:nvSpPr>
        <p:spPr>
          <a:xfrm>
            <a:off x="6498336" y="4480560"/>
            <a:ext cx="97536" cy="1005840"/>
          </a:xfrm>
          <a:prstGeom prst="rect">
            <a:avLst/>
          </a:prstGeom>
          <a:solidFill>
            <a:srgbClr val="1B8A5A"/>
          </a:solidFill>
          <a:ln w="12700">
            <a:solidFill>
              <a:srgbClr val="1B8A5A"/>
            </a:solidFill>
            <a:prstDash val="solid"/>
          </a:ln>
        </p:spPr>
        <p:txBody>
          <a:bodyPr/>
          <a:p/>
        </p:txBody>
      </p:sp>
      <p:sp>
        <p:nvSpPr>
          <p:cNvPr id="39" name="Text 36"/>
          <p:cNvSpPr/>
          <p:nvPr/>
        </p:nvSpPr>
        <p:spPr>
          <a:xfrm>
            <a:off x="6766560" y="4590288"/>
            <a:ext cx="1950720" cy="347472"/>
          </a:xfrm>
          <a:prstGeom prst="rect">
            <a:avLst/>
          </a:prstGeom>
          <a:noFill/>
          <a:ln/>
        </p:spPr>
        <p:txBody>
          <a:bodyPr wrap="square" rtlCol="0" anchor="ctr">
            <a:normAutofit/>
          </a:bodyPr>
          <a:lstStyle/>
          <a:p>
            <a:pPr indent="0" marL="0">
              <a:buNone/>
            </a:pPr>
            <a:r>
              <a:rPr lang="en-US" sz="2200" b="1" dirty="0">
                <a:solidFill>
                  <a:srgbClr val="0B1B4F"/>
                </a:solidFill>
                <a:latin typeface="Arial" pitchFamily="34" charset="0"/>
                <a:ea typeface="Arial" pitchFamily="34" charset="-122"/>
                <a:cs typeface="Arial" pitchFamily="34" charset="-120"/>
              </a:rPr>
              <a:t>2,43×</a:t>
            </a:r>
            <a:endParaRPr lang="en-US" sz="2200" dirty="0"/>
          </a:p>
        </p:txBody>
      </p:sp>
      <p:sp>
        <p:nvSpPr>
          <p:cNvPr id="40" name="Text 37"/>
          <p:cNvSpPr/>
          <p:nvPr/>
        </p:nvSpPr>
        <p:spPr>
          <a:xfrm>
            <a:off x="6766560" y="5010912"/>
            <a:ext cx="1950720" cy="329184"/>
          </a:xfrm>
          <a:prstGeom prst="rect">
            <a:avLst/>
          </a:prstGeom>
          <a:noFill/>
          <a:ln/>
        </p:spPr>
        <p:txBody>
          <a:bodyPr wrap="square" rtlCol="0" anchor="ctr">
            <a:normAutofit/>
          </a:bodyPr>
          <a:lstStyle/>
          <a:p>
            <a:pPr indent="0" marL="0">
              <a:buNone/>
            </a:pPr>
            <a:r>
              <a:rPr lang="en-US" sz="1050" dirty="0">
                <a:solidFill>
                  <a:srgbClr val="5B6472"/>
                </a:solidFill>
                <a:latin typeface="Arial" pitchFamily="34" charset="0"/>
                <a:ea typeface="Arial" pitchFamily="34" charset="-122"/>
                <a:cs typeface="Arial" pitchFamily="34" charset="-120"/>
              </a:rPr>
              <a:t>speedup ở workload 8M</a:t>
            </a:r>
            <a:endParaRPr lang="en-US" sz="1050" dirty="0"/>
          </a:p>
        </p:txBody>
      </p:sp>
      <p:sp>
        <p:nvSpPr>
          <p:cNvPr id="41" name="Shape 38"/>
          <p:cNvSpPr/>
          <p:nvPr/>
        </p:nvSpPr>
        <p:spPr>
          <a:xfrm>
            <a:off x="9119616" y="4480560"/>
            <a:ext cx="2133600" cy="1005840"/>
          </a:xfrm>
          <a:prstGeom prst="rect">
            <a:avLst/>
          </a:prstGeom>
          <a:solidFill>
            <a:srgbClr val="FFFFFF"/>
          </a:solidFill>
          <a:ln w="15240">
            <a:solidFill>
              <a:srgbClr val="F59E0B"/>
            </a:solidFill>
            <a:prstDash val="solid"/>
          </a:ln>
        </p:spPr>
        <p:txBody>
          <a:bodyPr/>
          <a:p/>
        </p:txBody>
      </p:sp>
      <p:sp>
        <p:nvSpPr>
          <p:cNvPr id="42" name="Shape 39"/>
          <p:cNvSpPr/>
          <p:nvPr/>
        </p:nvSpPr>
        <p:spPr>
          <a:xfrm>
            <a:off x="9119616" y="4480560"/>
            <a:ext cx="97536" cy="1005840"/>
          </a:xfrm>
          <a:prstGeom prst="rect">
            <a:avLst/>
          </a:prstGeom>
          <a:solidFill>
            <a:srgbClr val="F59E0B"/>
          </a:solidFill>
          <a:ln w="12700">
            <a:solidFill>
              <a:srgbClr val="F59E0B"/>
            </a:solidFill>
            <a:prstDash val="solid"/>
          </a:ln>
        </p:spPr>
        <p:txBody>
          <a:bodyPr/>
          <a:p/>
        </p:txBody>
      </p:sp>
      <p:sp>
        <p:nvSpPr>
          <p:cNvPr id="43" name="Text 40"/>
          <p:cNvSpPr/>
          <p:nvPr/>
        </p:nvSpPr>
        <p:spPr>
          <a:xfrm>
            <a:off x="9387840" y="4590288"/>
            <a:ext cx="1767840" cy="347472"/>
          </a:xfrm>
          <a:prstGeom prst="rect">
            <a:avLst/>
          </a:prstGeom>
          <a:noFill/>
          <a:ln/>
        </p:spPr>
        <p:txBody>
          <a:bodyPr wrap="square" rtlCol="0" anchor="ctr">
            <a:normAutofit/>
          </a:bodyPr>
          <a:lstStyle/>
          <a:p>
            <a:pPr indent="0" marL="0">
              <a:buNone/>
            </a:pPr>
            <a:r>
              <a:rPr sz="2200" b="1">
                <a:solidFill>
                  <a:srgbClr val="0B1B4F"/>
                </a:solidFill>
                <a:latin typeface="Arial"/>
              </a:rPr>
              <a:t>8 panels</a:t>
            </a:r>
            <a:endParaRPr lang="en-US" sz="2200" dirty="0"/>
          </a:p>
        </p:txBody>
      </p:sp>
      <p:sp>
        <p:nvSpPr>
          <p:cNvPr id="44" name="Text 41"/>
          <p:cNvSpPr/>
          <p:nvPr/>
        </p:nvSpPr>
        <p:spPr>
          <a:xfrm>
            <a:off x="9387840" y="5010912"/>
            <a:ext cx="1767840" cy="329184"/>
          </a:xfrm>
          <a:prstGeom prst="rect">
            <a:avLst/>
          </a:prstGeom>
          <a:noFill/>
          <a:ln/>
        </p:spPr>
        <p:txBody>
          <a:bodyPr wrap="square" rtlCol="0" anchor="ctr">
            <a:normAutofit/>
          </a:bodyPr>
          <a:lstStyle/>
          <a:p>
            <a:pPr indent="0" marL="0">
              <a:buNone/>
            </a:pPr>
            <a:r>
              <a:rPr lang="en-US" sz="1050" dirty="0">
                <a:solidFill>
                  <a:srgbClr val="5B6472"/>
                </a:solidFill>
                <a:latin typeface="Arial" pitchFamily="34" charset="0"/>
                <a:ea typeface="Arial" pitchFamily="34" charset="-122"/>
                <a:cs typeface="Arial" pitchFamily="34" charset="-120"/>
              </a:rPr>
              <a:t>dashboard Grafana final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1" cy="1"/>
          <a:chOff x="0" y="0"/>
          <a:chExt cx="1" cy="1"/>
        </a:xfrm>
      </p:grpSpPr>
      <p:sp>
        <p:nvSpPr>
          <p:cNvPr id="2" name="Shape 0"/>
          <p:cNvSpPr/>
          <p:nvPr/>
        </p:nvSpPr>
        <p:spPr>
          <a:xfrm>
            <a:off x="0" y="0"/>
            <a:ext cx="1" cy="1463040"/>
          </a:xfrm>
          <a:prstGeom prst="line">
            <a:avLst/>
          </a:prstGeom>
          <a:noFill/>
          <a:ln w="31750">
            <a:solidFill>
              <a:srgbClr val="00AEEF"/>
            </a:solidFill>
            <a:prstDash val="solid"/>
          </a:ln>
        </p:spPr>
        <p:txBody>
          <a:bodyPr/>
          <a:p/>
        </p:txBody>
      </p:sp>
      <p:sp>
        <p:nvSpPr>
          <p:cNvPr id="3" name="Shape 1"/>
          <p:cNvSpPr/>
          <p:nvPr/>
        </p:nvSpPr>
        <p:spPr>
          <a:xfrm>
            <a:off x="0" y="0"/>
            <a:ext cx="1920240" cy="1"/>
          </a:xfrm>
          <a:prstGeom prst="line">
            <a:avLst/>
          </a:prstGeom>
          <a:noFill/>
          <a:ln w="31750">
            <a:solidFill>
              <a:srgbClr val="00AEEF"/>
            </a:solidFill>
            <a:prstDash val="solid"/>
          </a:ln>
        </p:spPr>
        <p:txBody>
          <a:bodyPr/>
          <a:p/>
        </p:txBody>
      </p:sp>
      <p:sp>
        <p:nvSpPr>
          <p:cNvPr id="4" name="Shape 2"/>
          <p:cNvSpPr/>
          <p:nvPr/>
        </p:nvSpPr>
        <p:spPr>
          <a:xfrm>
            <a:off x="0" y="0"/>
            <a:ext cx="347472" cy="384048"/>
          </a:xfrm>
          <a:prstGeom prst="line">
            <a:avLst/>
          </a:prstGeom>
          <a:noFill/>
          <a:ln w="31750">
            <a:solidFill>
              <a:srgbClr val="00AEEF"/>
            </a:solidFill>
            <a:prstDash val="solid"/>
          </a:ln>
        </p:spPr>
        <p:txBody>
          <a:bodyPr/>
          <a:p/>
        </p:txBody>
      </p:sp>
      <p:sp>
        <p:nvSpPr>
          <p:cNvPr id="5" name="Shape 3"/>
          <p:cNvSpPr/>
          <p:nvPr/>
        </p:nvSpPr>
        <p:spPr>
          <a:xfrm flipH="1">
            <a:off x="10271760" y="6858000"/>
            <a:ext cx="1920240" cy="1"/>
          </a:xfrm>
          <a:prstGeom prst="line">
            <a:avLst/>
          </a:prstGeom>
          <a:noFill/>
          <a:ln w="31750">
            <a:solidFill>
              <a:srgbClr val="00AEEF"/>
            </a:solidFill>
            <a:prstDash val="solid"/>
          </a:ln>
        </p:spPr>
        <p:txBody>
          <a:bodyPr/>
          <a:p/>
        </p:txBody>
      </p:sp>
      <p:sp>
        <p:nvSpPr>
          <p:cNvPr id="6" name="Shape 4"/>
          <p:cNvSpPr/>
          <p:nvPr/>
        </p:nvSpPr>
        <p:spPr>
          <a:xfrm flipV="1">
            <a:off x="12191999" y="5715000"/>
            <a:ext cx="1" cy="1143000"/>
          </a:xfrm>
          <a:prstGeom prst="line">
            <a:avLst/>
          </a:prstGeom>
          <a:noFill/>
          <a:ln w="31750">
            <a:solidFill>
              <a:srgbClr val="00AEEF"/>
            </a:solidFill>
            <a:prstDash val="solid"/>
          </a:ln>
        </p:spPr>
        <p:txBody>
          <a:bodyPr/>
          <a:p/>
        </p:txBody>
      </p:sp>
      <p:sp>
        <p:nvSpPr>
          <p:cNvPr id="7" name="Shape 5"/>
          <p:cNvSpPr/>
          <p:nvPr/>
        </p:nvSpPr>
        <p:spPr>
          <a:xfrm flipH="1" flipV="1">
            <a:off x="11844528" y="6473952"/>
            <a:ext cx="347472" cy="384048"/>
          </a:xfrm>
          <a:prstGeom prst="line">
            <a:avLst/>
          </a:prstGeom>
          <a:noFill/>
          <a:ln w="31750">
            <a:solidFill>
              <a:srgbClr val="00AEEF"/>
            </a:solidFill>
            <a:prstDash val="solid"/>
          </a:ln>
        </p:spPr>
        <p:txBody>
          <a:bodyPr/>
          <a:p/>
        </p:txBody>
      </p:sp>
      <p:sp>
        <p:nvSpPr>
          <p:cNvPr id="8" name="Shape 6"/>
          <p:cNvSpPr/>
          <p:nvPr/>
        </p:nvSpPr>
        <p:spPr>
          <a:xfrm>
            <a:off x="0" y="4736592"/>
            <a:ext cx="320040" cy="384048"/>
          </a:xfrm>
          <a:prstGeom prst="rect">
            <a:avLst/>
          </a:prstGeom>
          <a:solidFill>
            <a:srgbClr val="0070C0"/>
          </a:solidFill>
          <a:ln w="12700">
            <a:solidFill>
              <a:srgbClr val="FFFFFF">
                <a:alpha val="75000"/>
              </a:srgbClr>
            </a:solidFill>
            <a:prstDash val="solid"/>
          </a:ln>
        </p:spPr>
        <p:txBody>
          <a:bodyPr/>
          <a:p/>
        </p:txBody>
      </p:sp>
      <p:sp>
        <p:nvSpPr>
          <p:cNvPr id="9" name="Shape 7"/>
          <p:cNvSpPr/>
          <p:nvPr/>
        </p:nvSpPr>
        <p:spPr>
          <a:xfrm>
            <a:off x="0" y="5193792"/>
            <a:ext cx="320040" cy="384048"/>
          </a:xfrm>
          <a:prstGeom prst="rect">
            <a:avLst/>
          </a:prstGeom>
          <a:solidFill>
            <a:srgbClr val="00AEEF"/>
          </a:solidFill>
          <a:ln w="12700">
            <a:solidFill>
              <a:srgbClr val="FFFFFF">
                <a:alpha val="75000"/>
              </a:srgbClr>
            </a:solidFill>
            <a:prstDash val="solid"/>
          </a:ln>
        </p:spPr>
        <p:txBody>
          <a:bodyPr/>
          <a:p/>
        </p:txBody>
      </p:sp>
      <p:sp>
        <p:nvSpPr>
          <p:cNvPr id="10" name="Shape 8"/>
          <p:cNvSpPr/>
          <p:nvPr/>
        </p:nvSpPr>
        <p:spPr>
          <a:xfrm>
            <a:off x="0" y="5650992"/>
            <a:ext cx="320040" cy="384048"/>
          </a:xfrm>
          <a:prstGeom prst="rect">
            <a:avLst/>
          </a:prstGeom>
          <a:solidFill>
            <a:srgbClr val="0070C0"/>
          </a:solidFill>
          <a:ln w="12700">
            <a:solidFill>
              <a:srgbClr val="FFFFFF">
                <a:alpha val="75000"/>
              </a:srgbClr>
            </a:solidFill>
            <a:prstDash val="solid"/>
          </a:ln>
        </p:spPr>
        <p:txBody>
          <a:bodyPr/>
          <a:p/>
        </p:txBody>
      </p:sp>
      <p:sp>
        <p:nvSpPr>
          <p:cNvPr id="11" name="Shape 9"/>
          <p:cNvSpPr/>
          <p:nvPr/>
        </p:nvSpPr>
        <p:spPr>
          <a:xfrm>
            <a:off x="0" y="6108192"/>
            <a:ext cx="320040" cy="384048"/>
          </a:xfrm>
          <a:prstGeom prst="rect">
            <a:avLst/>
          </a:prstGeom>
          <a:solidFill>
            <a:srgbClr val="00AEEF"/>
          </a:solidFill>
          <a:ln w="12700">
            <a:solidFill>
              <a:srgbClr val="FFFFFF">
                <a:alpha val="75000"/>
              </a:srgbClr>
            </a:solidFill>
            <a:prstDash val="solid"/>
          </a:ln>
        </p:spPr>
        <p:txBody>
          <a:bodyPr/>
          <a:p/>
        </p:txBody>
      </p:sp>
      <p:pic>
        <p:nvPicPr>
          <p:cNvPr id="12" name="Image 0" descr="/mnt/data/template_assets/image1.png">    </p:cNvPr>
          <p:cNvPicPr>
            <a:picLocks noChangeAspect="1"/>
          </p:cNvPicPr>
          <p:nvPr/>
        </p:nvPicPr>
        <p:blipFill>
          <a:blip r:embed="rId1"/>
          <a:stretch>
            <a:fillRect/>
          </a:stretch>
        </p:blipFill>
        <p:spPr>
          <a:xfrm>
            <a:off x="11844528" y="146304"/>
            <a:ext cx="347472" cy="292608"/>
          </a:xfrm>
          <a:prstGeom prst="rect">
            <a:avLst/>
          </a:prstGeom>
        </p:spPr>
      </p:pic>
      <p:sp>
        <p:nvSpPr>
          <p:cNvPr id="13" name="Text 10"/>
          <p:cNvSpPr/>
          <p:nvPr/>
        </p:nvSpPr>
        <p:spPr>
          <a:xfrm>
            <a:off x="877824" y="6565392"/>
            <a:ext cx="5608320" cy="164592"/>
          </a:xfrm>
          <a:prstGeom prst="rect">
            <a:avLst/>
          </a:prstGeom>
          <a:noFill/>
          <a:ln/>
        </p:spPr>
        <p:txBody>
          <a:bodyPr wrap="square" rtlCol="0" anchor="ctr"/>
          <a:lstStyle/>
          <a:p>
            <a:pPr indent="0" marL="0">
              <a:buNone/>
            </a:pPr>
            <a:r>
              <a:rPr lang="en-US" sz="750" dirty="0">
                <a:solidFill>
                  <a:srgbClr val="777777"/>
                </a:solidFill>
                <a:latin typeface="Arial" pitchFamily="34" charset="0"/>
                <a:ea typeface="Arial" pitchFamily="34" charset="-122"/>
                <a:cs typeface="Arial" pitchFamily="34" charset="-120"/>
              </a:rPr>
              <a:t>Trường Đại học Công nghệ Thông tin, ĐHQG-HCM</a:t>
            </a:r>
            <a:endParaRPr lang="en-US" sz="750" dirty="0"/>
          </a:p>
        </p:txBody>
      </p:sp>
      <p:sp>
        <p:nvSpPr>
          <p:cNvPr id="14" name="Text 11"/>
          <p:cNvSpPr/>
          <p:nvPr/>
        </p:nvSpPr>
        <p:spPr>
          <a:xfrm>
            <a:off x="11990832" y="6446520"/>
            <a:ext cx="201168" cy="146304"/>
          </a:xfrm>
          <a:prstGeom prst="rect">
            <a:avLst/>
          </a:prstGeom>
          <a:noFill/>
          <a:ln/>
        </p:spPr>
        <p:txBody>
          <a:bodyPr wrap="square" lIns="127" tIns="127" rIns="127" bIns="127" rtlCol="0" anchor="ctr">
            <a:normAutofit/>
          </a:bodyPr>
          <a:lstStyle/>
          <a:p>
            <a:pPr algn="ctr" indent="0" marL="0">
              <a:buNone/>
            </a:pPr>
            <a:r>
              <a:rPr lang="en-US" sz="650" dirty="0">
                <a:solidFill>
                  <a:srgbClr val="777777"/>
                </a:solidFill>
                <a:latin typeface="Arial" pitchFamily="34" charset="0"/>
                <a:ea typeface="Arial" pitchFamily="34" charset="-122"/>
                <a:cs typeface="Arial" pitchFamily="34" charset="-120"/>
              </a:rPr>
              <a:t>2</a:t>
            </a:r>
            <a:endParaRPr lang="en-US" sz="650" dirty="0"/>
          </a:p>
        </p:txBody>
      </p:sp>
      <p:sp>
        <p:nvSpPr>
          <p:cNvPr id="15" name="Text 12"/>
          <p:cNvSpPr/>
          <p:nvPr/>
        </p:nvSpPr>
        <p:spPr>
          <a:xfrm>
            <a:off x="877824" y="694944"/>
            <a:ext cx="10119360" cy="566928"/>
          </a:xfrm>
          <a:prstGeom prst="rect">
            <a:avLst/>
          </a:prstGeom>
          <a:noFill/>
          <a:ln/>
        </p:spPr>
        <p:txBody>
          <a:bodyPr wrap="square" rtlCol="0" anchor="ctr">
            <a:normAutofit/>
          </a:bodyPr>
          <a:lstStyle/>
          <a:p>
            <a:pPr indent="0" marL="0">
              <a:buNone/>
            </a:pPr>
            <a:r>
              <a:rPr lang="en-US" sz="2700" b="1" dirty="0">
                <a:solidFill>
                  <a:srgbClr val="0070C0"/>
                </a:solidFill>
                <a:latin typeface="Arial" pitchFamily="34" charset="0"/>
                <a:ea typeface="Arial" pitchFamily="34" charset="-122"/>
                <a:cs typeface="Arial" pitchFamily="34" charset="-120"/>
              </a:rPr>
              <a:t>KẾT QUẢ ĐẠT ĐƯỢC</a:t>
            </a:r>
            <a:endParaRPr lang="en-US" sz="2700" dirty="0"/>
          </a:p>
        </p:txBody>
      </p:sp>
      <p:sp>
        <p:nvSpPr>
          <p:cNvPr id="16" name="Text 13"/>
          <p:cNvSpPr/>
          <p:nvPr/>
        </p:nvSpPr>
        <p:spPr>
          <a:xfrm>
            <a:off x="902208" y="1389888"/>
            <a:ext cx="10241280" cy="310896"/>
          </a:xfrm>
          <a:prstGeom prst="rect">
            <a:avLst/>
          </a:prstGeom>
          <a:noFill/>
          <a:ln/>
        </p:spPr>
        <p:txBody>
          <a:bodyPr wrap="square" rtlCol="0" anchor="ctr">
            <a:normAutofit/>
          </a:bodyPr>
          <a:lstStyle/>
          <a:p>
            <a:pPr indent="0" marL="0">
              <a:buNone/>
            </a:pPr>
            <a:r>
              <a:rPr lang="en-US" sz="1300" i="1" dirty="0">
                <a:solidFill>
                  <a:srgbClr val="1F2A44"/>
                </a:solidFill>
                <a:latin typeface="Arial" pitchFamily="34" charset="0"/>
                <a:ea typeface="Arial" pitchFamily="34" charset="-122"/>
                <a:cs typeface="Arial" pitchFamily="34" charset="-120"/>
              </a:rPr>
              <a:t>Hoàn thành mục tiêu ban đầu: Big Data pipeline + AQI analytics + visualization</a:t>
            </a:r>
            <a:endParaRPr lang="en-US" sz="1300" dirty="0"/>
          </a:p>
        </p:txBody>
      </p:sp>
      <p:sp>
        <p:nvSpPr>
          <p:cNvPr id="17" name="Shape 14"/>
          <p:cNvSpPr/>
          <p:nvPr/>
        </p:nvSpPr>
        <p:spPr>
          <a:xfrm>
            <a:off x="1036320" y="1783080"/>
            <a:ext cx="5120640" cy="4114800"/>
          </a:xfrm>
          <a:prstGeom prst="rect">
            <a:avLst/>
          </a:prstGeom>
          <a:solidFill>
            <a:srgbClr val="F9FCFF"/>
          </a:solidFill>
          <a:ln w="12700">
            <a:solidFill>
              <a:srgbClr val="D7ECFF"/>
            </a:solidFill>
            <a:prstDash val="solid"/>
          </a:ln>
        </p:spPr>
        <p:txBody>
          <a:bodyPr/>
          <a:p/>
        </p:txBody>
      </p:sp>
      <p:sp>
        <p:nvSpPr>
          <p:cNvPr id="18" name="Shape 15"/>
          <p:cNvSpPr/>
          <p:nvPr/>
        </p:nvSpPr>
        <p:spPr>
          <a:xfrm>
            <a:off x="1328928" y="2020824"/>
            <a:ext cx="292608" cy="292608"/>
          </a:xfrm>
          <a:prstGeom prst="ellipse">
            <a:avLst/>
          </a:prstGeom>
          <a:solidFill>
            <a:srgbClr val="0070C0"/>
          </a:solidFill>
          <a:ln w="12700">
            <a:solidFill>
              <a:srgbClr val="0070C0"/>
            </a:solidFill>
            <a:prstDash val="solid"/>
          </a:ln>
        </p:spPr>
        <p:txBody>
          <a:bodyPr/>
          <a:p/>
        </p:txBody>
      </p:sp>
      <p:sp>
        <p:nvSpPr>
          <p:cNvPr id="19" name="Text 16"/>
          <p:cNvSpPr/>
          <p:nvPr/>
        </p:nvSpPr>
        <p:spPr>
          <a:xfrm>
            <a:off x="1280160" y="2084832"/>
            <a:ext cx="390144" cy="109728"/>
          </a:xfrm>
          <a:prstGeom prst="rect">
            <a:avLst/>
          </a:prstGeom>
          <a:noFill/>
          <a:ln/>
        </p:spPr>
        <p:txBody>
          <a:bodyPr wrap="square"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20" name="Text 17"/>
          <p:cNvSpPr/>
          <p:nvPr/>
        </p:nvSpPr>
        <p:spPr>
          <a:xfrm>
            <a:off x="1828800" y="1975104"/>
            <a:ext cx="1511808" cy="228600"/>
          </a:xfrm>
          <a:prstGeom prst="rect">
            <a:avLst/>
          </a:prstGeom>
          <a:noFill/>
          <a:ln/>
        </p:spPr>
        <p:txBody>
          <a:bodyPr wrap="square" rtlCol="0" anchor="ctr">
            <a:normAutofit/>
          </a:bodyPr>
          <a:lstStyle/>
          <a:p>
            <a:pPr indent="0" marL="0">
              <a:buNone/>
            </a:pPr>
            <a:r>
              <a:rPr lang="en-US" sz="1320" b="1" dirty="0">
                <a:solidFill>
                  <a:srgbClr val="0B1B4F"/>
                </a:solidFill>
                <a:latin typeface="Arial" pitchFamily="34" charset="0"/>
                <a:ea typeface="Arial" pitchFamily="34" charset="-122"/>
                <a:cs typeface="Arial" pitchFamily="34" charset="-120"/>
              </a:rPr>
              <a:t>Pipeline lõi</a:t>
            </a:r>
            <a:endParaRPr lang="en-US" sz="1320" dirty="0"/>
          </a:p>
        </p:txBody>
      </p:sp>
      <p:sp>
        <p:nvSpPr>
          <p:cNvPr id="21" name="Text 18"/>
          <p:cNvSpPr/>
          <p:nvPr/>
        </p:nvSpPr>
        <p:spPr>
          <a:xfrm>
            <a:off x="3608832" y="1975104"/>
            <a:ext cx="2145792" cy="320040"/>
          </a:xfrm>
          <a:prstGeom prst="rect">
            <a:avLst/>
          </a:prstGeom>
          <a:noFill/>
          <a:ln/>
        </p:spPr>
        <p:txBody>
          <a:bodyPr wrap="square" rtlCol="0" anchor="ctr">
            <a:normAutofit/>
          </a:bodyPr>
          <a:lstStyle/>
          <a:p>
            <a:pPr indent="0" marL="0">
              <a:buNone/>
            </a:pPr>
            <a:r>
              <a:rPr lang="en-US" sz="1080" dirty="0">
                <a:solidFill>
                  <a:srgbClr val="5B6472"/>
                </a:solidFill>
                <a:latin typeface="Arial" pitchFamily="34" charset="0"/>
                <a:ea typeface="Arial" pitchFamily="34" charset="-122"/>
                <a:cs typeface="Arial" pitchFamily="34" charset="-120"/>
              </a:rPr>
              <a:t>Batch + Streaming: Kafka → Spark → HDFS/HBase</a:t>
            </a:r>
            <a:endParaRPr lang="en-US" sz="1080" dirty="0"/>
          </a:p>
        </p:txBody>
      </p:sp>
      <p:sp>
        <p:nvSpPr>
          <p:cNvPr id="22" name="Shape 19"/>
          <p:cNvSpPr/>
          <p:nvPr/>
        </p:nvSpPr>
        <p:spPr>
          <a:xfrm>
            <a:off x="1475232" y="2350008"/>
            <a:ext cx="1" cy="475488"/>
          </a:xfrm>
          <a:prstGeom prst="line">
            <a:avLst/>
          </a:prstGeom>
          <a:noFill/>
          <a:ln w="13970">
            <a:solidFill>
              <a:srgbClr val="C8EAFE"/>
            </a:solidFill>
            <a:prstDash val="solid"/>
          </a:ln>
        </p:spPr>
        <p:txBody>
          <a:bodyPr/>
          <a:p/>
        </p:txBody>
      </p:sp>
      <p:sp>
        <p:nvSpPr>
          <p:cNvPr id="23" name="Shape 20"/>
          <p:cNvSpPr/>
          <p:nvPr/>
        </p:nvSpPr>
        <p:spPr>
          <a:xfrm>
            <a:off x="1328928" y="2898648"/>
            <a:ext cx="292608" cy="292608"/>
          </a:xfrm>
          <a:prstGeom prst="ellipse">
            <a:avLst/>
          </a:prstGeom>
          <a:solidFill>
            <a:srgbClr val="0070C0"/>
          </a:solidFill>
          <a:ln w="12700">
            <a:solidFill>
              <a:srgbClr val="0070C0"/>
            </a:solidFill>
            <a:prstDash val="solid"/>
          </a:ln>
        </p:spPr>
        <p:txBody>
          <a:bodyPr/>
          <a:p/>
        </p:txBody>
      </p:sp>
      <p:sp>
        <p:nvSpPr>
          <p:cNvPr id="24" name="Text 21"/>
          <p:cNvSpPr/>
          <p:nvPr/>
        </p:nvSpPr>
        <p:spPr>
          <a:xfrm>
            <a:off x="1280160" y="2962656"/>
            <a:ext cx="390144" cy="109728"/>
          </a:xfrm>
          <a:prstGeom prst="rect">
            <a:avLst/>
          </a:prstGeom>
          <a:noFill/>
          <a:ln/>
        </p:spPr>
        <p:txBody>
          <a:bodyPr wrap="square"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25" name="Text 22"/>
          <p:cNvSpPr/>
          <p:nvPr/>
        </p:nvSpPr>
        <p:spPr>
          <a:xfrm>
            <a:off x="1828800" y="2852928"/>
            <a:ext cx="1511808" cy="228600"/>
          </a:xfrm>
          <a:prstGeom prst="rect">
            <a:avLst/>
          </a:prstGeom>
          <a:noFill/>
          <a:ln/>
        </p:spPr>
        <p:txBody>
          <a:bodyPr wrap="square" rtlCol="0" anchor="ctr">
            <a:normAutofit/>
          </a:bodyPr>
          <a:lstStyle/>
          <a:p>
            <a:pPr indent="0" marL="0">
              <a:buNone/>
            </a:pPr>
            <a:r>
              <a:rPr lang="en-US" sz="1320" b="1" dirty="0">
                <a:solidFill>
                  <a:srgbClr val="0B1B4F"/>
                </a:solidFill>
                <a:latin typeface="Arial" pitchFamily="34" charset="0"/>
                <a:ea typeface="Arial" pitchFamily="34" charset="-122"/>
                <a:cs typeface="Arial" pitchFamily="34" charset="-120"/>
              </a:rPr>
              <a:t>AQI Việt Nam</a:t>
            </a:r>
            <a:endParaRPr lang="en-US" sz="1320" dirty="0"/>
          </a:p>
        </p:txBody>
      </p:sp>
      <p:sp>
        <p:nvSpPr>
          <p:cNvPr id="26" name="Text 23"/>
          <p:cNvSpPr/>
          <p:nvPr/>
        </p:nvSpPr>
        <p:spPr>
          <a:xfrm>
            <a:off x="3608832" y="2852928"/>
            <a:ext cx="2145792" cy="320040"/>
          </a:xfrm>
          <a:prstGeom prst="rect">
            <a:avLst/>
          </a:prstGeom>
          <a:noFill/>
          <a:ln/>
        </p:spPr>
        <p:txBody>
          <a:bodyPr wrap="square" rtlCol="0" anchor="ctr">
            <a:normAutofit/>
          </a:bodyPr>
          <a:lstStyle/>
          <a:p>
            <a:pPr indent="0" marL="0">
              <a:buNone/>
            </a:pPr>
            <a:r>
              <a:rPr lang="en-US" sz="1080" dirty="0">
                <a:solidFill>
                  <a:srgbClr val="5B6472"/>
                </a:solidFill>
                <a:latin typeface="Arial" pitchFamily="34" charset="0"/>
                <a:ea typeface="Arial" pitchFamily="34" charset="-122"/>
                <a:cs typeface="Arial" pitchFamily="34" charset="-120"/>
              </a:rPr>
              <a:t>Tự tính VN_AQI từ 6 chất theo QĐ 1459</a:t>
            </a:r>
            <a:endParaRPr lang="en-US" sz="1080" dirty="0"/>
          </a:p>
        </p:txBody>
      </p:sp>
      <p:sp>
        <p:nvSpPr>
          <p:cNvPr id="27" name="Shape 24"/>
          <p:cNvSpPr/>
          <p:nvPr/>
        </p:nvSpPr>
        <p:spPr>
          <a:xfrm>
            <a:off x="1475232" y="3227832"/>
            <a:ext cx="1" cy="475488"/>
          </a:xfrm>
          <a:prstGeom prst="line">
            <a:avLst/>
          </a:prstGeom>
          <a:noFill/>
          <a:ln w="13970">
            <a:solidFill>
              <a:srgbClr val="C8EAFE"/>
            </a:solidFill>
            <a:prstDash val="solid"/>
          </a:ln>
        </p:spPr>
        <p:txBody>
          <a:bodyPr/>
          <a:p/>
        </p:txBody>
      </p:sp>
      <p:sp>
        <p:nvSpPr>
          <p:cNvPr id="28" name="Shape 25"/>
          <p:cNvSpPr/>
          <p:nvPr/>
        </p:nvSpPr>
        <p:spPr>
          <a:xfrm>
            <a:off x="1328928" y="3776472"/>
            <a:ext cx="292608" cy="292608"/>
          </a:xfrm>
          <a:prstGeom prst="ellipse">
            <a:avLst/>
          </a:prstGeom>
          <a:solidFill>
            <a:srgbClr val="0070C0"/>
          </a:solidFill>
          <a:ln w="12700">
            <a:solidFill>
              <a:srgbClr val="0070C0"/>
            </a:solidFill>
            <a:prstDash val="solid"/>
          </a:ln>
        </p:spPr>
        <p:txBody>
          <a:bodyPr/>
          <a:p/>
        </p:txBody>
      </p:sp>
      <p:sp>
        <p:nvSpPr>
          <p:cNvPr id="29" name="Text 26"/>
          <p:cNvSpPr/>
          <p:nvPr/>
        </p:nvSpPr>
        <p:spPr>
          <a:xfrm>
            <a:off x="1280160" y="3840480"/>
            <a:ext cx="390144" cy="109728"/>
          </a:xfrm>
          <a:prstGeom prst="rect">
            <a:avLst/>
          </a:prstGeom>
          <a:noFill/>
          <a:ln/>
        </p:spPr>
        <p:txBody>
          <a:bodyPr wrap="square"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30" name="Text 27"/>
          <p:cNvSpPr/>
          <p:nvPr/>
        </p:nvSpPr>
        <p:spPr>
          <a:xfrm>
            <a:off x="1828800" y="3730752"/>
            <a:ext cx="1511808" cy="228600"/>
          </a:xfrm>
          <a:prstGeom prst="rect">
            <a:avLst/>
          </a:prstGeom>
          <a:noFill/>
          <a:ln/>
        </p:spPr>
        <p:txBody>
          <a:bodyPr wrap="square" rtlCol="0" anchor="ctr">
            <a:normAutofit/>
          </a:bodyPr>
          <a:lstStyle/>
          <a:p>
            <a:pPr indent="0" marL="0">
              <a:buNone/>
            </a:pPr>
            <a:r>
              <a:rPr lang="en-US" sz="1320" b="1" dirty="0">
                <a:solidFill>
                  <a:srgbClr val="0B1B4F"/>
                </a:solidFill>
                <a:latin typeface="Arial" pitchFamily="34" charset="0"/>
                <a:ea typeface="Arial" pitchFamily="34" charset="-122"/>
                <a:cs typeface="Arial" pitchFamily="34" charset="-120"/>
              </a:rPr>
              <a:t>Serving layer</a:t>
            </a:r>
            <a:endParaRPr lang="en-US" sz="1320" dirty="0"/>
          </a:p>
        </p:txBody>
      </p:sp>
      <p:sp>
        <p:nvSpPr>
          <p:cNvPr id="31" name="Text 28"/>
          <p:cNvSpPr/>
          <p:nvPr/>
        </p:nvSpPr>
        <p:spPr>
          <a:xfrm>
            <a:off x="3608832" y="3730752"/>
            <a:ext cx="2145792" cy="320040"/>
          </a:xfrm>
          <a:prstGeom prst="rect">
            <a:avLst/>
          </a:prstGeom>
          <a:noFill/>
          <a:ln/>
        </p:spPr>
        <p:txBody>
          <a:bodyPr wrap="square" rtlCol="0" anchor="ctr">
            <a:normAutofit/>
          </a:bodyPr>
          <a:lstStyle/>
          <a:p>
            <a:pPr indent="0" marL="0">
              <a:buNone/>
            </a:pPr>
            <a:r>
              <a:rPr sz="1080">
                <a:solidFill>
                  <a:srgbClr val="5B6472"/>
                </a:solidFill>
                <a:latin typeface="Arial"/>
              </a:rPr>
              <a:t>HBase row key station_id#reverse_ts + FastAPI 7 endpoint</a:t>
            </a:r>
            <a:endParaRPr lang="en-US" sz="1080" dirty="0"/>
          </a:p>
        </p:txBody>
      </p:sp>
      <p:sp>
        <p:nvSpPr>
          <p:cNvPr id="32" name="Shape 29"/>
          <p:cNvSpPr/>
          <p:nvPr/>
        </p:nvSpPr>
        <p:spPr>
          <a:xfrm>
            <a:off x="1475232" y="4105656"/>
            <a:ext cx="1" cy="475488"/>
          </a:xfrm>
          <a:prstGeom prst="line">
            <a:avLst/>
          </a:prstGeom>
          <a:noFill/>
          <a:ln w="13970">
            <a:solidFill>
              <a:srgbClr val="C8EAFE"/>
            </a:solidFill>
            <a:prstDash val="solid"/>
          </a:ln>
        </p:spPr>
        <p:txBody>
          <a:bodyPr/>
          <a:p/>
        </p:txBody>
      </p:sp>
      <p:sp>
        <p:nvSpPr>
          <p:cNvPr id="33" name="Shape 30"/>
          <p:cNvSpPr/>
          <p:nvPr/>
        </p:nvSpPr>
        <p:spPr>
          <a:xfrm>
            <a:off x="1328928" y="4654296"/>
            <a:ext cx="292608" cy="292608"/>
          </a:xfrm>
          <a:prstGeom prst="ellipse">
            <a:avLst/>
          </a:prstGeom>
          <a:solidFill>
            <a:srgbClr val="0070C0"/>
          </a:solidFill>
          <a:ln w="12700">
            <a:solidFill>
              <a:srgbClr val="0070C0"/>
            </a:solidFill>
            <a:prstDash val="solid"/>
          </a:ln>
        </p:spPr>
        <p:txBody>
          <a:bodyPr/>
          <a:p/>
        </p:txBody>
      </p:sp>
      <p:sp>
        <p:nvSpPr>
          <p:cNvPr id="34" name="Text 31"/>
          <p:cNvSpPr/>
          <p:nvPr/>
        </p:nvSpPr>
        <p:spPr>
          <a:xfrm>
            <a:off x="1280160" y="4718304"/>
            <a:ext cx="390144" cy="109728"/>
          </a:xfrm>
          <a:prstGeom prst="rect">
            <a:avLst/>
          </a:prstGeom>
          <a:noFill/>
          <a:ln/>
        </p:spPr>
        <p:txBody>
          <a:bodyPr wrap="square" rtlCol="0" anchor="ctr">
            <a:norm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35" name="Text 32"/>
          <p:cNvSpPr/>
          <p:nvPr/>
        </p:nvSpPr>
        <p:spPr>
          <a:xfrm>
            <a:off x="1828800" y="4608576"/>
            <a:ext cx="1511808" cy="228600"/>
          </a:xfrm>
          <a:prstGeom prst="rect">
            <a:avLst/>
          </a:prstGeom>
          <a:noFill/>
          <a:ln/>
        </p:spPr>
        <p:txBody>
          <a:bodyPr wrap="square" rtlCol="0" anchor="ctr">
            <a:normAutofit/>
          </a:bodyPr>
          <a:lstStyle/>
          <a:p>
            <a:pPr indent="0" marL="0">
              <a:buNone/>
            </a:pPr>
            <a:r>
              <a:rPr lang="en-US" sz="1320" b="1" dirty="0">
                <a:solidFill>
                  <a:srgbClr val="0B1B4F"/>
                </a:solidFill>
                <a:latin typeface="Arial" pitchFamily="34" charset="0"/>
                <a:ea typeface="Arial" pitchFamily="34" charset="-122"/>
                <a:cs typeface="Arial" pitchFamily="34" charset="-120"/>
              </a:rPr>
              <a:t>Dashboard</a:t>
            </a:r>
            <a:endParaRPr lang="en-US" sz="1320" dirty="0"/>
          </a:p>
        </p:txBody>
      </p:sp>
      <p:sp>
        <p:nvSpPr>
          <p:cNvPr id="36" name="Text 33"/>
          <p:cNvSpPr/>
          <p:nvPr/>
        </p:nvSpPr>
        <p:spPr>
          <a:xfrm>
            <a:off x="3608832" y="4608576"/>
            <a:ext cx="2145792" cy="320040"/>
          </a:xfrm>
          <a:prstGeom prst="rect">
            <a:avLst/>
          </a:prstGeom>
          <a:noFill/>
          <a:ln/>
        </p:spPr>
        <p:txBody>
          <a:bodyPr wrap="square" rtlCol="0" anchor="ctr">
            <a:normAutofit/>
          </a:bodyPr>
          <a:lstStyle/>
          <a:p>
            <a:pPr indent="0" marL="0">
              <a:buNone/>
            </a:pPr>
            <a:r>
              <a:rPr sz="1080">
                <a:solidFill>
                  <a:srgbClr val="5B6472"/>
                </a:solidFill>
                <a:latin typeface="Arial"/>
              </a:rPr>
              <a:t>Grafana 8 panels: bản đồ, ranking, chuỗi thời gian, ML output</a:t>
            </a:r>
            <a:endParaRPr lang="en-US" sz="1080" dirty="0"/>
          </a:p>
        </p:txBody>
      </p:sp>
      <p:sp>
        <p:nvSpPr>
          <p:cNvPr id="37" name="Shape 34"/>
          <p:cNvSpPr/>
          <p:nvPr/>
        </p:nvSpPr>
        <p:spPr>
          <a:xfrm>
            <a:off x="6559296" y="1792224"/>
            <a:ext cx="4815840" cy="2331720"/>
          </a:xfrm>
          <a:prstGeom prst="rect">
            <a:avLst/>
          </a:prstGeom>
          <a:solidFill>
            <a:srgbClr val="FFFFFF"/>
          </a:solidFill>
          <a:ln w="15240">
            <a:solidFill>
              <a:srgbClr val="0070C0"/>
            </a:solidFill>
            <a:prstDash val="solid"/>
          </a:ln>
        </p:spPr>
        <p:txBody>
          <a:bodyPr/>
          <a:p/>
        </p:txBody>
      </p:sp>
      <p:pic>
        <p:nvPicPr>
          <p:cNvPr id="38" name="Image 1" descr="/mnt/data/b7b2e04d-f16b-4d00-8922-ce0f3a077995.png">    </p:cNvPr>
          <p:cNvPicPr>
            <a:picLocks noChangeAspect="1"/>
          </p:cNvPicPr>
          <p:nvPr/>
        </p:nvPicPr>
        <p:blipFill>
          <a:blip r:embed="rId2"/>
          <a:srcRect l="6000" r="6000" t="0" b="0"/>
          <a:stretch/>
        </p:blipFill>
        <p:spPr>
          <a:xfrm>
            <a:off x="7225284" y="1856232"/>
            <a:ext cx="3483864" cy="2203704"/>
          </a:xfrm>
          <a:prstGeom prst="rect">
            <a:avLst/>
          </a:prstGeom>
        </p:spPr>
      </p:pic>
      <p:sp>
        <p:nvSpPr>
          <p:cNvPr id="39" name="Text 35"/>
          <p:cNvSpPr/>
          <p:nvPr/>
        </p:nvSpPr>
        <p:spPr>
          <a:xfrm>
            <a:off x="6608064" y="4206240"/>
            <a:ext cx="4693920" cy="201168"/>
          </a:xfrm>
          <a:prstGeom prst="rect">
            <a:avLst/>
          </a:prstGeom>
          <a:noFill/>
          <a:ln/>
        </p:spPr>
        <p:txBody>
          <a:bodyPr wrap="square" rtlCol="0" anchor="ctr">
            <a:normAutofit/>
          </a:bodyPr>
          <a:lstStyle/>
          <a:p>
            <a:pPr algn="ctr" indent="0" marL="0">
              <a:buNone/>
            </a:pPr>
            <a:r>
              <a:rPr lang="en-US" sz="1020" i="1" dirty="0">
                <a:solidFill>
                  <a:srgbClr val="5B6472"/>
                </a:solidFill>
                <a:latin typeface="Arial" pitchFamily="34" charset="0"/>
                <a:ea typeface="Arial" pitchFamily="34" charset="-122"/>
                <a:cs typeface="Arial" pitchFamily="34" charset="-120"/>
              </a:rPr>
              <a:t>Dashboard final trên dữ liệu thật</a:t>
            </a:r>
            <a:endParaRPr lang="en-US" sz="1020" dirty="0"/>
          </a:p>
        </p:txBody>
      </p:sp>
      <p:sp>
        <p:nvSpPr>
          <p:cNvPr id="40" name="Shape 36"/>
          <p:cNvSpPr/>
          <p:nvPr/>
        </p:nvSpPr>
        <p:spPr>
          <a:xfrm>
            <a:off x="6766560" y="4718304"/>
            <a:ext cx="2377440" cy="402336"/>
          </a:xfrm>
          <a:prstGeom prst="roundRect">
            <a:avLst>
              <a:gd name="adj" fmla="val 18182"/>
            </a:avLst>
          </a:prstGeom>
          <a:solidFill>
            <a:srgbClr val="E8F6FF"/>
          </a:solidFill>
          <a:ln w="12700">
            <a:solidFill>
              <a:srgbClr val="00AEEF">
                <a:alpha val="60000"/>
              </a:srgbClr>
            </a:solidFill>
            <a:prstDash val="solid"/>
          </a:ln>
        </p:spPr>
        <p:txBody>
          <a:bodyPr/>
          <a:p/>
        </p:txBody>
      </p:sp>
      <p:sp>
        <p:nvSpPr>
          <p:cNvPr id="41" name="Text 37"/>
          <p:cNvSpPr/>
          <p:nvPr/>
        </p:nvSpPr>
        <p:spPr>
          <a:xfrm>
            <a:off x="6864096" y="4809744"/>
            <a:ext cx="2182368" cy="164592"/>
          </a:xfrm>
          <a:prstGeom prst="rect">
            <a:avLst/>
          </a:prstGeom>
          <a:noFill/>
          <a:ln/>
        </p:spPr>
        <p:txBody>
          <a:bodyPr wrap="square" rtlCol="0" anchor="ctr">
            <a:normAutofit/>
          </a:bodyPr>
          <a:lstStyle/>
          <a:p>
            <a:pPr algn="ctr" indent="0" marL="0">
              <a:buNone/>
            </a:pPr>
            <a:r>
              <a:rPr lang="en-US" sz="1100" b="1" dirty="0">
                <a:solidFill>
                  <a:srgbClr val="0B1B4F"/>
                </a:solidFill>
                <a:latin typeface="Arial" pitchFamily="34" charset="0"/>
                <a:ea typeface="Arial" pitchFamily="34" charset="-122"/>
                <a:cs typeface="Arial" pitchFamily="34" charset="-120"/>
              </a:rPr>
              <a:t>KMeans: silhouette 0,3547</a:t>
            </a:r>
            <a:endParaRPr lang="en-US" sz="1100" dirty="0"/>
          </a:p>
        </p:txBody>
      </p:sp>
      <p:sp>
        <p:nvSpPr>
          <p:cNvPr id="42" name="Shape 38"/>
          <p:cNvSpPr/>
          <p:nvPr/>
        </p:nvSpPr>
        <p:spPr>
          <a:xfrm>
            <a:off x="9363456" y="4718304"/>
            <a:ext cx="2133600" cy="402336"/>
          </a:xfrm>
          <a:prstGeom prst="roundRect">
            <a:avLst>
              <a:gd name="adj" fmla="val 18182"/>
            </a:avLst>
          </a:prstGeom>
          <a:solidFill>
            <a:srgbClr val="FFF7E6"/>
          </a:solidFill>
          <a:ln w="12700">
            <a:solidFill>
              <a:srgbClr val="00AEEF">
                <a:alpha val="60000"/>
              </a:srgbClr>
            </a:solidFill>
            <a:prstDash val="solid"/>
          </a:ln>
        </p:spPr>
        <p:txBody>
          <a:bodyPr/>
          <a:p/>
        </p:txBody>
      </p:sp>
      <p:sp>
        <p:nvSpPr>
          <p:cNvPr id="43" name="Text 39"/>
          <p:cNvSpPr/>
          <p:nvPr/>
        </p:nvSpPr>
        <p:spPr>
          <a:xfrm>
            <a:off x="9460992" y="4809744"/>
            <a:ext cx="1938528" cy="164592"/>
          </a:xfrm>
          <a:prstGeom prst="rect">
            <a:avLst/>
          </a:prstGeom>
          <a:noFill/>
          <a:ln/>
        </p:spPr>
        <p:txBody>
          <a:bodyPr wrap="square" rtlCol="0" anchor="ctr">
            <a:normAutofit/>
          </a:bodyPr>
          <a:lstStyle/>
          <a:p>
            <a:pPr algn="ctr" indent="0" marL="0">
              <a:buNone/>
            </a:pPr>
            <a:r>
              <a:rPr lang="en-US" sz="1100" b="1" dirty="0">
                <a:solidFill>
                  <a:srgbClr val="0B1B4F"/>
                </a:solidFill>
                <a:latin typeface="Arial" pitchFamily="34" charset="0"/>
                <a:ea typeface="Arial" pitchFamily="34" charset="-122"/>
                <a:cs typeface="Arial" pitchFamily="34" charset="-120"/>
              </a:rPr>
              <a:t>RF: RMSE 20,10 | R² 0,7297</a:t>
            </a:r>
            <a:endParaRPr lang="en-US" sz="1100" dirty="0"/>
          </a:p>
        </p:txBody>
      </p:sp>
      <p:sp>
        <p:nvSpPr>
          <p:cNvPr id="44" name="Shape 40"/>
          <p:cNvSpPr/>
          <p:nvPr/>
        </p:nvSpPr>
        <p:spPr>
          <a:xfrm>
            <a:off x="6766560" y="5321808"/>
            <a:ext cx="4632960" cy="457200"/>
          </a:xfrm>
          <a:prstGeom prst="rect">
            <a:avLst/>
          </a:prstGeom>
          <a:solidFill>
            <a:srgbClr val="FFFFFF"/>
          </a:solidFill>
          <a:ln w="12700">
            <a:solidFill>
              <a:srgbClr val="D7ECFF"/>
            </a:solidFill>
            <a:prstDash val="solid"/>
          </a:ln>
        </p:spPr>
        <p:txBody>
          <a:bodyPr/>
          <a:p/>
        </p:txBody>
      </p:sp>
      <p:sp>
        <p:nvSpPr>
          <p:cNvPr id="45" name="Text 41"/>
          <p:cNvSpPr/>
          <p:nvPr/>
        </p:nvSpPr>
        <p:spPr>
          <a:xfrm>
            <a:off x="6973824" y="5431536"/>
            <a:ext cx="4218432" cy="164592"/>
          </a:xfrm>
          <a:prstGeom prst="rect">
            <a:avLst/>
          </a:prstGeom>
          <a:noFill/>
          <a:ln/>
        </p:spPr>
        <p:txBody>
          <a:bodyPr wrap="square" rtlCol="0" anchor="ctr">
            <a:normAutofit/>
          </a:bodyPr>
          <a:lstStyle/>
          <a:p>
            <a:pPr algn="ctr" indent="0" marL="0">
              <a:buNone/>
            </a:pPr>
            <a:r>
              <a:rPr lang="en-US" sz="980" b="1" dirty="0">
                <a:solidFill>
                  <a:srgbClr val="0B1B4F"/>
                </a:solidFill>
                <a:latin typeface="Arial" pitchFamily="34" charset="0"/>
                <a:ea typeface="Arial" pitchFamily="34" charset="-122"/>
                <a:cs typeface="Arial" pitchFamily="34" charset="-120"/>
              </a:rPr>
              <a:t>Tư duy chính: tách xử lý nặng khỏi tầng hiển thị, để dashboard chỉ tiêu thụ kết quả đã được serving.</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1" cy="1"/>
          <a:chOff x="0" y="0"/>
          <a:chExt cx="1" cy="1"/>
        </a:xfrm>
      </p:grpSpPr>
      <p:sp>
        <p:nvSpPr>
          <p:cNvPr id="2" name="Shape 0"/>
          <p:cNvSpPr/>
          <p:nvPr/>
        </p:nvSpPr>
        <p:spPr>
          <a:xfrm>
            <a:off x="0" y="0"/>
            <a:ext cx="1" cy="1463040"/>
          </a:xfrm>
          <a:prstGeom prst="line">
            <a:avLst/>
          </a:prstGeom>
          <a:noFill/>
          <a:ln w="31750">
            <a:solidFill>
              <a:srgbClr val="00AEEF"/>
            </a:solidFill>
            <a:prstDash val="solid"/>
          </a:ln>
        </p:spPr>
        <p:txBody>
          <a:bodyPr/>
          <a:p/>
        </p:txBody>
      </p:sp>
      <p:sp>
        <p:nvSpPr>
          <p:cNvPr id="3" name="Shape 1"/>
          <p:cNvSpPr/>
          <p:nvPr/>
        </p:nvSpPr>
        <p:spPr>
          <a:xfrm>
            <a:off x="0" y="0"/>
            <a:ext cx="1920240" cy="1"/>
          </a:xfrm>
          <a:prstGeom prst="line">
            <a:avLst/>
          </a:prstGeom>
          <a:noFill/>
          <a:ln w="31750">
            <a:solidFill>
              <a:srgbClr val="00AEEF"/>
            </a:solidFill>
            <a:prstDash val="solid"/>
          </a:ln>
        </p:spPr>
        <p:txBody>
          <a:bodyPr/>
          <a:p/>
        </p:txBody>
      </p:sp>
      <p:sp>
        <p:nvSpPr>
          <p:cNvPr id="4" name="Shape 2"/>
          <p:cNvSpPr/>
          <p:nvPr/>
        </p:nvSpPr>
        <p:spPr>
          <a:xfrm>
            <a:off x="0" y="0"/>
            <a:ext cx="347472" cy="384048"/>
          </a:xfrm>
          <a:prstGeom prst="line">
            <a:avLst/>
          </a:prstGeom>
          <a:noFill/>
          <a:ln w="31750">
            <a:solidFill>
              <a:srgbClr val="00AEEF"/>
            </a:solidFill>
            <a:prstDash val="solid"/>
          </a:ln>
        </p:spPr>
        <p:txBody>
          <a:bodyPr/>
          <a:p/>
        </p:txBody>
      </p:sp>
      <p:sp>
        <p:nvSpPr>
          <p:cNvPr id="5" name="Shape 3"/>
          <p:cNvSpPr/>
          <p:nvPr/>
        </p:nvSpPr>
        <p:spPr>
          <a:xfrm flipH="1">
            <a:off x="10271760" y="6858000"/>
            <a:ext cx="1920240" cy="1"/>
          </a:xfrm>
          <a:prstGeom prst="line">
            <a:avLst/>
          </a:prstGeom>
          <a:noFill/>
          <a:ln w="31750">
            <a:solidFill>
              <a:srgbClr val="00AEEF"/>
            </a:solidFill>
            <a:prstDash val="solid"/>
          </a:ln>
        </p:spPr>
        <p:txBody>
          <a:bodyPr/>
          <a:p/>
        </p:txBody>
      </p:sp>
      <p:sp>
        <p:nvSpPr>
          <p:cNvPr id="6" name="Shape 4"/>
          <p:cNvSpPr/>
          <p:nvPr/>
        </p:nvSpPr>
        <p:spPr>
          <a:xfrm flipV="1">
            <a:off x="12191999" y="5715000"/>
            <a:ext cx="1" cy="1143000"/>
          </a:xfrm>
          <a:prstGeom prst="line">
            <a:avLst/>
          </a:prstGeom>
          <a:noFill/>
          <a:ln w="31750">
            <a:solidFill>
              <a:srgbClr val="00AEEF"/>
            </a:solidFill>
            <a:prstDash val="solid"/>
          </a:ln>
        </p:spPr>
        <p:txBody>
          <a:bodyPr/>
          <a:p/>
        </p:txBody>
      </p:sp>
      <p:sp>
        <p:nvSpPr>
          <p:cNvPr id="7" name="Shape 5"/>
          <p:cNvSpPr/>
          <p:nvPr/>
        </p:nvSpPr>
        <p:spPr>
          <a:xfrm flipH="1" flipV="1">
            <a:off x="11844528" y="6473952"/>
            <a:ext cx="347472" cy="384048"/>
          </a:xfrm>
          <a:prstGeom prst="line">
            <a:avLst/>
          </a:prstGeom>
          <a:noFill/>
          <a:ln w="31750">
            <a:solidFill>
              <a:srgbClr val="00AEEF"/>
            </a:solidFill>
            <a:prstDash val="solid"/>
          </a:ln>
        </p:spPr>
        <p:txBody>
          <a:bodyPr/>
          <a:p/>
        </p:txBody>
      </p:sp>
      <p:sp>
        <p:nvSpPr>
          <p:cNvPr id="8" name="Shape 6"/>
          <p:cNvSpPr/>
          <p:nvPr/>
        </p:nvSpPr>
        <p:spPr>
          <a:xfrm>
            <a:off x="0" y="4736592"/>
            <a:ext cx="320040" cy="384048"/>
          </a:xfrm>
          <a:prstGeom prst="rect">
            <a:avLst/>
          </a:prstGeom>
          <a:solidFill>
            <a:srgbClr val="0070C0"/>
          </a:solidFill>
          <a:ln w="12700">
            <a:solidFill>
              <a:srgbClr val="FFFFFF">
                <a:alpha val="75000"/>
              </a:srgbClr>
            </a:solidFill>
            <a:prstDash val="solid"/>
          </a:ln>
        </p:spPr>
        <p:txBody>
          <a:bodyPr/>
          <a:p/>
        </p:txBody>
      </p:sp>
      <p:sp>
        <p:nvSpPr>
          <p:cNvPr id="9" name="Shape 7"/>
          <p:cNvSpPr/>
          <p:nvPr/>
        </p:nvSpPr>
        <p:spPr>
          <a:xfrm>
            <a:off x="0" y="5193792"/>
            <a:ext cx="320040" cy="384048"/>
          </a:xfrm>
          <a:prstGeom prst="rect">
            <a:avLst/>
          </a:prstGeom>
          <a:solidFill>
            <a:srgbClr val="00AEEF"/>
          </a:solidFill>
          <a:ln w="12700">
            <a:solidFill>
              <a:srgbClr val="FFFFFF">
                <a:alpha val="75000"/>
              </a:srgbClr>
            </a:solidFill>
            <a:prstDash val="solid"/>
          </a:ln>
        </p:spPr>
        <p:txBody>
          <a:bodyPr/>
          <a:p/>
        </p:txBody>
      </p:sp>
      <p:sp>
        <p:nvSpPr>
          <p:cNvPr id="10" name="Shape 8"/>
          <p:cNvSpPr/>
          <p:nvPr/>
        </p:nvSpPr>
        <p:spPr>
          <a:xfrm>
            <a:off x="0" y="5650992"/>
            <a:ext cx="320040" cy="384048"/>
          </a:xfrm>
          <a:prstGeom prst="rect">
            <a:avLst/>
          </a:prstGeom>
          <a:solidFill>
            <a:srgbClr val="0070C0"/>
          </a:solidFill>
          <a:ln w="12700">
            <a:solidFill>
              <a:srgbClr val="FFFFFF">
                <a:alpha val="75000"/>
              </a:srgbClr>
            </a:solidFill>
            <a:prstDash val="solid"/>
          </a:ln>
        </p:spPr>
        <p:txBody>
          <a:bodyPr/>
          <a:p/>
        </p:txBody>
      </p:sp>
      <p:sp>
        <p:nvSpPr>
          <p:cNvPr id="11" name="Shape 9"/>
          <p:cNvSpPr/>
          <p:nvPr/>
        </p:nvSpPr>
        <p:spPr>
          <a:xfrm>
            <a:off x="0" y="6108192"/>
            <a:ext cx="320040" cy="384048"/>
          </a:xfrm>
          <a:prstGeom prst="rect">
            <a:avLst/>
          </a:prstGeom>
          <a:solidFill>
            <a:srgbClr val="00AEEF"/>
          </a:solidFill>
          <a:ln w="12700">
            <a:solidFill>
              <a:srgbClr val="FFFFFF">
                <a:alpha val="75000"/>
              </a:srgbClr>
            </a:solidFill>
            <a:prstDash val="solid"/>
          </a:ln>
        </p:spPr>
        <p:txBody>
          <a:bodyPr/>
          <a:p/>
        </p:txBody>
      </p:sp>
      <p:pic>
        <p:nvPicPr>
          <p:cNvPr id="12" name="Image 0" descr="/mnt/data/template_assets/image1.png">    </p:cNvPr>
          <p:cNvPicPr>
            <a:picLocks noChangeAspect="1"/>
          </p:cNvPicPr>
          <p:nvPr/>
        </p:nvPicPr>
        <p:blipFill>
          <a:blip r:embed="rId1"/>
          <a:stretch>
            <a:fillRect/>
          </a:stretch>
        </p:blipFill>
        <p:spPr>
          <a:xfrm>
            <a:off x="11844528" y="146304"/>
            <a:ext cx="347472" cy="292608"/>
          </a:xfrm>
          <a:prstGeom prst="rect">
            <a:avLst/>
          </a:prstGeom>
        </p:spPr>
      </p:pic>
      <p:sp>
        <p:nvSpPr>
          <p:cNvPr id="13" name="Text 10"/>
          <p:cNvSpPr/>
          <p:nvPr/>
        </p:nvSpPr>
        <p:spPr>
          <a:xfrm>
            <a:off x="877824" y="6565392"/>
            <a:ext cx="5608320" cy="164592"/>
          </a:xfrm>
          <a:prstGeom prst="rect">
            <a:avLst/>
          </a:prstGeom>
          <a:noFill/>
          <a:ln/>
        </p:spPr>
        <p:txBody>
          <a:bodyPr wrap="square" rtlCol="0" anchor="ctr"/>
          <a:lstStyle/>
          <a:p>
            <a:pPr indent="0" marL="0">
              <a:buNone/>
            </a:pPr>
            <a:r>
              <a:rPr lang="en-US" sz="750" dirty="0">
                <a:solidFill>
                  <a:srgbClr val="777777"/>
                </a:solidFill>
                <a:latin typeface="Arial" pitchFamily="34" charset="0"/>
                <a:ea typeface="Arial" pitchFamily="34" charset="-122"/>
                <a:cs typeface="Arial" pitchFamily="34" charset="-120"/>
              </a:rPr>
              <a:t>Trường Đại học Công nghệ Thông tin, ĐHQG-HCM</a:t>
            </a:r>
            <a:endParaRPr lang="en-US" sz="750" dirty="0"/>
          </a:p>
        </p:txBody>
      </p:sp>
      <p:sp>
        <p:nvSpPr>
          <p:cNvPr id="14" name="Text 11"/>
          <p:cNvSpPr/>
          <p:nvPr/>
        </p:nvSpPr>
        <p:spPr>
          <a:xfrm>
            <a:off x="11990832" y="6446520"/>
            <a:ext cx="201168" cy="146304"/>
          </a:xfrm>
          <a:prstGeom prst="rect">
            <a:avLst/>
          </a:prstGeom>
          <a:noFill/>
          <a:ln/>
        </p:spPr>
        <p:txBody>
          <a:bodyPr wrap="square" lIns="127" tIns="127" rIns="127" bIns="127" rtlCol="0" anchor="ctr">
            <a:normAutofit/>
          </a:bodyPr>
          <a:lstStyle/>
          <a:p>
            <a:pPr algn="ctr" indent="0" marL="0">
              <a:buNone/>
            </a:pPr>
            <a:r>
              <a:rPr lang="en-US" sz="650" dirty="0">
                <a:solidFill>
                  <a:srgbClr val="777777"/>
                </a:solidFill>
                <a:latin typeface="Arial" pitchFamily="34" charset="0"/>
                <a:ea typeface="Arial" pitchFamily="34" charset="-122"/>
                <a:cs typeface="Arial" pitchFamily="34" charset="-120"/>
              </a:rPr>
              <a:t>3</a:t>
            </a:r>
            <a:endParaRPr lang="en-US" sz="650" dirty="0"/>
          </a:p>
        </p:txBody>
      </p:sp>
      <p:sp>
        <p:nvSpPr>
          <p:cNvPr id="15" name="Text 12"/>
          <p:cNvSpPr/>
          <p:nvPr/>
        </p:nvSpPr>
        <p:spPr>
          <a:xfrm>
            <a:off x="877824" y="694944"/>
            <a:ext cx="10119360" cy="566928"/>
          </a:xfrm>
          <a:prstGeom prst="rect">
            <a:avLst/>
          </a:prstGeom>
          <a:noFill/>
          <a:ln/>
        </p:spPr>
        <p:txBody>
          <a:bodyPr wrap="square" rtlCol="0" anchor="ctr">
            <a:normAutofit/>
          </a:bodyPr>
          <a:lstStyle/>
          <a:p>
            <a:pPr indent="0" marL="0">
              <a:buNone/>
            </a:pPr>
            <a:r>
              <a:rPr lang="en-US" sz="2700" b="1" dirty="0">
                <a:solidFill>
                  <a:srgbClr val="0070C0"/>
                </a:solidFill>
                <a:latin typeface="Arial" pitchFamily="34" charset="0"/>
                <a:ea typeface="Arial" pitchFamily="34" charset="-122"/>
                <a:cs typeface="Arial" pitchFamily="34" charset="-120"/>
              </a:rPr>
              <a:t>HẠN CHẾ HIỆN TẠI</a:t>
            </a:r>
            <a:endParaRPr lang="en-US" sz="2700" dirty="0"/>
          </a:p>
        </p:txBody>
      </p:sp>
      <p:sp>
        <p:nvSpPr>
          <p:cNvPr id="16" name="Text 13"/>
          <p:cNvSpPr/>
          <p:nvPr/>
        </p:nvSpPr>
        <p:spPr>
          <a:xfrm>
            <a:off x="902208" y="1389888"/>
            <a:ext cx="10241280" cy="310896"/>
          </a:xfrm>
          <a:prstGeom prst="rect">
            <a:avLst/>
          </a:prstGeom>
          <a:noFill/>
          <a:ln/>
        </p:spPr>
        <p:txBody>
          <a:bodyPr wrap="square" rtlCol="0" anchor="ctr">
            <a:normAutofit/>
          </a:bodyPr>
          <a:lstStyle/>
          <a:p>
            <a:pPr indent="0" marL="0">
              <a:buNone/>
            </a:pPr>
            <a:r>
              <a:rPr lang="en-US" sz="1300" i="1" dirty="0">
                <a:solidFill>
                  <a:srgbClr val="1F2A44"/>
                </a:solidFill>
                <a:latin typeface="Arial" pitchFamily="34" charset="0"/>
                <a:ea typeface="Arial" pitchFamily="34" charset="-122"/>
                <a:cs typeface="Arial" pitchFamily="34" charset="-120"/>
              </a:rPr>
              <a:t>Các điểm cần nói rõ để tránh hiểu quá mức kết quả thực nghiệm</a:t>
            </a:r>
            <a:endParaRPr lang="en-US" sz="1300" dirty="0"/>
          </a:p>
        </p:txBody>
      </p:sp>
      <p:sp>
        <p:nvSpPr>
          <p:cNvPr id="17" name="Shape 14"/>
          <p:cNvSpPr/>
          <p:nvPr/>
        </p:nvSpPr>
        <p:spPr>
          <a:xfrm>
            <a:off x="1072896" y="1810512"/>
            <a:ext cx="10216896" cy="548640"/>
          </a:xfrm>
          <a:prstGeom prst="rect">
            <a:avLst/>
          </a:prstGeom>
          <a:solidFill>
            <a:srgbClr val="FFF7E6"/>
          </a:solidFill>
          <a:ln w="13970">
            <a:solidFill>
              <a:srgbClr val="F59E0B"/>
            </a:solidFill>
            <a:prstDash val="solid"/>
          </a:ln>
        </p:spPr>
        <p:txBody>
          <a:bodyPr/>
          <a:p/>
        </p:txBody>
      </p:sp>
      <p:sp>
        <p:nvSpPr>
          <p:cNvPr id="18" name="Text 15"/>
          <p:cNvSpPr/>
          <p:nvPr/>
        </p:nvSpPr>
        <p:spPr>
          <a:xfrm>
            <a:off x="1280160" y="1993392"/>
            <a:ext cx="9814560" cy="164592"/>
          </a:xfrm>
          <a:prstGeom prst="rect">
            <a:avLst/>
          </a:prstGeom>
          <a:noFill/>
          <a:ln/>
        </p:spPr>
        <p:txBody>
          <a:bodyPr wrap="square" rtlCol="0" anchor="ctr">
            <a:normAutofit/>
          </a:bodyPr>
          <a:lstStyle/>
          <a:p>
            <a:pPr algn="ctr" indent="0" marL="0">
              <a:buNone/>
            </a:pPr>
            <a:r>
              <a:rPr lang="en-US" sz="1250" b="1" dirty="0">
                <a:solidFill>
                  <a:srgbClr val="0B1B4F"/>
                </a:solidFill>
                <a:latin typeface="Arial" pitchFamily="34" charset="0"/>
                <a:ea typeface="Arial" pitchFamily="34" charset="-122"/>
                <a:cs typeface="Arial" pitchFamily="34" charset="-120"/>
              </a:rPr>
              <a:t>Kết quả đã chứng minh được kiến trúc và xu hướng mở rộng, nhưng chưa phải cấu hình production multi-node.</a:t>
            </a:r>
            <a:endParaRPr lang="en-US" sz="1250" dirty="0"/>
          </a:p>
        </p:txBody>
      </p:sp>
      <p:sp>
        <p:nvSpPr>
          <p:cNvPr id="19" name="Shape 16"/>
          <p:cNvSpPr/>
          <p:nvPr/>
        </p:nvSpPr>
        <p:spPr>
          <a:xfrm>
            <a:off x="1280160" y="2788920"/>
            <a:ext cx="4693920" cy="1234440"/>
          </a:xfrm>
          <a:prstGeom prst="roundRect">
            <a:avLst>
              <a:gd name="adj" fmla="val 7407"/>
            </a:avLst>
          </a:prstGeom>
          <a:solidFill>
            <a:srgbClr val="FFFFFF"/>
          </a:solidFill>
          <a:ln w="14605">
            <a:solidFill>
              <a:srgbClr val="D14343"/>
            </a:solidFill>
            <a:prstDash val="solid"/>
          </a:ln>
        </p:spPr>
        <p:txBody>
          <a:bodyPr/>
          <a:p/>
        </p:txBody>
      </p:sp>
      <p:sp>
        <p:nvSpPr>
          <p:cNvPr id="20" name="Shape 17"/>
          <p:cNvSpPr/>
          <p:nvPr/>
        </p:nvSpPr>
        <p:spPr>
          <a:xfrm>
            <a:off x="1280160" y="2788920"/>
            <a:ext cx="146304" cy="1234440"/>
          </a:xfrm>
          <a:prstGeom prst="rect">
            <a:avLst/>
          </a:prstGeom>
          <a:solidFill>
            <a:srgbClr val="D14343"/>
          </a:solidFill>
          <a:ln w="12700">
            <a:solidFill>
              <a:srgbClr val="D14343"/>
            </a:solidFill>
            <a:prstDash val="solid"/>
          </a:ln>
        </p:spPr>
        <p:txBody>
          <a:bodyPr/>
          <a:p/>
        </p:txBody>
      </p:sp>
      <p:sp>
        <p:nvSpPr>
          <p:cNvPr id="21" name="Text 18"/>
          <p:cNvSpPr/>
          <p:nvPr/>
        </p:nvSpPr>
        <p:spPr>
          <a:xfrm>
            <a:off x="1621536" y="2953512"/>
            <a:ext cx="3962400" cy="256032"/>
          </a:xfrm>
          <a:prstGeom prst="rect">
            <a:avLst/>
          </a:prstGeom>
          <a:noFill/>
          <a:ln/>
        </p:spPr>
        <p:txBody>
          <a:bodyPr wrap="square" rtlCol="0" anchor="ctr">
            <a:normAutofit/>
          </a:bodyPr>
          <a:lstStyle/>
          <a:p>
            <a:pPr indent="0" marL="0">
              <a:buNone/>
            </a:pPr>
            <a:r>
              <a:rPr lang="en-US" sz="1500" b="1" dirty="0">
                <a:solidFill>
                  <a:srgbClr val="0B1B4F"/>
                </a:solidFill>
                <a:latin typeface="Arial" pitchFamily="34" charset="0"/>
                <a:ea typeface="Arial" pitchFamily="34" charset="-122"/>
                <a:cs typeface="Arial" pitchFamily="34" charset="-120"/>
              </a:rPr>
              <a:t>Hạ tầng</a:t>
            </a:r>
            <a:endParaRPr lang="en-US" sz="1500" dirty="0"/>
          </a:p>
        </p:txBody>
      </p:sp>
      <p:sp>
        <p:nvSpPr>
          <p:cNvPr id="22" name="Text 19"/>
          <p:cNvSpPr/>
          <p:nvPr/>
        </p:nvSpPr>
        <p:spPr>
          <a:xfrm>
            <a:off x="1621536" y="3319272"/>
            <a:ext cx="4047744" cy="438912"/>
          </a:xfrm>
          <a:prstGeom prst="rect">
            <a:avLst/>
          </a:prstGeom>
          <a:noFill/>
          <a:ln/>
        </p:spPr>
        <p:txBody>
          <a:bodyPr wrap="square" rtlCol="0" anchor="ctr">
            <a:normAutofit/>
          </a:bodyPr>
          <a:lstStyle/>
          <a:p>
            <a:pPr indent="0" marL="0">
              <a:buNone/>
            </a:pPr>
            <a:r>
              <a:rPr lang="en-US" sz="1140" dirty="0">
                <a:solidFill>
                  <a:srgbClr val="5B6472"/>
                </a:solidFill>
                <a:latin typeface="Arial" pitchFamily="34" charset="0"/>
                <a:ea typeface="Arial" pitchFamily="34" charset="-122"/>
                <a:cs typeface="Arial" pitchFamily="34" charset="-120"/>
              </a:rPr>
              <a:t>Một máy vật lý: 1 DataNode, 1 RegionServer; executor chạy trong Docker containers.</a:t>
            </a:r>
            <a:endParaRPr lang="en-US" sz="1140" dirty="0"/>
          </a:p>
        </p:txBody>
      </p:sp>
      <p:sp>
        <p:nvSpPr>
          <p:cNvPr id="23" name="Shape 20"/>
          <p:cNvSpPr/>
          <p:nvPr/>
        </p:nvSpPr>
        <p:spPr>
          <a:xfrm>
            <a:off x="6461760" y="2788920"/>
            <a:ext cx="4693920" cy="1234440"/>
          </a:xfrm>
          <a:prstGeom prst="roundRect">
            <a:avLst>
              <a:gd name="adj" fmla="val 7407"/>
            </a:avLst>
          </a:prstGeom>
          <a:solidFill>
            <a:srgbClr val="FFFFFF"/>
          </a:solidFill>
          <a:ln w="14605">
            <a:solidFill>
              <a:srgbClr val="F59E0B"/>
            </a:solidFill>
            <a:prstDash val="solid"/>
          </a:ln>
        </p:spPr>
        <p:txBody>
          <a:bodyPr/>
          <a:p/>
        </p:txBody>
      </p:sp>
      <p:sp>
        <p:nvSpPr>
          <p:cNvPr id="24" name="Shape 21"/>
          <p:cNvSpPr/>
          <p:nvPr/>
        </p:nvSpPr>
        <p:spPr>
          <a:xfrm>
            <a:off x="6461760" y="2788920"/>
            <a:ext cx="146304" cy="1234440"/>
          </a:xfrm>
          <a:prstGeom prst="rect">
            <a:avLst/>
          </a:prstGeom>
          <a:solidFill>
            <a:srgbClr val="F59E0B"/>
          </a:solidFill>
          <a:ln w="12700">
            <a:solidFill>
              <a:srgbClr val="F59E0B"/>
            </a:solidFill>
            <a:prstDash val="solid"/>
          </a:ln>
        </p:spPr>
        <p:txBody>
          <a:bodyPr/>
          <a:p/>
        </p:txBody>
      </p:sp>
      <p:sp>
        <p:nvSpPr>
          <p:cNvPr id="25" name="Text 22"/>
          <p:cNvSpPr/>
          <p:nvPr/>
        </p:nvSpPr>
        <p:spPr>
          <a:xfrm>
            <a:off x="6803136" y="2953512"/>
            <a:ext cx="3962400" cy="256032"/>
          </a:xfrm>
          <a:prstGeom prst="rect">
            <a:avLst/>
          </a:prstGeom>
          <a:noFill/>
          <a:ln/>
        </p:spPr>
        <p:txBody>
          <a:bodyPr wrap="square" rtlCol="0" anchor="ctr">
            <a:normAutofit/>
          </a:bodyPr>
          <a:lstStyle/>
          <a:p>
            <a:pPr indent="0" marL="0">
              <a:buNone/>
            </a:pPr>
            <a:r>
              <a:rPr lang="en-US" sz="1500" b="1" dirty="0">
                <a:solidFill>
                  <a:srgbClr val="0B1B4F"/>
                </a:solidFill>
                <a:latin typeface="Arial" pitchFamily="34" charset="0"/>
                <a:ea typeface="Arial" pitchFamily="34" charset="-122"/>
                <a:cs typeface="Arial" pitchFamily="34" charset="-120"/>
              </a:rPr>
              <a:t>Benchmark</a:t>
            </a:r>
            <a:endParaRPr lang="en-US" sz="1500" dirty="0"/>
          </a:p>
        </p:txBody>
      </p:sp>
      <p:sp>
        <p:nvSpPr>
          <p:cNvPr id="26" name="Text 23"/>
          <p:cNvSpPr/>
          <p:nvPr/>
        </p:nvSpPr>
        <p:spPr>
          <a:xfrm>
            <a:off x="6803136" y="3319272"/>
            <a:ext cx="4047744" cy="438912"/>
          </a:xfrm>
          <a:prstGeom prst="rect">
            <a:avLst/>
          </a:prstGeom>
          <a:noFill/>
          <a:ln/>
        </p:spPr>
        <p:txBody>
          <a:bodyPr wrap="square" rtlCol="0" anchor="ctr">
            <a:normAutofit/>
          </a:bodyPr>
          <a:lstStyle/>
          <a:p>
            <a:pPr indent="0" marL="0">
              <a:buNone/>
            </a:pPr>
            <a:r>
              <a:rPr lang="en-US" sz="1140" dirty="0">
                <a:solidFill>
                  <a:srgbClr val="5B6472"/>
                </a:solidFill>
                <a:latin typeface="Arial" pitchFamily="34" charset="0"/>
                <a:ea typeface="Arial" pitchFamily="34" charset="-122"/>
                <a:cs typeface="Arial" pitchFamily="34" charset="-120"/>
              </a:rPr>
              <a:t>Synthetic workload cùng logic AQI Pha 2; mỗi cấu hình mới đo một lần.</a:t>
            </a:r>
            <a:endParaRPr lang="en-US" sz="1140" dirty="0"/>
          </a:p>
        </p:txBody>
      </p:sp>
      <p:sp>
        <p:nvSpPr>
          <p:cNvPr id="27" name="Shape 24"/>
          <p:cNvSpPr/>
          <p:nvPr/>
        </p:nvSpPr>
        <p:spPr>
          <a:xfrm>
            <a:off x="1280160" y="4526280"/>
            <a:ext cx="4693920" cy="1234440"/>
          </a:xfrm>
          <a:prstGeom prst="roundRect">
            <a:avLst>
              <a:gd name="adj" fmla="val 7407"/>
            </a:avLst>
          </a:prstGeom>
          <a:solidFill>
            <a:srgbClr val="FFFFFF"/>
          </a:solidFill>
          <a:ln w="14605">
            <a:solidFill>
              <a:srgbClr val="0070C0"/>
            </a:solidFill>
            <a:prstDash val="solid"/>
          </a:ln>
        </p:spPr>
        <p:txBody>
          <a:bodyPr/>
          <a:p/>
        </p:txBody>
      </p:sp>
      <p:sp>
        <p:nvSpPr>
          <p:cNvPr id="28" name="Shape 25"/>
          <p:cNvSpPr/>
          <p:nvPr/>
        </p:nvSpPr>
        <p:spPr>
          <a:xfrm>
            <a:off x="1280160" y="4526280"/>
            <a:ext cx="146304" cy="1234440"/>
          </a:xfrm>
          <a:prstGeom prst="rect">
            <a:avLst/>
          </a:prstGeom>
          <a:solidFill>
            <a:srgbClr val="0070C0"/>
          </a:solidFill>
          <a:ln w="12700">
            <a:solidFill>
              <a:srgbClr val="0070C0"/>
            </a:solidFill>
            <a:prstDash val="solid"/>
          </a:ln>
        </p:spPr>
        <p:txBody>
          <a:bodyPr/>
          <a:p/>
        </p:txBody>
      </p:sp>
      <p:sp>
        <p:nvSpPr>
          <p:cNvPr id="29" name="Text 26"/>
          <p:cNvSpPr/>
          <p:nvPr/>
        </p:nvSpPr>
        <p:spPr>
          <a:xfrm>
            <a:off x="1621536" y="4690872"/>
            <a:ext cx="3962400" cy="256032"/>
          </a:xfrm>
          <a:prstGeom prst="rect">
            <a:avLst/>
          </a:prstGeom>
          <a:noFill/>
          <a:ln/>
        </p:spPr>
        <p:txBody>
          <a:bodyPr wrap="square" rtlCol="0" anchor="ctr">
            <a:normAutofit/>
          </a:bodyPr>
          <a:lstStyle/>
          <a:p>
            <a:pPr indent="0" marL="0">
              <a:buNone/>
            </a:pPr>
            <a:r>
              <a:rPr lang="en-US" sz="1500" b="1" dirty="0">
                <a:solidFill>
                  <a:srgbClr val="0B1B4F"/>
                </a:solidFill>
                <a:latin typeface="Arial" pitchFamily="34" charset="0"/>
                <a:ea typeface="Arial" pitchFamily="34" charset="-122"/>
                <a:cs typeface="Arial" pitchFamily="34" charset="-120"/>
              </a:rPr>
              <a:t>Forecast</a:t>
            </a:r>
            <a:endParaRPr lang="en-US" sz="1500" dirty="0"/>
          </a:p>
        </p:txBody>
      </p:sp>
      <p:sp>
        <p:nvSpPr>
          <p:cNvPr id="30" name="Text 27"/>
          <p:cNvSpPr/>
          <p:nvPr/>
        </p:nvSpPr>
        <p:spPr>
          <a:xfrm>
            <a:off x="1621536" y="5056632"/>
            <a:ext cx="4047744" cy="438912"/>
          </a:xfrm>
          <a:prstGeom prst="rect">
            <a:avLst/>
          </a:prstGeom>
          <a:noFill/>
          <a:ln/>
        </p:spPr>
        <p:txBody>
          <a:bodyPr wrap="square" rtlCol="0" anchor="ctr">
            <a:normAutofit/>
          </a:bodyPr>
          <a:lstStyle/>
          <a:p>
            <a:pPr indent="0" marL="0">
              <a:buNone/>
            </a:pPr>
            <a:r>
              <a:rPr lang="en-US" sz="1140" dirty="0">
                <a:solidFill>
                  <a:srgbClr val="5B6472"/>
                </a:solidFill>
                <a:latin typeface="Arial" pitchFamily="34" charset="0"/>
                <a:ea typeface="Arial" pitchFamily="34" charset="-122"/>
                <a:cs typeface="Arial" pitchFamily="34" charset="-120"/>
              </a:rPr>
              <a:t>RF thắng theo RMSE/R², nhưng thiếu persistence baseline; CNN-LSTM có n_test nhỏ hơn.</a:t>
            </a:r>
            <a:endParaRPr lang="en-US" sz="1140" dirty="0"/>
          </a:p>
        </p:txBody>
      </p:sp>
      <p:sp>
        <p:nvSpPr>
          <p:cNvPr id="31" name="Shape 28"/>
          <p:cNvSpPr/>
          <p:nvPr/>
        </p:nvSpPr>
        <p:spPr>
          <a:xfrm>
            <a:off x="6461760" y="4526280"/>
            <a:ext cx="4693920" cy="1234440"/>
          </a:xfrm>
          <a:prstGeom prst="roundRect">
            <a:avLst>
              <a:gd name="adj" fmla="val 7407"/>
            </a:avLst>
          </a:prstGeom>
          <a:solidFill>
            <a:srgbClr val="FFFFFF"/>
          </a:solidFill>
          <a:ln w="14605">
            <a:solidFill>
              <a:srgbClr val="1B8A5A"/>
            </a:solidFill>
            <a:prstDash val="solid"/>
          </a:ln>
        </p:spPr>
        <p:txBody>
          <a:bodyPr/>
          <a:p/>
        </p:txBody>
      </p:sp>
      <p:sp>
        <p:nvSpPr>
          <p:cNvPr id="32" name="Shape 29"/>
          <p:cNvSpPr/>
          <p:nvPr/>
        </p:nvSpPr>
        <p:spPr>
          <a:xfrm>
            <a:off x="6461760" y="4526280"/>
            <a:ext cx="146304" cy="1234440"/>
          </a:xfrm>
          <a:prstGeom prst="rect">
            <a:avLst/>
          </a:prstGeom>
          <a:solidFill>
            <a:srgbClr val="1B8A5A"/>
          </a:solidFill>
          <a:ln w="12700">
            <a:solidFill>
              <a:srgbClr val="1B8A5A"/>
            </a:solidFill>
            <a:prstDash val="solid"/>
          </a:ln>
        </p:spPr>
        <p:txBody>
          <a:bodyPr/>
          <a:p/>
        </p:txBody>
      </p:sp>
      <p:sp>
        <p:nvSpPr>
          <p:cNvPr id="33" name="Text 30"/>
          <p:cNvSpPr/>
          <p:nvPr/>
        </p:nvSpPr>
        <p:spPr>
          <a:xfrm>
            <a:off x="6803136" y="4690872"/>
            <a:ext cx="3962400" cy="256032"/>
          </a:xfrm>
          <a:prstGeom prst="rect">
            <a:avLst/>
          </a:prstGeom>
          <a:noFill/>
          <a:ln/>
        </p:spPr>
        <p:txBody>
          <a:bodyPr wrap="square" rtlCol="0" anchor="ctr">
            <a:normAutofit/>
          </a:bodyPr>
          <a:lstStyle/>
          <a:p>
            <a:pPr indent="0" marL="0">
              <a:buNone/>
            </a:pPr>
            <a:r>
              <a:rPr lang="en-US" sz="1500" b="1" dirty="0">
                <a:solidFill>
                  <a:srgbClr val="0B1B4F"/>
                </a:solidFill>
                <a:latin typeface="Arial" pitchFamily="34" charset="0"/>
                <a:ea typeface="Arial" pitchFamily="34" charset="-122"/>
                <a:cs typeface="Arial" pitchFamily="34" charset="-120"/>
              </a:rPr>
              <a:t>Clustering &amp; vận hành</a:t>
            </a:r>
            <a:endParaRPr lang="en-US" sz="1500" dirty="0"/>
          </a:p>
        </p:txBody>
      </p:sp>
      <p:sp>
        <p:nvSpPr>
          <p:cNvPr id="34" name="Text 31"/>
          <p:cNvSpPr/>
          <p:nvPr/>
        </p:nvSpPr>
        <p:spPr>
          <a:xfrm>
            <a:off x="6803136" y="5056632"/>
            <a:ext cx="4047744" cy="438912"/>
          </a:xfrm>
          <a:prstGeom prst="rect">
            <a:avLst/>
          </a:prstGeom>
          <a:noFill/>
          <a:ln/>
        </p:spPr>
        <p:txBody>
          <a:bodyPr wrap="square" rtlCol="0" anchor="ctr">
            <a:normAutofit/>
          </a:bodyPr>
          <a:lstStyle/>
          <a:p>
            <a:pPr indent="0" marL="0">
              <a:buNone/>
            </a:pPr>
            <a:r>
              <a:rPr lang="en-US" sz="1140" dirty="0">
                <a:solidFill>
                  <a:srgbClr val="5B6472"/>
                </a:solidFill>
                <a:latin typeface="Arial" pitchFamily="34" charset="0"/>
                <a:ea typeface="Arial" pitchFamily="34" charset="-122"/>
                <a:cs typeface="Arial" pitchFamily="34" charset="-120"/>
              </a:rPr>
              <a:t>Silhouette 0,3547 còn yếu; HBase 1.2.6 cũ và phải tắt Snappy.</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1" cy="1"/>
          <a:chOff x="0" y="0"/>
          <a:chExt cx="1" cy="1"/>
        </a:xfrm>
      </p:grpSpPr>
      <p:sp>
        <p:nvSpPr>
          <p:cNvPr id="2" name="Shape 0"/>
          <p:cNvSpPr/>
          <p:nvPr/>
        </p:nvSpPr>
        <p:spPr>
          <a:xfrm>
            <a:off x="0" y="0"/>
            <a:ext cx="1" cy="1463040"/>
          </a:xfrm>
          <a:prstGeom prst="line">
            <a:avLst/>
          </a:prstGeom>
          <a:noFill/>
          <a:ln w="31750">
            <a:solidFill>
              <a:srgbClr val="00AEEF"/>
            </a:solidFill>
            <a:prstDash val="solid"/>
          </a:ln>
        </p:spPr>
        <p:txBody>
          <a:bodyPr/>
          <a:p/>
        </p:txBody>
      </p:sp>
      <p:sp>
        <p:nvSpPr>
          <p:cNvPr id="3" name="Shape 1"/>
          <p:cNvSpPr/>
          <p:nvPr/>
        </p:nvSpPr>
        <p:spPr>
          <a:xfrm>
            <a:off x="0" y="0"/>
            <a:ext cx="1920240" cy="1"/>
          </a:xfrm>
          <a:prstGeom prst="line">
            <a:avLst/>
          </a:prstGeom>
          <a:noFill/>
          <a:ln w="31750">
            <a:solidFill>
              <a:srgbClr val="00AEEF"/>
            </a:solidFill>
            <a:prstDash val="solid"/>
          </a:ln>
        </p:spPr>
        <p:txBody>
          <a:bodyPr/>
          <a:p/>
        </p:txBody>
      </p:sp>
      <p:sp>
        <p:nvSpPr>
          <p:cNvPr id="4" name="Shape 2"/>
          <p:cNvSpPr/>
          <p:nvPr/>
        </p:nvSpPr>
        <p:spPr>
          <a:xfrm>
            <a:off x="0" y="0"/>
            <a:ext cx="347472" cy="384048"/>
          </a:xfrm>
          <a:prstGeom prst="line">
            <a:avLst/>
          </a:prstGeom>
          <a:noFill/>
          <a:ln w="31750">
            <a:solidFill>
              <a:srgbClr val="00AEEF"/>
            </a:solidFill>
            <a:prstDash val="solid"/>
          </a:ln>
        </p:spPr>
        <p:txBody>
          <a:bodyPr/>
          <a:p/>
        </p:txBody>
      </p:sp>
      <p:sp>
        <p:nvSpPr>
          <p:cNvPr id="5" name="Shape 3"/>
          <p:cNvSpPr/>
          <p:nvPr/>
        </p:nvSpPr>
        <p:spPr>
          <a:xfrm flipH="1">
            <a:off x="10271760" y="6858000"/>
            <a:ext cx="1920240" cy="1"/>
          </a:xfrm>
          <a:prstGeom prst="line">
            <a:avLst/>
          </a:prstGeom>
          <a:noFill/>
          <a:ln w="31750">
            <a:solidFill>
              <a:srgbClr val="00AEEF"/>
            </a:solidFill>
            <a:prstDash val="solid"/>
          </a:ln>
        </p:spPr>
        <p:txBody>
          <a:bodyPr/>
          <a:p/>
        </p:txBody>
      </p:sp>
      <p:sp>
        <p:nvSpPr>
          <p:cNvPr id="6" name="Shape 4"/>
          <p:cNvSpPr/>
          <p:nvPr/>
        </p:nvSpPr>
        <p:spPr>
          <a:xfrm flipV="1">
            <a:off x="12191999" y="5715000"/>
            <a:ext cx="1" cy="1143000"/>
          </a:xfrm>
          <a:prstGeom prst="line">
            <a:avLst/>
          </a:prstGeom>
          <a:noFill/>
          <a:ln w="31750">
            <a:solidFill>
              <a:srgbClr val="00AEEF"/>
            </a:solidFill>
            <a:prstDash val="solid"/>
          </a:ln>
        </p:spPr>
        <p:txBody>
          <a:bodyPr/>
          <a:p/>
        </p:txBody>
      </p:sp>
      <p:sp>
        <p:nvSpPr>
          <p:cNvPr id="7" name="Shape 5"/>
          <p:cNvSpPr/>
          <p:nvPr/>
        </p:nvSpPr>
        <p:spPr>
          <a:xfrm flipH="1" flipV="1">
            <a:off x="11844528" y="6473952"/>
            <a:ext cx="347472" cy="384048"/>
          </a:xfrm>
          <a:prstGeom prst="line">
            <a:avLst/>
          </a:prstGeom>
          <a:noFill/>
          <a:ln w="31750">
            <a:solidFill>
              <a:srgbClr val="00AEEF"/>
            </a:solidFill>
            <a:prstDash val="solid"/>
          </a:ln>
        </p:spPr>
        <p:txBody>
          <a:bodyPr/>
          <a:p/>
        </p:txBody>
      </p:sp>
      <p:sp>
        <p:nvSpPr>
          <p:cNvPr id="8" name="Shape 6"/>
          <p:cNvSpPr/>
          <p:nvPr/>
        </p:nvSpPr>
        <p:spPr>
          <a:xfrm>
            <a:off x="0" y="4736592"/>
            <a:ext cx="320040" cy="384048"/>
          </a:xfrm>
          <a:prstGeom prst="rect">
            <a:avLst/>
          </a:prstGeom>
          <a:solidFill>
            <a:srgbClr val="0070C0"/>
          </a:solidFill>
          <a:ln w="12700">
            <a:solidFill>
              <a:srgbClr val="FFFFFF">
                <a:alpha val="75000"/>
              </a:srgbClr>
            </a:solidFill>
            <a:prstDash val="solid"/>
          </a:ln>
        </p:spPr>
        <p:txBody>
          <a:bodyPr/>
          <a:p/>
        </p:txBody>
      </p:sp>
      <p:sp>
        <p:nvSpPr>
          <p:cNvPr id="9" name="Shape 7"/>
          <p:cNvSpPr/>
          <p:nvPr/>
        </p:nvSpPr>
        <p:spPr>
          <a:xfrm>
            <a:off x="0" y="5193792"/>
            <a:ext cx="320040" cy="384048"/>
          </a:xfrm>
          <a:prstGeom prst="rect">
            <a:avLst/>
          </a:prstGeom>
          <a:solidFill>
            <a:srgbClr val="00AEEF"/>
          </a:solidFill>
          <a:ln w="12700">
            <a:solidFill>
              <a:srgbClr val="FFFFFF">
                <a:alpha val="75000"/>
              </a:srgbClr>
            </a:solidFill>
            <a:prstDash val="solid"/>
          </a:ln>
        </p:spPr>
        <p:txBody>
          <a:bodyPr/>
          <a:p/>
        </p:txBody>
      </p:sp>
      <p:sp>
        <p:nvSpPr>
          <p:cNvPr id="10" name="Shape 8"/>
          <p:cNvSpPr/>
          <p:nvPr/>
        </p:nvSpPr>
        <p:spPr>
          <a:xfrm>
            <a:off x="0" y="5650992"/>
            <a:ext cx="320040" cy="384048"/>
          </a:xfrm>
          <a:prstGeom prst="rect">
            <a:avLst/>
          </a:prstGeom>
          <a:solidFill>
            <a:srgbClr val="0070C0"/>
          </a:solidFill>
          <a:ln w="12700">
            <a:solidFill>
              <a:srgbClr val="FFFFFF">
                <a:alpha val="75000"/>
              </a:srgbClr>
            </a:solidFill>
            <a:prstDash val="solid"/>
          </a:ln>
        </p:spPr>
        <p:txBody>
          <a:bodyPr/>
          <a:p/>
        </p:txBody>
      </p:sp>
      <p:sp>
        <p:nvSpPr>
          <p:cNvPr id="11" name="Shape 9"/>
          <p:cNvSpPr/>
          <p:nvPr/>
        </p:nvSpPr>
        <p:spPr>
          <a:xfrm>
            <a:off x="0" y="6108192"/>
            <a:ext cx="320040" cy="384048"/>
          </a:xfrm>
          <a:prstGeom prst="rect">
            <a:avLst/>
          </a:prstGeom>
          <a:solidFill>
            <a:srgbClr val="00AEEF"/>
          </a:solidFill>
          <a:ln w="12700">
            <a:solidFill>
              <a:srgbClr val="FFFFFF">
                <a:alpha val="75000"/>
              </a:srgbClr>
            </a:solidFill>
            <a:prstDash val="solid"/>
          </a:ln>
        </p:spPr>
        <p:txBody>
          <a:bodyPr/>
          <a:p/>
        </p:txBody>
      </p:sp>
      <p:pic>
        <p:nvPicPr>
          <p:cNvPr id="12" name="Image 0" descr="/mnt/data/template_assets/image1.png">    </p:cNvPr>
          <p:cNvPicPr>
            <a:picLocks noChangeAspect="1"/>
          </p:cNvPicPr>
          <p:nvPr/>
        </p:nvPicPr>
        <p:blipFill>
          <a:blip r:embed="rId1"/>
          <a:stretch>
            <a:fillRect/>
          </a:stretch>
        </p:blipFill>
        <p:spPr>
          <a:xfrm>
            <a:off x="11844528" y="146304"/>
            <a:ext cx="347472" cy="292608"/>
          </a:xfrm>
          <a:prstGeom prst="rect">
            <a:avLst/>
          </a:prstGeom>
        </p:spPr>
      </p:pic>
      <p:sp>
        <p:nvSpPr>
          <p:cNvPr id="13" name="Text 10"/>
          <p:cNvSpPr/>
          <p:nvPr/>
        </p:nvSpPr>
        <p:spPr>
          <a:xfrm>
            <a:off x="877824" y="6565392"/>
            <a:ext cx="5608320" cy="164592"/>
          </a:xfrm>
          <a:prstGeom prst="rect">
            <a:avLst/>
          </a:prstGeom>
          <a:noFill/>
          <a:ln/>
        </p:spPr>
        <p:txBody>
          <a:bodyPr wrap="square" rtlCol="0" anchor="ctr"/>
          <a:lstStyle/>
          <a:p>
            <a:pPr indent="0" marL="0">
              <a:buNone/>
            </a:pPr>
            <a:r>
              <a:rPr lang="en-US" sz="750" dirty="0">
                <a:solidFill>
                  <a:srgbClr val="777777"/>
                </a:solidFill>
                <a:latin typeface="Arial" pitchFamily="34" charset="0"/>
                <a:ea typeface="Arial" pitchFamily="34" charset="-122"/>
                <a:cs typeface="Arial" pitchFamily="34" charset="-120"/>
              </a:rPr>
              <a:t>Trường Đại học Công nghệ Thông tin, ĐHQG-HCM</a:t>
            </a:r>
            <a:endParaRPr lang="en-US" sz="750" dirty="0"/>
          </a:p>
        </p:txBody>
      </p:sp>
      <p:sp>
        <p:nvSpPr>
          <p:cNvPr id="14" name="Text 11"/>
          <p:cNvSpPr/>
          <p:nvPr/>
        </p:nvSpPr>
        <p:spPr>
          <a:xfrm>
            <a:off x="11990832" y="6446520"/>
            <a:ext cx="201168" cy="146304"/>
          </a:xfrm>
          <a:prstGeom prst="rect">
            <a:avLst/>
          </a:prstGeom>
          <a:noFill/>
          <a:ln/>
        </p:spPr>
        <p:txBody>
          <a:bodyPr wrap="square" lIns="127" tIns="127" rIns="127" bIns="127" rtlCol="0" anchor="ctr">
            <a:normAutofit/>
          </a:bodyPr>
          <a:lstStyle/>
          <a:p>
            <a:pPr algn="ctr" indent="0" marL="0">
              <a:buNone/>
            </a:pPr>
            <a:r>
              <a:rPr lang="en-US" sz="650" dirty="0">
                <a:solidFill>
                  <a:srgbClr val="777777"/>
                </a:solidFill>
                <a:latin typeface="Arial" pitchFamily="34" charset="0"/>
                <a:ea typeface="Arial" pitchFamily="34" charset="-122"/>
                <a:cs typeface="Arial" pitchFamily="34" charset="-120"/>
              </a:rPr>
              <a:t>4</a:t>
            </a:r>
            <a:endParaRPr lang="en-US" sz="650" dirty="0"/>
          </a:p>
        </p:txBody>
      </p:sp>
      <p:sp>
        <p:nvSpPr>
          <p:cNvPr id="15" name="Text 12"/>
          <p:cNvSpPr/>
          <p:nvPr/>
        </p:nvSpPr>
        <p:spPr>
          <a:xfrm>
            <a:off x="877824" y="694944"/>
            <a:ext cx="10119360" cy="566928"/>
          </a:xfrm>
          <a:prstGeom prst="rect">
            <a:avLst/>
          </a:prstGeom>
          <a:noFill/>
          <a:ln/>
        </p:spPr>
        <p:txBody>
          <a:bodyPr wrap="square" rtlCol="0" anchor="ctr">
            <a:normAutofit/>
          </a:bodyPr>
          <a:lstStyle/>
          <a:p>
            <a:pPr indent="0" marL="0">
              <a:buNone/>
            </a:pPr>
            <a:r>
              <a:rPr lang="en-US" sz="2700" b="1" dirty="0">
                <a:solidFill>
                  <a:srgbClr val="0070C0"/>
                </a:solidFill>
                <a:latin typeface="Arial" pitchFamily="34" charset="0"/>
                <a:ea typeface="Arial" pitchFamily="34" charset="-122"/>
                <a:cs typeface="Arial" pitchFamily="34" charset="-120"/>
              </a:rPr>
              <a:t>HƯỚNG PHÁT TRIỂN</a:t>
            </a:r>
            <a:endParaRPr lang="en-US" sz="2700" dirty="0"/>
          </a:p>
        </p:txBody>
      </p:sp>
      <p:sp>
        <p:nvSpPr>
          <p:cNvPr id="16" name="Text 13"/>
          <p:cNvSpPr/>
          <p:nvPr/>
        </p:nvSpPr>
        <p:spPr>
          <a:xfrm>
            <a:off x="902208" y="1389888"/>
            <a:ext cx="10241280" cy="310896"/>
          </a:xfrm>
          <a:prstGeom prst="rect">
            <a:avLst/>
          </a:prstGeom>
          <a:noFill/>
          <a:ln/>
        </p:spPr>
        <p:txBody>
          <a:bodyPr wrap="square" rtlCol="0" anchor="ctr">
            <a:normAutofit/>
          </a:bodyPr>
          <a:lstStyle/>
          <a:p>
            <a:pPr indent="0" marL="0">
              <a:buNone/>
            </a:pPr>
            <a:r>
              <a:rPr sz="1300" i="1">
                <a:solidFill>
                  <a:srgbClr val="1F2A44"/>
                </a:solidFill>
                <a:latin typeface="Arial"/>
              </a:rPr>
              <a:t>Ưu tiên phát triển từ bản minh họa học thuật đến hệ thống vận hành ổn định</a:t>
            </a:r>
            <a:endParaRPr lang="en-US" sz="1300" dirty="0"/>
          </a:p>
        </p:txBody>
      </p:sp>
      <p:sp>
        <p:nvSpPr>
          <p:cNvPr id="17" name="Shape 14"/>
          <p:cNvSpPr/>
          <p:nvPr/>
        </p:nvSpPr>
        <p:spPr>
          <a:xfrm>
            <a:off x="1121664" y="1965960"/>
            <a:ext cx="3108960" cy="2788920"/>
          </a:xfrm>
          <a:prstGeom prst="roundRect">
            <a:avLst>
              <a:gd name="adj" fmla="val 4706"/>
            </a:avLst>
          </a:prstGeom>
          <a:solidFill>
            <a:srgbClr val="F4FAFF"/>
          </a:solidFill>
          <a:ln w="15240">
            <a:solidFill>
              <a:srgbClr val="0070C0"/>
            </a:solidFill>
            <a:prstDash val="solid"/>
          </a:ln>
        </p:spPr>
        <p:txBody>
          <a:bodyPr/>
          <a:p/>
        </p:txBody>
      </p:sp>
      <p:sp>
        <p:nvSpPr>
          <p:cNvPr id="18" name="Shape 15"/>
          <p:cNvSpPr/>
          <p:nvPr/>
        </p:nvSpPr>
        <p:spPr>
          <a:xfrm>
            <a:off x="2316480" y="2157984"/>
            <a:ext cx="731520" cy="731520"/>
          </a:xfrm>
          <a:prstGeom prst="ellipse">
            <a:avLst/>
          </a:prstGeom>
          <a:solidFill>
            <a:srgbClr val="0070C0"/>
          </a:solidFill>
          <a:ln w="12700">
            <a:solidFill>
              <a:srgbClr val="0070C0"/>
            </a:solidFill>
            <a:prstDash val="solid"/>
          </a:ln>
        </p:spPr>
        <p:txBody>
          <a:bodyPr/>
          <a:p/>
        </p:txBody>
      </p:sp>
      <p:sp>
        <p:nvSpPr>
          <p:cNvPr id="19" name="Text 16"/>
          <p:cNvSpPr/>
          <p:nvPr/>
        </p:nvSpPr>
        <p:spPr>
          <a:xfrm>
            <a:off x="2194560" y="2340864"/>
            <a:ext cx="975360" cy="256032"/>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20" name="Text 17"/>
          <p:cNvSpPr/>
          <p:nvPr/>
        </p:nvSpPr>
        <p:spPr>
          <a:xfrm>
            <a:off x="1341120" y="3090672"/>
            <a:ext cx="2682240" cy="274320"/>
          </a:xfrm>
          <a:prstGeom prst="rect">
            <a:avLst/>
          </a:prstGeom>
          <a:noFill/>
          <a:ln/>
        </p:spPr>
        <p:txBody>
          <a:bodyPr wrap="square" rtlCol="0" anchor="ctr">
            <a:normAutofit/>
          </a:bodyPr>
          <a:lstStyle/>
          <a:p>
            <a:pPr algn="ctr" indent="0" marL="0">
              <a:buNone/>
            </a:pPr>
            <a:r>
              <a:rPr lang="en-US" sz="1500" b="1" dirty="0">
                <a:solidFill>
                  <a:srgbClr val="0B1B4F"/>
                </a:solidFill>
                <a:latin typeface="Arial" pitchFamily="34" charset="0"/>
                <a:ea typeface="Arial" pitchFamily="34" charset="-122"/>
                <a:cs typeface="Arial" pitchFamily="34" charset="-120"/>
              </a:rPr>
              <a:t>Scale-out hạ tầng</a:t>
            </a:r>
            <a:endParaRPr lang="en-US" sz="1500" dirty="0"/>
          </a:p>
        </p:txBody>
      </p:sp>
      <p:sp>
        <p:nvSpPr>
          <p:cNvPr id="21" name="Text 18"/>
          <p:cNvSpPr/>
          <p:nvPr/>
        </p:nvSpPr>
        <p:spPr>
          <a:xfrm>
            <a:off x="1389888" y="3593592"/>
            <a:ext cx="2560320" cy="822960"/>
          </a:xfrm>
          <a:prstGeom prst="rect">
            <a:avLst/>
          </a:prstGeom>
          <a:noFill/>
          <a:ln/>
        </p:spPr>
        <p:txBody>
          <a:bodyPr wrap="square" rtlCol="0" anchor="ctr">
            <a:normAutofit/>
          </a:bodyPr>
          <a:lstStyle/>
          <a:p>
            <a:pPr algn="ctr" indent="0" marL="0">
              <a:buNone/>
            </a:pPr>
            <a:r>
              <a:rPr lang="en-US" sz="1090" dirty="0">
                <a:solidFill>
                  <a:srgbClr val="5B6472"/>
                </a:solidFill>
                <a:latin typeface="Arial" pitchFamily="34" charset="0"/>
                <a:ea typeface="Arial" pitchFamily="34" charset="-122"/>
                <a:cs typeface="Arial" pitchFamily="34" charset="-120"/>
              </a:rPr>
              <a:t>Triển khai nhiều node thật</a:t>
            </a:r>
            <a:endParaRPr lang="en-US" sz="1090" dirty="0"/>
          </a:p>
          <a:p>
            <a:pPr algn="ctr" indent="0" marL="0">
              <a:buNone/>
            </a:pPr>
            <a:r>
              <a:rPr lang="en-US" sz="1090" dirty="0">
                <a:solidFill>
                  <a:srgbClr val="5B6472"/>
                </a:solidFill>
                <a:latin typeface="Arial" pitchFamily="34" charset="0"/>
                <a:ea typeface="Arial" pitchFamily="34" charset="-122"/>
                <a:cs typeface="Arial" pitchFamily="34" charset="-120"/>
              </a:rPr>
              <a:t>Replication ≥ 3</a:t>
            </a:r>
            <a:endParaRPr lang="en-US" sz="1090" dirty="0"/>
          </a:p>
          <a:p>
            <a:pPr algn="ctr" indent="0" marL="0">
              <a:buNone/>
            </a:pPr>
            <a:r>
              <a:rPr lang="en-US" sz="1090" dirty="0">
                <a:solidFill>
                  <a:srgbClr val="5B6472"/>
                </a:solidFill>
                <a:latin typeface="Arial" pitchFamily="34" charset="0"/>
                <a:ea typeface="Arial" pitchFamily="34" charset="-122"/>
                <a:cs typeface="Arial" pitchFamily="34" charset="-120"/>
              </a:rPr>
              <a:t>Kiểm thử chịu lỗi</a:t>
            </a:r>
            <a:endParaRPr lang="en-US" sz="1090" dirty="0"/>
          </a:p>
        </p:txBody>
      </p:sp>
      <p:sp>
        <p:nvSpPr>
          <p:cNvPr id="22" name="Shape 19"/>
          <p:cNvSpPr/>
          <p:nvPr/>
        </p:nvSpPr>
        <p:spPr>
          <a:xfrm>
            <a:off x="4815840" y="1965960"/>
            <a:ext cx="3108960" cy="2788920"/>
          </a:xfrm>
          <a:prstGeom prst="roundRect">
            <a:avLst>
              <a:gd name="adj" fmla="val 4706"/>
            </a:avLst>
          </a:prstGeom>
          <a:solidFill>
            <a:srgbClr val="F8FCFF"/>
          </a:solidFill>
          <a:ln w="15240">
            <a:solidFill>
              <a:srgbClr val="0070C0"/>
            </a:solidFill>
            <a:prstDash val="solid"/>
          </a:ln>
        </p:spPr>
        <p:txBody>
          <a:bodyPr/>
          <a:p/>
        </p:txBody>
      </p:sp>
      <p:sp>
        <p:nvSpPr>
          <p:cNvPr id="23" name="Shape 20"/>
          <p:cNvSpPr/>
          <p:nvPr/>
        </p:nvSpPr>
        <p:spPr>
          <a:xfrm>
            <a:off x="6010656" y="2157984"/>
            <a:ext cx="731520" cy="731520"/>
          </a:xfrm>
          <a:prstGeom prst="ellipse">
            <a:avLst/>
          </a:prstGeom>
          <a:solidFill>
            <a:srgbClr val="0070C0"/>
          </a:solidFill>
          <a:ln w="12700">
            <a:solidFill>
              <a:srgbClr val="0070C0"/>
            </a:solidFill>
            <a:prstDash val="solid"/>
          </a:ln>
        </p:spPr>
        <p:txBody>
          <a:bodyPr/>
          <a:p/>
        </p:txBody>
      </p:sp>
      <p:sp>
        <p:nvSpPr>
          <p:cNvPr id="24" name="Text 21"/>
          <p:cNvSpPr/>
          <p:nvPr/>
        </p:nvSpPr>
        <p:spPr>
          <a:xfrm>
            <a:off x="5888736" y="2340864"/>
            <a:ext cx="975360" cy="256032"/>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25" name="Text 22"/>
          <p:cNvSpPr/>
          <p:nvPr/>
        </p:nvSpPr>
        <p:spPr>
          <a:xfrm>
            <a:off x="5035296" y="3090672"/>
            <a:ext cx="2682240" cy="274320"/>
          </a:xfrm>
          <a:prstGeom prst="rect">
            <a:avLst/>
          </a:prstGeom>
          <a:noFill/>
          <a:ln/>
        </p:spPr>
        <p:txBody>
          <a:bodyPr wrap="square" rtlCol="0" anchor="ctr">
            <a:normAutofit/>
          </a:bodyPr>
          <a:lstStyle/>
          <a:p>
            <a:pPr algn="ctr" indent="0" marL="0">
              <a:buNone/>
            </a:pPr>
            <a:r>
              <a:rPr lang="en-US" sz="1500" b="1" dirty="0">
                <a:solidFill>
                  <a:srgbClr val="0B1B4F"/>
                </a:solidFill>
                <a:latin typeface="Arial" pitchFamily="34" charset="0"/>
                <a:ea typeface="Arial" pitchFamily="34" charset="-122"/>
                <a:cs typeface="Arial" pitchFamily="34" charset="-120"/>
              </a:rPr>
              <a:t>Tối ưu xử lý</a:t>
            </a:r>
            <a:endParaRPr lang="en-US" sz="1500" dirty="0"/>
          </a:p>
        </p:txBody>
      </p:sp>
      <p:sp>
        <p:nvSpPr>
          <p:cNvPr id="26" name="Text 23"/>
          <p:cNvSpPr/>
          <p:nvPr/>
        </p:nvSpPr>
        <p:spPr>
          <a:xfrm>
            <a:off x="5084064" y="3593592"/>
            <a:ext cx="2560320" cy="822960"/>
          </a:xfrm>
          <a:prstGeom prst="rect">
            <a:avLst/>
          </a:prstGeom>
          <a:noFill/>
          <a:ln/>
        </p:spPr>
        <p:txBody>
          <a:bodyPr wrap="square" rtlCol="0" anchor="ctr">
            <a:normAutofit/>
          </a:bodyPr>
          <a:lstStyle/>
          <a:p>
            <a:pPr algn="ctr" indent="0" marL="0">
              <a:buNone/>
            </a:pPr>
            <a:r>
              <a:rPr sz="1090">
                <a:solidFill>
                  <a:srgbClr val="5B6472"/>
                </a:solidFill>
                <a:latin typeface="Arial"/>
              </a:rPr>
              <a:t>Thay Python UDF bằng pandas_udf</a:t>
            </a:r>
            <a:endParaRPr lang="en-US" sz="1090" dirty="0"/>
          </a:p>
          <a:p>
            <a:r>
              <a:rPr sz="1090">
                <a:solidFill>
                  <a:srgbClr val="5B6472"/>
                </a:solidFill>
                <a:latin typeface="Arial"/>
              </a:rPr>
              <a:t>Benchmark lặp nhiều lần</a:t>
            </a:r>
          </a:p>
          <a:p>
            <a:r>
              <a:rPr sz="1090">
                <a:solidFill>
                  <a:srgbClr val="5B6472"/>
                </a:solidFill>
                <a:latin typeface="Arial"/>
              </a:rPr>
              <a:t>Mở rộng số trạm</a:t>
            </a:r>
          </a:p>
        </p:txBody>
      </p:sp>
      <p:sp>
        <p:nvSpPr>
          <p:cNvPr id="27" name="Shape 24"/>
          <p:cNvSpPr/>
          <p:nvPr/>
        </p:nvSpPr>
        <p:spPr>
          <a:xfrm>
            <a:off x="8510016" y="1965960"/>
            <a:ext cx="3108960" cy="2788920"/>
          </a:xfrm>
          <a:prstGeom prst="roundRect">
            <a:avLst>
              <a:gd name="adj" fmla="val 4706"/>
            </a:avLst>
          </a:prstGeom>
          <a:solidFill>
            <a:srgbClr val="FFFDF6"/>
          </a:solidFill>
          <a:ln w="15240">
            <a:solidFill>
              <a:srgbClr val="F59E0B"/>
            </a:solidFill>
            <a:prstDash val="solid"/>
          </a:ln>
        </p:spPr>
        <p:txBody>
          <a:bodyPr/>
          <a:p/>
        </p:txBody>
      </p:sp>
      <p:sp>
        <p:nvSpPr>
          <p:cNvPr id="28" name="Shape 25"/>
          <p:cNvSpPr/>
          <p:nvPr/>
        </p:nvSpPr>
        <p:spPr>
          <a:xfrm>
            <a:off x="9704832" y="2157984"/>
            <a:ext cx="731520" cy="731520"/>
          </a:xfrm>
          <a:prstGeom prst="ellipse">
            <a:avLst/>
          </a:prstGeom>
          <a:solidFill>
            <a:srgbClr val="F59E0B"/>
          </a:solidFill>
          <a:ln w="12700">
            <a:solidFill>
              <a:srgbClr val="F59E0B"/>
            </a:solidFill>
            <a:prstDash val="solid"/>
          </a:ln>
        </p:spPr>
        <p:txBody>
          <a:bodyPr/>
          <a:p/>
        </p:txBody>
      </p:sp>
      <p:sp>
        <p:nvSpPr>
          <p:cNvPr id="29" name="Text 26"/>
          <p:cNvSpPr/>
          <p:nvPr/>
        </p:nvSpPr>
        <p:spPr>
          <a:xfrm>
            <a:off x="9582912" y="2340864"/>
            <a:ext cx="975360" cy="256032"/>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sp>
        <p:nvSpPr>
          <p:cNvPr id="30" name="Text 27"/>
          <p:cNvSpPr/>
          <p:nvPr/>
        </p:nvSpPr>
        <p:spPr>
          <a:xfrm>
            <a:off x="8729472" y="3090672"/>
            <a:ext cx="2682240" cy="274320"/>
          </a:xfrm>
          <a:prstGeom prst="rect">
            <a:avLst/>
          </a:prstGeom>
          <a:noFill/>
          <a:ln/>
        </p:spPr>
        <p:txBody>
          <a:bodyPr wrap="square" rtlCol="0" anchor="ctr">
            <a:normAutofit/>
          </a:bodyPr>
          <a:lstStyle/>
          <a:p>
            <a:pPr algn="ctr" indent="0" marL="0">
              <a:buNone/>
            </a:pPr>
            <a:r>
              <a:rPr lang="en-US" sz="1500" b="1" dirty="0">
                <a:solidFill>
                  <a:srgbClr val="0B1B4F"/>
                </a:solidFill>
                <a:latin typeface="Arial" pitchFamily="34" charset="0"/>
                <a:ea typeface="Arial" pitchFamily="34" charset="-122"/>
                <a:cs typeface="Arial" pitchFamily="34" charset="-120"/>
              </a:rPr>
              <a:t>Nâng chất lượng mô hình</a:t>
            </a:r>
            <a:endParaRPr lang="en-US" sz="1500" dirty="0"/>
          </a:p>
        </p:txBody>
      </p:sp>
      <p:sp>
        <p:nvSpPr>
          <p:cNvPr id="31" name="Text 28"/>
          <p:cNvSpPr/>
          <p:nvPr/>
        </p:nvSpPr>
        <p:spPr>
          <a:xfrm>
            <a:off x="8778240" y="3593592"/>
            <a:ext cx="2560320" cy="822960"/>
          </a:xfrm>
          <a:prstGeom prst="rect">
            <a:avLst/>
          </a:prstGeom>
          <a:noFill/>
          <a:ln/>
        </p:spPr>
        <p:txBody>
          <a:bodyPr wrap="square" rtlCol="0" anchor="ctr">
            <a:normAutofit/>
          </a:bodyPr>
          <a:lstStyle/>
          <a:p>
            <a:pPr algn="ctr" indent="0" marL="0">
              <a:buNone/>
            </a:pPr>
            <a:r>
              <a:rPr sz="1090">
                <a:solidFill>
                  <a:srgbClr val="5B6472"/>
                </a:solidFill>
                <a:latin typeface="Arial"/>
              </a:rPr>
              <a:t>Persistence baseline</a:t>
            </a:r>
            <a:endParaRPr lang="en-US" sz="1090" dirty="0"/>
          </a:p>
          <a:p>
            <a:r>
              <a:rPr sz="1090">
                <a:solidFill>
                  <a:srgbClr val="5B6472"/>
                </a:solidFill>
                <a:latin typeface="Arial"/>
              </a:rPr>
              <a:t>XGBoost / LightGBM / ensemble</a:t>
            </a:r>
          </a:p>
          <a:p>
            <a:r>
              <a:rPr sz="1090">
                <a:solidFill>
                  <a:srgbClr val="5B6472"/>
                </a:solidFill>
                <a:latin typeface="Arial"/>
              </a:rPr>
              <a:t>Thêm dữ liệu khí tượng, ảnh vệ tinh</a:t>
            </a:r>
          </a:p>
        </p:txBody>
      </p:sp>
      <p:sp>
        <p:nvSpPr>
          <p:cNvPr id="32" name="Shape 29"/>
          <p:cNvSpPr/>
          <p:nvPr/>
        </p:nvSpPr>
        <p:spPr>
          <a:xfrm>
            <a:off x="1524000" y="5303520"/>
            <a:ext cx="9144000" cy="640080"/>
          </a:xfrm>
          <a:prstGeom prst="rect">
            <a:avLst/>
          </a:prstGeom>
          <a:solidFill>
            <a:srgbClr val="E8F6FF"/>
          </a:solidFill>
          <a:ln w="12700">
            <a:solidFill>
              <a:srgbClr val="00AEEF"/>
            </a:solidFill>
            <a:prstDash val="solid"/>
          </a:ln>
        </p:spPr>
        <p:txBody>
          <a:bodyPr/>
          <a:p/>
        </p:txBody>
      </p:sp>
      <p:sp>
        <p:nvSpPr>
          <p:cNvPr id="33" name="Text 30"/>
          <p:cNvSpPr/>
          <p:nvPr/>
        </p:nvSpPr>
        <p:spPr>
          <a:xfrm>
            <a:off x="1767840" y="5513832"/>
            <a:ext cx="8656320" cy="164592"/>
          </a:xfrm>
          <a:prstGeom prst="rect">
            <a:avLst/>
          </a:prstGeom>
          <a:noFill/>
          <a:ln/>
        </p:spPr>
        <p:txBody>
          <a:bodyPr wrap="square" rtlCol="0" anchor="ctr">
            <a:normAutofit/>
          </a:bodyPr>
          <a:lstStyle/>
          <a:p>
            <a:pPr algn="ctr" indent="0" marL="0">
              <a:buNone/>
            </a:pPr>
            <a:r>
              <a:rPr sz="1220" b="1">
                <a:solidFill>
                  <a:srgbClr val="0B1B4F"/>
                </a:solidFill>
                <a:latin typeface="Arial"/>
              </a:rPr>
              <a:t>Kết luận: hệ thống đã hoàn thành mục tiêu ban đầu; bước tiếp theo là multi-node, tối ưu Pha 2 và đánh giá mô hình công bằng.</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UIT</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Kết luận và hướng phát triển - Big Data AQI</dc:title>
  <dc:subject>Big Data AQI - Kết luận và hướng phát triển</dc:subject>
  <dc:creator>Diep Nguyen Hoang Ngoc</dc:creator>
  <lastModifiedBy>Diep Nguyen Hoang Ngoc</lastModifiedBy>
  <revision>1</revision>
  <dcterms:created xsi:type="dcterms:W3CDTF">2026-09-21T10:48:15.7374603Z</dcterms:created>
  <dcterms:modified xsi:type="dcterms:W3CDTF">2026-09-21T10:48:15.7374603Z</dcterms:modified>
</coreProperties>
</file>