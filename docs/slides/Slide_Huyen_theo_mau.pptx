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phần Xử lý (Spark). Ba nội dung: pipeline 3 pha, thuật toán AQI, scalability. Câu chốt: Kafka chỉ vận chuyển, HDFS chỉ lưu — Spark là nơi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CẢNH pipeline — nói theo dòng chảy, chưa đi sâu (chi tiết để slide 3.2). Dữ liệu vào từ hai nguồn: HDFS /raw (lịch sử, làn batch) và Kafka (live, làn stream), cả hai cùng đổ vào Spark. Ba pha nối tiếp: làm sạch → tính AQI → tổng hợp, mỗi pha thêm một lớp thông tin (/clean → /aqi → /agg), rồi vào HBase phục vụ dashboard. Ngoài lõi còn hai nhánh Phân cụm và Dự báo chạy trên /aqi (Khôi/Diệp trình bày sâu). Ba ý cần nắm: (1) key-value và đổi khoá giữa các pha; (2) Mapper = biến đổi từng dòng, Reducer = gom theo khoá rồi tính; (3) là mô hình MapReduce cài bằng Spark, không phải Hadoop MapReduce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ĐI SÂU từng pha. PHA 1 — Làm sạch: Mapper gắn mỗi bản ghi khoá (trạm, giờ) như dán mã phân loại; Reducer làm 3 việc — bỏ bản ghi trùng; loại giá trị vô lý (âm hoặc vượt ngưỡng vật lý, chỉ bỏ riêng ô đó chứ không xoá cả dòng); nội suy các khoảng thiếu ngắn dưới 3 giờ, thiếu dài thì để trống và đánh dấu. Ghi ra /clean dạng Parquet kèm cờ chất lượng measured/interpolated/missing; 97,6% ngày đủ chuẩn. PHA 2 — Tính AQI (đóng góp khoa học): Mapper quy đổi nồng độ từng chất thành IAQI bằng nội suy theo bảng breakpoint QĐ 1459, riêng bụi PM dùng NowCast (trung bình 12 giờ, giờ gần tính nặng hơn); Reducer lấy AQI = max của 6 chất (lấy chất tệ nhất, không lấy trung bình), gán mức và chất trội. Không dùng owm_aqi thang 1–5 mà tự tính thang 0–500; owm_aqi chỉ để đối chiếu. Đầu ra /aqi (schema C3). PHA 3 — Tổng hợp và xếp hạng: Mapper đổi khoá sang (thành phố, ngày) — đây là bước shuffle; Reducer tính trung bình/max/min AQI mỗi thành phố–ngày, đếm số giờ mỗi mức, xếp hạng (hạng 1 = ô nhiễm nhất); ghi ra /agg và nạp HBase, khoảng 8,26 phút. Chốt: batch và streaming dùng chung lõi aqi_core nên không lệch kết quả; toàn bộ là mô hình MapReduce cài bằng Spark, không phải Hadoop MapReduce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Đóng góp khoa học: IAQI nội suy tuyến tính theo breakpoint; AQI=max 6 chất; dominant=chất cho max. Ví dụ PM2.5 35,2→70,4. NowCast 12h (giờ) vs TB24h (ngày). Sáu mức QĐ1459.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thời gian Pha 2 theo 1/2/4 executor; ★ 8M speedup 2,43×. 100K overhead nên 4 exec chậm hơn 2. Dưới tuyến tính do UDF serialize+shuffle. Hạn chế: một máy. Chốt: dữ liệu lớn mới thấy lợi ích phân tán → cần Big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Nhánh mở rộng — máy tự chọn. Phân cụm: 5 thuật toán 3 tầng, chọn theo silhouette → K-means k=3 (0,3547), thắng sát Bisecting, HDBSCAN loại, cấu trúc yếu. Dự báo: 3 tầng SGD/Random Forest/CNN-LSTM, chọn theo RMSE/R² → Random Forest (20,10; 0,7297); SGD thắng MAE; CNN-LSTM ít mẫu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txBox="1"/>
          <p:nvPr/>
        </p:nvSpPr>
        <p:spPr>
          <a:xfrm>
            <a:off x="822960" y="1554480"/>
            <a:ext cx="10058400" cy="457200"/>
          </a:xfrm>
          <a:prstGeom prst="rect">
            <a:avLst/>
          </a:prstGeom>
          <a:noFill/>
          <a:ln/>
        </p:spPr>
        <p:txBody>
          <a:bodyPr wrap="square" rtlCol="0" anchor="ctr"/>
          <a:lstStyle/>
          <a:p>
            <a:pPr indent="0" marL="0">
              <a:buNone/>
            </a:pPr>
            <a:r>
              <a:rPr lang="en-US" sz="1500" b="1" spc="400" kern="0" dirty="0">
                <a:solidFill>
                  <a:srgbClr val="9DB8E6"/>
                </a:solidFill>
                <a:latin typeface="Arial" pitchFamily="34" charset="0"/>
                <a:ea typeface="Arial" pitchFamily="34" charset="-122"/>
                <a:cs typeface="Arial" pitchFamily="34" charset="-120"/>
              </a:rPr>
              <a:t>PHẦN 3</a:t>
            </a:r>
            <a:endParaRPr lang="en-US" sz="1500" dirty="0"/>
          </a:p>
        </p:txBody>
      </p:sp>
      <p:sp>
        <p:nvSpPr>
          <p:cNvPr id="3" name="Text 1"/>
          <p:cNvSpPr txBox="1"/>
          <p:nvPr/>
        </p:nvSpPr>
        <p:spPr>
          <a:xfrm>
            <a:off x="822960" y="2011680"/>
            <a:ext cx="10515600" cy="100584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Xử lý dữ liệu — Apache Spark</a:t>
            </a:r>
            <a:endParaRPr lang="en-US" sz="4000" dirty="0"/>
          </a:p>
        </p:txBody>
      </p:sp>
      <p:sp>
        <p:nvSpPr>
          <p:cNvPr id="4" name="Text 2"/>
          <p:cNvSpPr txBox="1"/>
          <p:nvPr/>
        </p:nvSpPr>
        <p:spPr>
          <a:xfrm>
            <a:off x="841248" y="3063240"/>
            <a:ext cx="10058400" cy="457200"/>
          </a:xfrm>
          <a:prstGeom prst="rect">
            <a:avLst/>
          </a:prstGeom>
          <a:noFill/>
          <a:ln/>
        </p:spPr>
        <p:txBody>
          <a:bodyPr wrap="square" rtlCol="0" anchor="ctr"/>
          <a:lstStyle/>
          <a:p>
            <a:pPr indent="0" marL="0">
              <a:buNone/>
            </a:pPr>
            <a:r>
              <a:rPr lang="en-US" sz="1500" i="1" dirty="0">
                <a:solidFill>
                  <a:srgbClr val="CADCF5"/>
                </a:solidFill>
                <a:latin typeface="Arial" pitchFamily="34" charset="0"/>
                <a:ea typeface="Arial" pitchFamily="34" charset="-122"/>
                <a:cs typeface="Arial" pitchFamily="34" charset="-120"/>
              </a:rPr>
              <a:t>Trình bày: Huyền</a:t>
            </a:r>
            <a:endParaRPr lang="en-US" sz="1500" dirty="0"/>
          </a:p>
        </p:txBody>
      </p:sp>
      <p:sp>
        <p:nvSpPr>
          <p:cNvPr id="5" name="Shape 3"/>
          <p:cNvSpPr/>
          <p:nvPr/>
        </p:nvSpPr>
        <p:spPr>
          <a:xfrm>
            <a:off x="822960" y="3977640"/>
            <a:ext cx="3383280" cy="1600200"/>
          </a:xfrm>
          <a:prstGeom prst="roundRect">
            <a:avLst>
              <a:gd name="adj" fmla="val 4571"/>
            </a:avLst>
          </a:prstGeom>
          <a:solidFill>
            <a:srgbClr val="27406B"/>
          </a:solidFill>
          <a:ln w="12700">
            <a:solidFill>
              <a:srgbClr val="3C568A"/>
            </a:solidFill>
            <a:prstDash val="solid"/>
          </a:ln>
        </p:spPr>
      </p:sp>
      <p:sp>
        <p:nvSpPr>
          <p:cNvPr id="6" name="Text 4"/>
          <p:cNvSpPr txBox="1"/>
          <p:nvPr/>
        </p:nvSpPr>
        <p:spPr>
          <a:xfrm>
            <a:off x="105156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01</a:t>
            </a:r>
            <a:endParaRPr lang="en-US" sz="2600" dirty="0"/>
          </a:p>
        </p:txBody>
      </p:sp>
      <p:sp>
        <p:nvSpPr>
          <p:cNvPr id="7" name="Text 5"/>
          <p:cNvSpPr txBox="1"/>
          <p:nvPr/>
        </p:nvSpPr>
        <p:spPr>
          <a:xfrm>
            <a:off x="105156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Pipeline ba pha</a:t>
            </a:r>
            <a:endParaRPr lang="en-US" sz="1500" dirty="0"/>
          </a:p>
        </p:txBody>
      </p:sp>
      <p:sp>
        <p:nvSpPr>
          <p:cNvPr id="8" name="Text 6"/>
          <p:cNvSpPr txBox="1"/>
          <p:nvPr/>
        </p:nvSpPr>
        <p:spPr>
          <a:xfrm>
            <a:off x="105156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Làm sạch → Tính AQI → Tổng hợp</a:t>
            </a:r>
            <a:endParaRPr lang="en-US" sz="1100" dirty="0"/>
          </a:p>
        </p:txBody>
      </p:sp>
      <p:sp>
        <p:nvSpPr>
          <p:cNvPr id="9" name="Shape 7"/>
          <p:cNvSpPr/>
          <p:nvPr/>
        </p:nvSpPr>
        <p:spPr>
          <a:xfrm>
            <a:off x="4526280" y="3977640"/>
            <a:ext cx="3383280" cy="1600200"/>
          </a:xfrm>
          <a:prstGeom prst="roundRect">
            <a:avLst>
              <a:gd name="adj" fmla="val 4571"/>
            </a:avLst>
          </a:prstGeom>
          <a:solidFill>
            <a:srgbClr val="27406B"/>
          </a:solidFill>
          <a:ln w="12700">
            <a:solidFill>
              <a:srgbClr val="3C568A"/>
            </a:solidFill>
            <a:prstDash val="solid"/>
          </a:ln>
        </p:spPr>
      </p:sp>
      <p:sp>
        <p:nvSpPr>
          <p:cNvPr id="10" name="Text 8"/>
          <p:cNvSpPr txBox="1"/>
          <p:nvPr/>
        </p:nvSpPr>
        <p:spPr>
          <a:xfrm>
            <a:off x="475488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02</a:t>
            </a:r>
            <a:endParaRPr lang="en-US" sz="2600" dirty="0"/>
          </a:p>
        </p:txBody>
      </p:sp>
      <p:sp>
        <p:nvSpPr>
          <p:cNvPr id="11" name="Text 9"/>
          <p:cNvSpPr txBox="1"/>
          <p:nvPr/>
        </p:nvSpPr>
        <p:spPr>
          <a:xfrm>
            <a:off x="475488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Thuật toán AQI</a:t>
            </a:r>
            <a:endParaRPr lang="en-US" sz="1500" dirty="0"/>
          </a:p>
        </p:txBody>
      </p:sp>
      <p:sp>
        <p:nvSpPr>
          <p:cNvPr id="12" name="Text 10"/>
          <p:cNvSpPr txBox="1"/>
          <p:nvPr/>
        </p:nvSpPr>
        <p:spPr>
          <a:xfrm>
            <a:off x="475488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Đóng góp khoa học (QĐ 1459)</a:t>
            </a:r>
            <a:endParaRPr lang="en-US" sz="1100" dirty="0"/>
          </a:p>
        </p:txBody>
      </p:sp>
      <p:sp>
        <p:nvSpPr>
          <p:cNvPr id="13" name="Shape 11"/>
          <p:cNvSpPr/>
          <p:nvPr/>
        </p:nvSpPr>
        <p:spPr>
          <a:xfrm>
            <a:off x="8229600" y="3977640"/>
            <a:ext cx="3383280" cy="1600200"/>
          </a:xfrm>
          <a:prstGeom prst="roundRect">
            <a:avLst>
              <a:gd name="adj" fmla="val 4571"/>
            </a:avLst>
          </a:prstGeom>
          <a:solidFill>
            <a:srgbClr val="27406B"/>
          </a:solidFill>
          <a:ln w="12700">
            <a:solidFill>
              <a:srgbClr val="3C568A"/>
            </a:solidFill>
            <a:prstDash val="solid"/>
          </a:ln>
        </p:spPr>
      </p:sp>
      <p:sp>
        <p:nvSpPr>
          <p:cNvPr id="14" name="Text 12"/>
          <p:cNvSpPr txBox="1"/>
          <p:nvPr/>
        </p:nvSpPr>
        <p:spPr>
          <a:xfrm>
            <a:off x="845820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03</a:t>
            </a:r>
            <a:endParaRPr lang="en-US" sz="2600" dirty="0"/>
          </a:p>
        </p:txBody>
      </p:sp>
      <p:sp>
        <p:nvSpPr>
          <p:cNvPr id="15" name="Text 13"/>
          <p:cNvSpPr txBox="1"/>
          <p:nvPr/>
        </p:nvSpPr>
        <p:spPr>
          <a:xfrm>
            <a:off x="845820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6" name="Text 14"/>
          <p:cNvSpPr txBox="1"/>
          <p:nvPr/>
        </p:nvSpPr>
        <p:spPr>
          <a:xfrm>
            <a:off x="845820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Vì sao cần xử lý phân tán</a:t>
            </a:r>
            <a:endParaRPr lang="en-US" sz="1100" dirty="0"/>
          </a:p>
        </p:txBody>
      </p:sp>
      <p:sp>
        <p:nvSpPr>
          <p:cNvPr id="17" name="Text 15"/>
          <p:cNvSpPr txBox="1"/>
          <p:nvPr/>
        </p:nvSpPr>
        <p:spPr>
          <a:xfrm>
            <a:off x="822960" y="6446520"/>
            <a:ext cx="8229600" cy="274320"/>
          </a:xfrm>
          <a:prstGeom prst="rect">
            <a:avLst/>
          </a:prstGeom>
          <a:noFill/>
          <a:ln/>
        </p:spPr>
        <p:txBody>
          <a:bodyPr wrap="square" lIns="0" tIns="0" rIns="0" bIns="0" rtlCol="0" anchor="ctr"/>
          <a:lstStyle/>
          <a:p>
            <a:pPr indent="0" marL="0">
              <a:buNone/>
            </a:pPr>
            <a:r>
              <a:rPr lang="en-US" sz="900" dirty="0">
                <a:solidFill>
                  <a:srgbClr val="6E82A6"/>
                </a:solidFill>
                <a:latin typeface="Arial" pitchFamily="34" charset="0"/>
                <a:ea typeface="Arial" pitchFamily="34" charset="-122"/>
                <a:cs typeface="Arial" pitchFamily="34" charset="-120"/>
              </a:rPr>
              <a:t>Trường Đại học Công nghệ Thông tin,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2</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3.1   </a:t>
            </a:r>
            <a:pPr indent="0" marL="0">
              <a:buNone/>
            </a:pPr>
            <a:r>
              <a:rPr lang="en-US" sz="2300" b="1" dirty="0">
                <a:solidFill>
                  <a:srgbClr val="1F3864"/>
                </a:solidFill>
                <a:latin typeface="Arial" pitchFamily="34" charset="0"/>
                <a:ea typeface="Arial" pitchFamily="34" charset="-122"/>
                <a:cs typeface="Arial" pitchFamily="34" charset="-120"/>
              </a:rPr>
              <a:t>Pipeline ba pha + hai nhánh mở rộng</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Ba pha lõi (làm sạch → tính AQI → tổng hợp); phân cụm &amp; dự báo chạy ngoài lõi trên /aqi.</a:t>
            </a:r>
            <a:endParaRPr lang="en-US" sz="1350" dirty="0"/>
          </a:p>
        </p:txBody>
      </p:sp>
      <p:sp>
        <p:nvSpPr>
          <p:cNvPr id="7" name="Shape 5"/>
          <p:cNvSpPr/>
          <p:nvPr/>
        </p:nvSpPr>
        <p:spPr>
          <a:xfrm>
            <a:off x="457200" y="1965960"/>
            <a:ext cx="1463040" cy="1371600"/>
          </a:xfrm>
          <a:prstGeom prst="roundRect">
            <a:avLst>
              <a:gd name="adj" fmla="val 5333"/>
            </a:avLst>
          </a:prstGeom>
          <a:solidFill>
            <a:srgbClr val="F4F7FC"/>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8" name="Text 6"/>
          <p:cNvSpPr txBox="1"/>
          <p:nvPr/>
        </p:nvSpPr>
        <p:spPr>
          <a:xfrm>
            <a:off x="457200" y="1965960"/>
            <a:ext cx="1463040" cy="1371600"/>
          </a:xfrm>
          <a:prstGeom prst="rect">
            <a:avLst/>
          </a:prstGeom>
          <a:noFill/>
          <a:ln/>
        </p:spPr>
        <p:txBody>
          <a:bodyPr wrap="square" lIns="38100" tIns="38100" rIns="38100" bIns="38100" rtlCol="0" anchor="ctr"/>
          <a:lstStyle/>
          <a:p>
            <a:pPr algn="ctr" indent="0" marL="0">
              <a:lnSpc>
                <a:spcPct val="110000"/>
              </a:lnSpc>
              <a:buNone/>
            </a:pPr>
            <a:r>
              <a:rPr lang="en-US" sz="1100" b="1" dirty="0">
                <a:solidFill>
                  <a:srgbClr val="1F3864"/>
                </a:solidFill>
                <a:latin typeface="Arial" pitchFamily="34" charset="0"/>
                <a:ea typeface="Arial" pitchFamily="34" charset="-122"/>
                <a:cs typeface="Arial" pitchFamily="34" charset="-120"/>
              </a:rPr>
              <a:t>ĐẦU VÀO
</a:t>
            </a:r>
            <a:pPr algn="ctr" indent="0" marL="0">
              <a:lnSpc>
                <a:spcPct val="110000"/>
              </a:lnSpc>
              <a:buNone/>
            </a:pPr>
            <a:r>
              <a:rPr lang="en-US" sz="950" dirty="0">
                <a:solidFill>
                  <a:srgbClr val="1F3864"/>
                </a:solidFill>
                <a:latin typeface="Arial" pitchFamily="34" charset="0"/>
                <a:ea typeface="Arial" pitchFamily="34" charset="-122"/>
                <a:cs typeface="Arial" pitchFamily="34" charset="-120"/>
              </a:rPr>
              <a:t>HDFS /raw</a:t>
            </a:r>
            <a:endParaRPr lang="en-US" sz="1100" dirty="0"/>
          </a:p>
          <a:p>
            <a:pPr algn="ctr" indent="0" marL="0">
              <a:lnSpc>
                <a:spcPct val="110000"/>
              </a:lnSpc>
              <a:buNone/>
            </a:pPr>
            <a:r>
              <a:rPr lang="en-US" sz="950" dirty="0">
                <a:solidFill>
                  <a:srgbClr val="1F3864"/>
                </a:solidFill>
                <a:latin typeface="Arial" pitchFamily="34" charset="0"/>
                <a:ea typeface="Arial" pitchFamily="34" charset="-122"/>
                <a:cs typeface="Arial" pitchFamily="34" charset="-120"/>
              </a:rPr>
              <a:t>Kafka (live)</a:t>
            </a:r>
            <a:endParaRPr lang="en-US" sz="1100" dirty="0"/>
          </a:p>
        </p:txBody>
      </p:sp>
      <p:sp>
        <p:nvSpPr>
          <p:cNvPr id="9" name="Shape 7"/>
          <p:cNvSpPr/>
          <p:nvPr/>
        </p:nvSpPr>
        <p:spPr>
          <a:xfrm>
            <a:off x="1938528" y="2487168"/>
            <a:ext cx="256032" cy="219456"/>
          </a:xfrm>
          <a:prstGeom prst="rightArrow">
            <a:avLst/>
          </a:prstGeom>
          <a:solidFill>
            <a:srgbClr val="9AA9C4"/>
          </a:solidFill>
          <a:ln/>
        </p:spPr>
      </p:sp>
      <p:sp>
        <p:nvSpPr>
          <p:cNvPr id="10" name="Shape 8"/>
          <p:cNvSpPr/>
          <p:nvPr/>
        </p:nvSpPr>
        <p:spPr>
          <a:xfrm>
            <a:off x="2212848"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1" name="Shape 9"/>
          <p:cNvSpPr/>
          <p:nvPr/>
        </p:nvSpPr>
        <p:spPr>
          <a:xfrm>
            <a:off x="2212848" y="1444752"/>
            <a:ext cx="2286000" cy="420624"/>
          </a:xfrm>
          <a:prstGeom prst="roundRect">
            <a:avLst>
              <a:gd name="adj" fmla="val 17391"/>
            </a:avLst>
          </a:prstGeom>
          <a:solidFill>
            <a:srgbClr val="2E9BA6"/>
          </a:solidFill>
          <a:ln/>
        </p:spPr>
      </p:sp>
      <p:sp>
        <p:nvSpPr>
          <p:cNvPr id="12" name="Text 10"/>
          <p:cNvSpPr txBox="1"/>
          <p:nvPr/>
        </p:nvSpPr>
        <p:spPr>
          <a:xfrm>
            <a:off x="2212848"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1 · Làm sạch</a:t>
            </a:r>
            <a:endParaRPr lang="en-US" sz="1200" dirty="0"/>
          </a:p>
        </p:txBody>
      </p:sp>
      <p:sp>
        <p:nvSpPr>
          <p:cNvPr id="13" name="Shape 11"/>
          <p:cNvSpPr/>
          <p:nvPr/>
        </p:nvSpPr>
        <p:spPr>
          <a:xfrm>
            <a:off x="2322576" y="1938528"/>
            <a:ext cx="2066544" cy="749808"/>
          </a:xfrm>
          <a:prstGeom prst="roundRect">
            <a:avLst>
              <a:gd name="adj" fmla="val 6098"/>
            </a:avLst>
          </a:prstGeom>
          <a:solidFill>
            <a:srgbClr val="E9F0FB"/>
          </a:solidFill>
          <a:ln w="12700">
            <a:solidFill>
              <a:srgbClr val="C7D6EE"/>
            </a:solidFill>
            <a:prstDash val="solid"/>
          </a:ln>
        </p:spPr>
      </p:sp>
      <p:sp>
        <p:nvSpPr>
          <p:cNvPr id="14" name="Text 12"/>
          <p:cNvSpPr txBox="1"/>
          <p:nvPr/>
        </p:nvSpPr>
        <p:spPr>
          <a:xfrm>
            <a:off x="2395728"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key=(trạm,giờ)</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bản ghi thô</a:t>
            </a:r>
            <a:endParaRPr lang="en-US" sz="850" dirty="0"/>
          </a:p>
        </p:txBody>
      </p:sp>
      <p:sp>
        <p:nvSpPr>
          <p:cNvPr id="15" name="Shape 13"/>
          <p:cNvSpPr/>
          <p:nvPr/>
        </p:nvSpPr>
        <p:spPr>
          <a:xfrm>
            <a:off x="2322576" y="2743200"/>
            <a:ext cx="2066544" cy="749808"/>
          </a:xfrm>
          <a:prstGeom prst="roundRect">
            <a:avLst>
              <a:gd name="adj" fmla="val 6098"/>
            </a:avLst>
          </a:prstGeom>
          <a:solidFill>
            <a:srgbClr val="FBEBDC"/>
          </a:solidFill>
          <a:ln w="12700">
            <a:solidFill>
              <a:srgbClr val="E8C9A6"/>
            </a:solidFill>
            <a:prstDash val="solid"/>
          </a:ln>
        </p:spPr>
      </p:sp>
      <p:sp>
        <p:nvSpPr>
          <p:cNvPr id="16" name="Text 14"/>
          <p:cNvSpPr txBox="1"/>
          <p:nvPr/>
        </p:nvSpPr>
        <p:spPr>
          <a:xfrm>
            <a:off x="2395728"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khử trùng lặp · loại giá trị lỗi · vá chỗ thiếu ≤ 3h</a:t>
            </a:r>
            <a:endParaRPr lang="en-US" sz="850" dirty="0"/>
          </a:p>
        </p:txBody>
      </p:sp>
      <p:sp>
        <p:nvSpPr>
          <p:cNvPr id="17" name="Text 15"/>
          <p:cNvSpPr txBox="1"/>
          <p:nvPr/>
        </p:nvSpPr>
        <p:spPr>
          <a:xfrm>
            <a:off x="2212848" y="3529584"/>
            <a:ext cx="2286000" cy="292608"/>
          </a:xfrm>
          <a:prstGeom prst="rect">
            <a:avLst/>
          </a:prstGeom>
          <a:noFill/>
          <a:ln/>
        </p:spPr>
        <p:txBody>
          <a:bodyPr wrap="square" lIns="0" tIns="0" rIns="0" bIns="0" rtlCol="0" anchor="ctr"/>
          <a:lstStyle/>
          <a:p>
            <a:pPr algn="ctr" indent="0" marL="0">
              <a:buNone/>
            </a:pPr>
            <a:r>
              <a:rPr lang="en-US" sz="1000" b="1" dirty="0">
                <a:solidFill>
                  <a:srgbClr val="2E9BA6"/>
                </a:solidFill>
                <a:latin typeface="Arial" pitchFamily="34" charset="0"/>
                <a:ea typeface="Arial" pitchFamily="34" charset="-122"/>
                <a:cs typeface="Arial" pitchFamily="34" charset="-120"/>
              </a:rPr>
              <a:t>↓  /clean</a:t>
            </a:r>
            <a:endParaRPr lang="en-US" sz="1000" dirty="0"/>
          </a:p>
        </p:txBody>
      </p:sp>
      <p:sp>
        <p:nvSpPr>
          <p:cNvPr id="18" name="Shape 16"/>
          <p:cNvSpPr/>
          <p:nvPr/>
        </p:nvSpPr>
        <p:spPr>
          <a:xfrm>
            <a:off x="4517136" y="2487168"/>
            <a:ext cx="256032" cy="219456"/>
          </a:xfrm>
          <a:prstGeom prst="rightArrow">
            <a:avLst/>
          </a:prstGeom>
          <a:solidFill>
            <a:srgbClr val="9AA9C4"/>
          </a:solidFill>
          <a:ln/>
        </p:spPr>
      </p:sp>
      <p:sp>
        <p:nvSpPr>
          <p:cNvPr id="19" name="Shape 17"/>
          <p:cNvSpPr/>
          <p:nvPr/>
        </p:nvSpPr>
        <p:spPr>
          <a:xfrm>
            <a:off x="4791456"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0" name="Shape 18"/>
          <p:cNvSpPr/>
          <p:nvPr/>
        </p:nvSpPr>
        <p:spPr>
          <a:xfrm>
            <a:off x="4791456" y="1444752"/>
            <a:ext cx="2286000" cy="420624"/>
          </a:xfrm>
          <a:prstGeom prst="roundRect">
            <a:avLst>
              <a:gd name="adj" fmla="val 17391"/>
            </a:avLst>
          </a:prstGeom>
          <a:solidFill>
            <a:srgbClr val="2E5AAC"/>
          </a:solidFill>
          <a:ln/>
        </p:spPr>
      </p:sp>
      <p:sp>
        <p:nvSpPr>
          <p:cNvPr id="21" name="Text 19"/>
          <p:cNvSpPr txBox="1"/>
          <p:nvPr/>
        </p:nvSpPr>
        <p:spPr>
          <a:xfrm>
            <a:off x="4791456"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2 · Tính AQI</a:t>
            </a:r>
            <a:endParaRPr lang="en-US" sz="1200" dirty="0"/>
          </a:p>
        </p:txBody>
      </p:sp>
      <p:sp>
        <p:nvSpPr>
          <p:cNvPr id="22" name="Shape 20"/>
          <p:cNvSpPr/>
          <p:nvPr/>
        </p:nvSpPr>
        <p:spPr>
          <a:xfrm>
            <a:off x="4901184" y="1938528"/>
            <a:ext cx="2066544" cy="749808"/>
          </a:xfrm>
          <a:prstGeom prst="roundRect">
            <a:avLst>
              <a:gd name="adj" fmla="val 6098"/>
            </a:avLst>
          </a:prstGeom>
          <a:solidFill>
            <a:srgbClr val="E9F0FB"/>
          </a:solidFill>
          <a:ln w="12700">
            <a:solidFill>
              <a:srgbClr val="C7D6EE"/>
            </a:solidFill>
            <a:prstDash val="solid"/>
          </a:ln>
        </p:spPr>
      </p:sp>
      <p:sp>
        <p:nvSpPr>
          <p:cNvPr id="23" name="Text 21"/>
          <p:cNvSpPr txBox="1"/>
          <p:nvPr/>
        </p:nvSpPr>
        <p:spPr>
          <a:xfrm>
            <a:off x="4974336"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IAQI từng chất</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(NowCast 12h PM)</a:t>
            </a:r>
            <a:endParaRPr lang="en-US" sz="850" dirty="0"/>
          </a:p>
        </p:txBody>
      </p:sp>
      <p:sp>
        <p:nvSpPr>
          <p:cNvPr id="24" name="Shape 22"/>
          <p:cNvSpPr/>
          <p:nvPr/>
        </p:nvSpPr>
        <p:spPr>
          <a:xfrm>
            <a:off x="4901184" y="2743200"/>
            <a:ext cx="2066544" cy="749808"/>
          </a:xfrm>
          <a:prstGeom prst="roundRect">
            <a:avLst>
              <a:gd name="adj" fmla="val 6098"/>
            </a:avLst>
          </a:prstGeom>
          <a:solidFill>
            <a:srgbClr val="FBEBDC"/>
          </a:solidFill>
          <a:ln w="12700">
            <a:solidFill>
              <a:srgbClr val="E8C9A6"/>
            </a:solidFill>
            <a:prstDash val="solid"/>
          </a:ln>
        </p:spPr>
      </p:sp>
      <p:sp>
        <p:nvSpPr>
          <p:cNvPr id="25" name="Text 23"/>
          <p:cNvSpPr txBox="1"/>
          <p:nvPr/>
        </p:nvSpPr>
        <p:spPr>
          <a:xfrm>
            <a:off x="4974336"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AQI=max(IAQI)</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gán mức+chất trội</a:t>
            </a:r>
            <a:endParaRPr lang="en-US" sz="850" dirty="0"/>
          </a:p>
        </p:txBody>
      </p:sp>
      <p:sp>
        <p:nvSpPr>
          <p:cNvPr id="26" name="Text 24"/>
          <p:cNvSpPr txBox="1"/>
          <p:nvPr/>
        </p:nvSpPr>
        <p:spPr>
          <a:xfrm>
            <a:off x="4791456" y="3529584"/>
            <a:ext cx="2286000" cy="292608"/>
          </a:xfrm>
          <a:prstGeom prst="rect">
            <a:avLst/>
          </a:prstGeom>
          <a:noFill/>
          <a:ln/>
        </p:spPr>
        <p:txBody>
          <a:bodyPr wrap="square" lIns="0" tIns="0" rIns="0" bIns="0" rtlCol="0" anchor="ctr"/>
          <a:lstStyle/>
          <a:p>
            <a:pPr algn="ctr" indent="0" marL="0">
              <a:buNone/>
            </a:pPr>
            <a:r>
              <a:rPr lang="en-US" sz="1000" b="1" dirty="0">
                <a:solidFill>
                  <a:srgbClr val="2E5AAC"/>
                </a:solidFill>
                <a:latin typeface="Arial" pitchFamily="34" charset="0"/>
                <a:ea typeface="Arial" pitchFamily="34" charset="-122"/>
                <a:cs typeface="Arial" pitchFamily="34" charset="-120"/>
              </a:rPr>
              <a:t>↓  /aqi</a:t>
            </a:r>
            <a:endParaRPr lang="en-US" sz="1000" dirty="0"/>
          </a:p>
        </p:txBody>
      </p:sp>
      <p:sp>
        <p:nvSpPr>
          <p:cNvPr id="27" name="Shape 25"/>
          <p:cNvSpPr/>
          <p:nvPr/>
        </p:nvSpPr>
        <p:spPr>
          <a:xfrm>
            <a:off x="7095744" y="2487168"/>
            <a:ext cx="256032" cy="219456"/>
          </a:xfrm>
          <a:prstGeom prst="rightArrow">
            <a:avLst/>
          </a:prstGeom>
          <a:solidFill>
            <a:srgbClr val="9AA9C4"/>
          </a:solidFill>
          <a:ln/>
        </p:spPr>
      </p:sp>
      <p:sp>
        <p:nvSpPr>
          <p:cNvPr id="28" name="Shape 26"/>
          <p:cNvSpPr/>
          <p:nvPr/>
        </p:nvSpPr>
        <p:spPr>
          <a:xfrm>
            <a:off x="7370064"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9" name="Shape 27"/>
          <p:cNvSpPr/>
          <p:nvPr/>
        </p:nvSpPr>
        <p:spPr>
          <a:xfrm>
            <a:off x="7370064" y="1444752"/>
            <a:ext cx="2286000" cy="420624"/>
          </a:xfrm>
          <a:prstGeom prst="roundRect">
            <a:avLst>
              <a:gd name="adj" fmla="val 17391"/>
            </a:avLst>
          </a:prstGeom>
          <a:solidFill>
            <a:srgbClr val="4F9D5D"/>
          </a:solidFill>
          <a:ln/>
        </p:spPr>
      </p:sp>
      <p:sp>
        <p:nvSpPr>
          <p:cNvPr id="30" name="Text 28"/>
          <p:cNvSpPr txBox="1"/>
          <p:nvPr/>
        </p:nvSpPr>
        <p:spPr>
          <a:xfrm>
            <a:off x="7370064"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3 · Tổng hợp</a:t>
            </a:r>
            <a:endParaRPr lang="en-US" sz="1200" dirty="0"/>
          </a:p>
        </p:txBody>
      </p:sp>
      <p:sp>
        <p:nvSpPr>
          <p:cNvPr id="31" name="Shape 29"/>
          <p:cNvSpPr/>
          <p:nvPr/>
        </p:nvSpPr>
        <p:spPr>
          <a:xfrm>
            <a:off x="7479792" y="1938528"/>
            <a:ext cx="2066544" cy="749808"/>
          </a:xfrm>
          <a:prstGeom prst="roundRect">
            <a:avLst>
              <a:gd name="adj" fmla="val 6098"/>
            </a:avLst>
          </a:prstGeom>
          <a:solidFill>
            <a:srgbClr val="E9F0FB"/>
          </a:solidFill>
          <a:ln w="12700">
            <a:solidFill>
              <a:srgbClr val="C7D6EE"/>
            </a:solidFill>
            <a:prstDash val="solid"/>
          </a:ln>
        </p:spPr>
      </p:sp>
      <p:sp>
        <p:nvSpPr>
          <p:cNvPr id="32" name="Text 30"/>
          <p:cNvSpPr txBox="1"/>
          <p:nvPr/>
        </p:nvSpPr>
        <p:spPr>
          <a:xfrm>
            <a:off x="7552944"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key=(thành phố,ngày)</a:t>
            </a:r>
            <a:endParaRPr lang="en-US" sz="850" dirty="0"/>
          </a:p>
        </p:txBody>
      </p:sp>
      <p:sp>
        <p:nvSpPr>
          <p:cNvPr id="33" name="Shape 31"/>
          <p:cNvSpPr/>
          <p:nvPr/>
        </p:nvSpPr>
        <p:spPr>
          <a:xfrm>
            <a:off x="7479792" y="2743200"/>
            <a:ext cx="2066544" cy="749808"/>
          </a:xfrm>
          <a:prstGeom prst="roundRect">
            <a:avLst>
              <a:gd name="adj" fmla="val 6098"/>
            </a:avLst>
          </a:prstGeom>
          <a:solidFill>
            <a:srgbClr val="FBEBDC"/>
          </a:solidFill>
          <a:ln w="12700">
            <a:solidFill>
              <a:srgbClr val="E8C9A6"/>
            </a:solidFill>
            <a:prstDash val="solid"/>
          </a:ln>
        </p:spPr>
      </p:sp>
      <p:sp>
        <p:nvSpPr>
          <p:cNvPr id="34" name="Text 32"/>
          <p:cNvSpPr txBox="1"/>
          <p:nvPr/>
        </p:nvSpPr>
        <p:spPr>
          <a:xfrm>
            <a:off x="7552944"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trung bình/max · đếm mức · xếp hạng</a:t>
            </a:r>
            <a:endParaRPr lang="en-US" sz="850" dirty="0"/>
          </a:p>
        </p:txBody>
      </p:sp>
      <p:sp>
        <p:nvSpPr>
          <p:cNvPr id="35" name="Text 33"/>
          <p:cNvSpPr txBox="1"/>
          <p:nvPr/>
        </p:nvSpPr>
        <p:spPr>
          <a:xfrm>
            <a:off x="7370064" y="3529584"/>
            <a:ext cx="2286000" cy="292608"/>
          </a:xfrm>
          <a:prstGeom prst="rect">
            <a:avLst/>
          </a:prstGeom>
          <a:noFill/>
          <a:ln/>
        </p:spPr>
        <p:txBody>
          <a:bodyPr wrap="square" lIns="0" tIns="0" rIns="0" bIns="0" rtlCol="0" anchor="ctr"/>
          <a:lstStyle/>
          <a:p>
            <a:pPr algn="ctr" indent="0" marL="0">
              <a:buNone/>
            </a:pPr>
            <a:r>
              <a:rPr lang="en-US" sz="1000" b="1" dirty="0">
                <a:solidFill>
                  <a:srgbClr val="4F9D5D"/>
                </a:solidFill>
                <a:latin typeface="Arial" pitchFamily="34" charset="0"/>
                <a:ea typeface="Arial" pitchFamily="34" charset="-122"/>
                <a:cs typeface="Arial" pitchFamily="34" charset="-120"/>
              </a:rPr>
              <a:t>↓  /agg · HBase</a:t>
            </a:r>
            <a:endParaRPr lang="en-US" sz="1000" dirty="0"/>
          </a:p>
        </p:txBody>
      </p:sp>
      <p:sp>
        <p:nvSpPr>
          <p:cNvPr id="36" name="Shape 34"/>
          <p:cNvSpPr/>
          <p:nvPr/>
        </p:nvSpPr>
        <p:spPr>
          <a:xfrm>
            <a:off x="9674352" y="2487168"/>
            <a:ext cx="256032" cy="219456"/>
          </a:xfrm>
          <a:prstGeom prst="rightArrow">
            <a:avLst/>
          </a:prstGeom>
          <a:solidFill>
            <a:srgbClr val="9AA9C4"/>
          </a:solidFill>
          <a:ln/>
        </p:spPr>
      </p:sp>
      <p:sp>
        <p:nvSpPr>
          <p:cNvPr id="37" name="Shape 35"/>
          <p:cNvSpPr/>
          <p:nvPr/>
        </p:nvSpPr>
        <p:spPr>
          <a:xfrm>
            <a:off x="9930384" y="1444752"/>
            <a:ext cx="1801368" cy="4315968"/>
          </a:xfrm>
          <a:prstGeom prst="roundRect">
            <a:avLst>
              <a:gd name="adj" fmla="val 4061"/>
            </a:avLst>
          </a:prstGeom>
          <a:solidFill>
            <a:srgbClr val="1F3864"/>
          </a:solidFill>
          <a:ln/>
          <a:effectLst>
            <a:outerShdw sx="100000" sy="100000" kx="0" ky="0" algn="bl" rotWithShape="0" blurRad="88900" dist="25400" dir="5400000">
              <a:srgbClr val="9AA6B8">
                <a:alpha val="32000"/>
              </a:srgbClr>
            </a:outerShdw>
          </a:effectLst>
        </p:spPr>
      </p:sp>
      <p:sp>
        <p:nvSpPr>
          <p:cNvPr id="38" name="Text 36"/>
          <p:cNvSpPr txBox="1"/>
          <p:nvPr/>
        </p:nvSpPr>
        <p:spPr>
          <a:xfrm>
            <a:off x="9930384" y="2194560"/>
            <a:ext cx="1801368" cy="1188720"/>
          </a:xfrm>
          <a:prstGeom prst="rect">
            <a:avLst/>
          </a:prstGeom>
          <a:noFill/>
          <a:ln/>
        </p:spPr>
        <p:txBody>
          <a:bodyPr wrap="square" lIns="38100" tIns="38100" rIns="38100" bIns="38100" rtlCol="0" anchor="ctr"/>
          <a:lstStyle/>
          <a:p>
            <a:pPr algn="ctr" indent="0" marL="0">
              <a:lnSpc>
                <a:spcPct val="110000"/>
              </a:lnSpc>
              <a:buNone/>
            </a:pPr>
            <a:r>
              <a:rPr lang="en-US" sz="1200" b="1" dirty="0">
                <a:solidFill>
                  <a:srgbClr val="FFFFFF"/>
                </a:solidFill>
                <a:latin typeface="Arial" pitchFamily="34" charset="0"/>
                <a:ea typeface="Arial" pitchFamily="34" charset="-122"/>
                <a:cs typeface="Arial" pitchFamily="34" charset="-120"/>
              </a:rPr>
              <a:t>PHỤC VỤ
</a:t>
            </a:r>
            <a:pPr algn="ctr" indent="0" marL="0">
              <a:lnSpc>
                <a:spcPct val="110000"/>
              </a:lnSpc>
              <a:buNone/>
            </a:pPr>
            <a:r>
              <a:rPr lang="en-US" sz="1000" dirty="0">
                <a:solidFill>
                  <a:srgbClr val="CFE0F5"/>
                </a:solidFill>
                <a:latin typeface="Arial" pitchFamily="34" charset="0"/>
                <a:ea typeface="Arial" pitchFamily="34" charset="-122"/>
                <a:cs typeface="Arial" pitchFamily="34" charset="-120"/>
              </a:rPr>
              <a:t>HBase</a:t>
            </a:r>
            <a:endParaRPr lang="en-US" sz="1200" dirty="0"/>
          </a:p>
          <a:p>
            <a:pPr algn="ctr" indent="0" marL="0">
              <a:lnSpc>
                <a:spcPct val="110000"/>
              </a:lnSpc>
              <a:buNone/>
            </a:pPr>
            <a:r>
              <a:rPr lang="en-US" sz="1000" dirty="0">
                <a:solidFill>
                  <a:srgbClr val="CFE0F5"/>
                </a:solidFill>
                <a:latin typeface="Arial" pitchFamily="34" charset="0"/>
                <a:ea typeface="Arial" pitchFamily="34" charset="-122"/>
                <a:cs typeface="Arial" pitchFamily="34" charset="-120"/>
              </a:rPr>
              <a:t>→ Dashboard</a:t>
            </a:r>
            <a:endParaRPr lang="en-US" sz="1200" dirty="0"/>
          </a:p>
        </p:txBody>
      </p:sp>
      <p:sp>
        <p:nvSpPr>
          <p:cNvPr id="39" name="Shape 37"/>
          <p:cNvSpPr/>
          <p:nvPr/>
        </p:nvSpPr>
        <p:spPr>
          <a:xfrm>
            <a:off x="2212848" y="4114800"/>
            <a:ext cx="7443216" cy="1627632"/>
          </a:xfrm>
          <a:prstGeom prst="roundRect">
            <a:avLst>
              <a:gd name="adj" fmla="val 4494"/>
            </a:avLst>
          </a:prstGeom>
          <a:solidFill>
            <a:srgbClr val="FAFBFE"/>
          </a:solidFill>
          <a:ln w="15875">
            <a:solidFill>
              <a:srgbClr val="7A5BA6"/>
            </a:solidFill>
            <a:prstDash val="dash"/>
          </a:ln>
        </p:spPr>
      </p:sp>
      <p:sp>
        <p:nvSpPr>
          <p:cNvPr id="40" name="Text 38"/>
          <p:cNvSpPr txBox="1"/>
          <p:nvPr/>
        </p:nvSpPr>
        <p:spPr>
          <a:xfrm>
            <a:off x="2377440" y="4169664"/>
            <a:ext cx="7132320" cy="292608"/>
          </a:xfrm>
          <a:prstGeom prst="rect">
            <a:avLst/>
          </a:prstGeom>
          <a:noFill/>
          <a:ln/>
        </p:spPr>
        <p:txBody>
          <a:bodyPr wrap="square" lIns="0" tIns="0" rIns="0" bIns="0" rtlCol="0" anchor="ctr"/>
          <a:lstStyle/>
          <a:p>
            <a:pPr indent="0" marL="0">
              <a:buNone/>
            </a:pPr>
            <a:r>
              <a:rPr lang="en-US" sz="1050" b="1" dirty="0">
                <a:solidFill>
                  <a:srgbClr val="7A5BA6"/>
                </a:solidFill>
                <a:latin typeface="Arial" pitchFamily="34" charset="0"/>
                <a:ea typeface="Arial" pitchFamily="34" charset="-122"/>
                <a:cs typeface="Arial" pitchFamily="34" charset="-120"/>
              </a:rPr>
              <a:t>MỞ RỘNG · ngoài lõi — chạy trên /aqi, máy tự chọn mô hình</a:t>
            </a:r>
            <a:endParaRPr lang="en-US" sz="1050" dirty="0"/>
          </a:p>
        </p:txBody>
      </p:sp>
      <p:sp>
        <p:nvSpPr>
          <p:cNvPr id="41" name="Shape 39"/>
          <p:cNvSpPr/>
          <p:nvPr/>
        </p:nvSpPr>
        <p:spPr>
          <a:xfrm>
            <a:off x="5824728" y="3840480"/>
            <a:ext cx="219456" cy="256032"/>
          </a:xfrm>
          <a:prstGeom prst="downArrow">
            <a:avLst/>
          </a:prstGeom>
          <a:solidFill>
            <a:srgbClr val="7A5BA6"/>
          </a:solidFill>
          <a:ln/>
        </p:spPr>
      </p:sp>
      <p:sp>
        <p:nvSpPr>
          <p:cNvPr id="42" name="Shape 40"/>
          <p:cNvSpPr/>
          <p:nvPr/>
        </p:nvSpPr>
        <p:spPr>
          <a:xfrm>
            <a:off x="2432304" y="4572000"/>
            <a:ext cx="3520440" cy="1024128"/>
          </a:xfrm>
          <a:prstGeom prst="roundRect">
            <a:avLst>
              <a:gd name="adj" fmla="val 5357"/>
            </a:avLst>
          </a:prstGeom>
          <a:solidFill>
            <a:srgbClr val="FFFFFF"/>
          </a:solidFill>
          <a:ln w="15240">
            <a:solidFill>
              <a:srgbClr val="7A5BA6"/>
            </a:solidFill>
            <a:prstDash val="solid"/>
          </a:ln>
          <a:effectLst>
            <a:outerShdw sx="100000" sy="100000" kx="0" ky="0" algn="bl" rotWithShape="0" blurRad="88900" dist="25400" dir="5400000">
              <a:srgbClr val="9AA6B8">
                <a:alpha val="32000"/>
              </a:srgbClr>
            </a:outerShdw>
          </a:effectLst>
        </p:spPr>
      </p:sp>
      <p:sp>
        <p:nvSpPr>
          <p:cNvPr id="43" name="Text 41"/>
          <p:cNvSpPr txBox="1"/>
          <p:nvPr/>
        </p:nvSpPr>
        <p:spPr>
          <a:xfrm>
            <a:off x="2569464" y="4572000"/>
            <a:ext cx="3246120" cy="1024128"/>
          </a:xfrm>
          <a:prstGeom prst="rect">
            <a:avLst/>
          </a:prstGeom>
          <a:noFill/>
          <a:ln/>
        </p:spPr>
        <p:txBody>
          <a:bodyPr wrap="square" lIns="25400" tIns="25400" rIns="25400" bIns="25400" rtlCol="0" anchor="ctr"/>
          <a:lstStyle/>
          <a:p>
            <a:pPr algn="l" indent="0" marL="0">
              <a:lnSpc>
                <a:spcPct val="105000"/>
              </a:lnSpc>
              <a:buNone/>
            </a:pPr>
            <a:r>
              <a:rPr lang="en-US" sz="1200" b="1" dirty="0">
                <a:solidFill>
                  <a:srgbClr val="7A5BA6"/>
                </a:solidFill>
                <a:latin typeface="Arial" pitchFamily="34" charset="0"/>
                <a:ea typeface="Arial" pitchFamily="34" charset="-122"/>
                <a:cs typeface="Arial" pitchFamily="34" charset="-120"/>
              </a:rPr>
              <a:t>Phân cụm vùng
</a:t>
            </a:r>
            <a:pPr algn="l" indent="0" marL="0">
              <a:lnSpc>
                <a:spcPct val="105000"/>
              </a:lnSpc>
              <a:buNone/>
            </a:pPr>
            <a:r>
              <a:rPr lang="en-US" sz="950" dirty="0">
                <a:solidFill>
                  <a:srgbClr val="253044"/>
                </a:solidFill>
                <a:latin typeface="Arial" pitchFamily="34" charset="0"/>
                <a:ea typeface="Arial" pitchFamily="34" charset="-122"/>
                <a:cs typeface="Arial" pitchFamily="34" charset="-120"/>
              </a:rPr>
              <a:t>T1 K-means · T2 GMM, Bisecting KM · T3 DBSCAN, HDBSCAN</a:t>
            </a:r>
            <a:endParaRPr lang="en-US" sz="1200" dirty="0"/>
          </a:p>
          <a:p>
            <a:pPr algn="l" indent="0" marL="0">
              <a:lnSpc>
                <a:spcPct val="105000"/>
              </a:lnSpc>
              <a:buNone/>
            </a:pPr>
            <a:r>
              <a:rPr lang="en-US" sz="950" dirty="0">
                <a:solidFill>
                  <a:srgbClr val="253044"/>
                </a:solidFill>
                <a:latin typeface="Arial" pitchFamily="34" charset="0"/>
                <a:ea typeface="Arial" pitchFamily="34" charset="-122"/>
                <a:cs typeface="Arial" pitchFamily="34" charset="-120"/>
              </a:rPr>
              <a:t>→ thắng: K-means k=3 (silhouette 0,3547)</a:t>
            </a:r>
            <a:endParaRPr lang="en-US" sz="1200" dirty="0"/>
          </a:p>
        </p:txBody>
      </p:sp>
      <p:sp>
        <p:nvSpPr>
          <p:cNvPr id="44" name="Shape 42"/>
          <p:cNvSpPr/>
          <p:nvPr/>
        </p:nvSpPr>
        <p:spPr>
          <a:xfrm>
            <a:off x="6053328" y="4572000"/>
            <a:ext cx="3474720" cy="1024128"/>
          </a:xfrm>
          <a:prstGeom prst="roundRect">
            <a:avLst>
              <a:gd name="adj" fmla="val 5357"/>
            </a:avLst>
          </a:prstGeom>
          <a:solidFill>
            <a:srgbClr val="FFFFFF"/>
          </a:solidFill>
          <a:ln w="15240">
            <a:solidFill>
              <a:srgbClr val="2E9BA6"/>
            </a:solidFill>
            <a:prstDash val="solid"/>
          </a:ln>
          <a:effectLst>
            <a:outerShdw sx="100000" sy="100000" kx="0" ky="0" algn="bl" rotWithShape="0" blurRad="88900" dist="25400" dir="5400000">
              <a:srgbClr val="9AA6B8">
                <a:alpha val="32000"/>
              </a:srgbClr>
            </a:outerShdw>
          </a:effectLst>
        </p:spPr>
      </p:sp>
      <p:sp>
        <p:nvSpPr>
          <p:cNvPr id="45" name="Text 43"/>
          <p:cNvSpPr txBox="1"/>
          <p:nvPr/>
        </p:nvSpPr>
        <p:spPr>
          <a:xfrm>
            <a:off x="6190488" y="4572000"/>
            <a:ext cx="3200400" cy="1024128"/>
          </a:xfrm>
          <a:prstGeom prst="rect">
            <a:avLst/>
          </a:prstGeom>
          <a:noFill/>
          <a:ln/>
        </p:spPr>
        <p:txBody>
          <a:bodyPr wrap="square" lIns="25400" tIns="25400" rIns="25400" bIns="25400" rtlCol="0" anchor="ctr"/>
          <a:lstStyle/>
          <a:p>
            <a:pPr algn="l" indent="0" marL="0">
              <a:lnSpc>
                <a:spcPct val="105000"/>
              </a:lnSpc>
              <a:buNone/>
            </a:pPr>
            <a:r>
              <a:rPr lang="en-US" sz="1200" b="1" dirty="0">
                <a:solidFill>
                  <a:srgbClr val="2E9BA6"/>
                </a:solidFill>
                <a:latin typeface="Arial" pitchFamily="34" charset="0"/>
                <a:ea typeface="Arial" pitchFamily="34" charset="-122"/>
                <a:cs typeface="Arial" pitchFamily="34" charset="-120"/>
              </a:rPr>
              <a:t>Dự báo AQI 24h
</a:t>
            </a:r>
            <a:pPr algn="l" indent="0" marL="0">
              <a:lnSpc>
                <a:spcPct val="105000"/>
              </a:lnSpc>
              <a:buNone/>
            </a:pPr>
            <a:r>
              <a:rPr lang="en-US" sz="950" dirty="0">
                <a:solidFill>
                  <a:srgbClr val="253044"/>
                </a:solidFill>
                <a:latin typeface="Arial" pitchFamily="34" charset="0"/>
                <a:ea typeface="Arial" pitchFamily="34" charset="-122"/>
                <a:cs typeface="Arial" pitchFamily="34" charset="-120"/>
              </a:rPr>
              <a:t>T1 SGD · T2 Random Forest · T3 CNN-LSTM</a:t>
            </a:r>
            <a:endParaRPr lang="en-US" sz="1200" dirty="0"/>
          </a:p>
          <a:p>
            <a:pPr algn="l" indent="0" marL="0">
              <a:lnSpc>
                <a:spcPct val="105000"/>
              </a:lnSpc>
              <a:buNone/>
            </a:pPr>
            <a:r>
              <a:rPr lang="en-US" sz="950" dirty="0">
                <a:solidFill>
                  <a:srgbClr val="253044"/>
                </a:solidFill>
                <a:latin typeface="Arial" pitchFamily="34" charset="0"/>
                <a:ea typeface="Arial" pitchFamily="34" charset="-122"/>
                <a:cs typeface="Arial" pitchFamily="34" charset="-120"/>
              </a:rPr>
              <a:t>→ thắng: Random Forest (RMSE 20,10; R² 0,73)</a:t>
            </a:r>
            <a:endParaRPr lang="en-US" sz="1200" dirty="0"/>
          </a:p>
        </p:txBody>
      </p:sp>
      <p:sp>
        <p:nvSpPr>
          <p:cNvPr id="46" name="Shape 44"/>
          <p:cNvSpPr/>
          <p:nvPr/>
        </p:nvSpPr>
        <p:spPr>
          <a:xfrm>
            <a:off x="9674352" y="4974336"/>
            <a:ext cx="256032" cy="219456"/>
          </a:xfrm>
          <a:prstGeom prst="rightArrow">
            <a:avLst/>
          </a:prstGeom>
          <a:solidFill>
            <a:srgbClr val="7A5BA6"/>
          </a:solidFill>
          <a:ln/>
        </p:spPr>
      </p:sp>
      <p:sp>
        <p:nvSpPr>
          <p:cNvPr id="47" name="Text 45"/>
          <p:cNvSpPr txBox="1"/>
          <p:nvPr/>
        </p:nvSpPr>
        <p:spPr>
          <a:xfrm>
            <a:off x="457200" y="5852160"/>
            <a:ext cx="9326880" cy="320040"/>
          </a:xfrm>
          <a:prstGeom prst="rect">
            <a:avLst/>
          </a:prstGeom>
          <a:noFill/>
          <a:ln/>
        </p:spPr>
        <p:txBody>
          <a:bodyPr wrap="square" lIns="0" tIns="0" rIns="0" bIns="0" rtlCol="0" anchor="ctr"/>
          <a:lstStyle/>
          <a:p>
            <a:pPr indent="0" marL="0">
              <a:buNone/>
            </a:pPr>
            <a:r>
              <a:rPr lang="en-US" sz="1100" b="1" dirty="0">
                <a:solidFill>
                  <a:srgbClr val="1F3864"/>
                </a:solidFill>
                <a:latin typeface="Arial" pitchFamily="34" charset="0"/>
                <a:ea typeface="Arial" pitchFamily="34" charset="-122"/>
                <a:cs typeface="Arial" pitchFamily="34" charset="-120"/>
              </a:rPr>
              <a:t>Mapper ↔ withColumn/map · Reducer ↔ groupBy().agg().  </a:t>
            </a:r>
            <a:pPr indent="0" marL="0">
              <a:buNone/>
            </a:pPr>
            <a:r>
              <a:rPr lang="en-US" sz="1100" dirty="0">
                <a:solidFill>
                  <a:srgbClr val="6B7280"/>
                </a:solidFill>
                <a:latin typeface="Arial" pitchFamily="34" charset="0"/>
                <a:ea typeface="Arial" pitchFamily="34" charset="-122"/>
                <a:cs typeface="Arial" pitchFamily="34" charset="-120"/>
              </a:rPr>
              <a:t>MapReduce cài bằng Spark; batch &amp; streaming dùng chung lõi aqi_core.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3</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3.2   </a:t>
            </a:r>
            <a:pPr indent="0" marL="0">
              <a:buNone/>
            </a:pPr>
            <a:r>
              <a:rPr lang="en-US" sz="2300" b="1" dirty="0">
                <a:solidFill>
                  <a:srgbClr val="1F3864"/>
                </a:solidFill>
                <a:latin typeface="Arial" pitchFamily="34" charset="0"/>
                <a:ea typeface="Arial" pitchFamily="34" charset="-122"/>
                <a:cs typeface="Arial" pitchFamily="34" charset="-120"/>
              </a:rPr>
              <a:t>Chi tiết ba pha xử lý</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Làm sạch → tính AQI → tổng hợp; mỗi pha thêm một lớp thông tin cho dữ liệu.</a:t>
            </a:r>
            <a:endParaRPr lang="en-US" sz="1350" dirty="0"/>
          </a:p>
        </p:txBody>
      </p:sp>
      <p:sp>
        <p:nvSpPr>
          <p:cNvPr id="7" name="Shape 5"/>
          <p:cNvSpPr/>
          <p:nvPr/>
        </p:nvSpPr>
        <p:spPr>
          <a:xfrm>
            <a:off x="50292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8" name="Shape 6"/>
          <p:cNvSpPr/>
          <p:nvPr/>
        </p:nvSpPr>
        <p:spPr>
          <a:xfrm>
            <a:off x="502920" y="1481328"/>
            <a:ext cx="3566160" cy="457200"/>
          </a:xfrm>
          <a:prstGeom prst="roundRect">
            <a:avLst>
              <a:gd name="adj" fmla="val 14000"/>
            </a:avLst>
          </a:prstGeom>
          <a:solidFill>
            <a:srgbClr val="2E9BA6"/>
          </a:solidFill>
          <a:ln/>
        </p:spPr>
      </p:sp>
      <p:sp>
        <p:nvSpPr>
          <p:cNvPr id="9" name="Text 7"/>
          <p:cNvSpPr txBox="1"/>
          <p:nvPr/>
        </p:nvSpPr>
        <p:spPr>
          <a:xfrm>
            <a:off x="50292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1 · Làm sạch</a:t>
            </a:r>
            <a:endParaRPr lang="en-US" sz="1350" dirty="0"/>
          </a:p>
        </p:txBody>
      </p:sp>
      <p:sp>
        <p:nvSpPr>
          <p:cNvPr id="10" name="Text 8"/>
          <p:cNvSpPr txBox="1"/>
          <p:nvPr/>
        </p:nvSpPr>
        <p:spPr>
          <a:xfrm>
            <a:off x="70408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Bỏ bản ghi trùng (cùng trạm, cùng giờ)</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Bỏ số vô lý: âm hoặc cao bất thường</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Dựng đủ mọi giờ → lộ ra giờ bị thiếu</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Điền chỗ thiếu ngắn ≤ 3 giờ; thiếu lâu thì để trống</a:t>
            </a:r>
            <a:endParaRPr lang="en-US" sz="1200" dirty="0"/>
          </a:p>
        </p:txBody>
      </p:sp>
      <p:sp>
        <p:nvSpPr>
          <p:cNvPr id="11" name="Shape 9"/>
          <p:cNvSpPr/>
          <p:nvPr/>
        </p:nvSpPr>
        <p:spPr>
          <a:xfrm>
            <a:off x="612648" y="4892040"/>
            <a:ext cx="3346704" cy="457200"/>
          </a:xfrm>
          <a:prstGeom prst="roundRect">
            <a:avLst>
              <a:gd name="adj" fmla="val 10000"/>
            </a:avLst>
          </a:prstGeom>
          <a:solidFill>
            <a:srgbClr val="F4F7FC"/>
          </a:solidFill>
          <a:ln w="12700">
            <a:solidFill>
              <a:srgbClr val="D6DEEA"/>
            </a:solidFill>
            <a:prstDash val="solid"/>
          </a:ln>
        </p:spPr>
      </p:sp>
      <p:sp>
        <p:nvSpPr>
          <p:cNvPr id="12" name="Text 10"/>
          <p:cNvSpPr txBox="1"/>
          <p:nvPr/>
        </p:nvSpPr>
        <p:spPr>
          <a:xfrm>
            <a:off x="61264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2E9BA6"/>
                </a:solidFill>
                <a:latin typeface="Arial" pitchFamily="34" charset="0"/>
                <a:ea typeface="Arial" pitchFamily="34" charset="-122"/>
                <a:cs typeface="Arial" pitchFamily="34" charset="-120"/>
              </a:rPr>
              <a:t>→ </a:t>
            </a:r>
            <a:pPr algn="ctr" indent="0" marL="0">
              <a:buNone/>
            </a:pPr>
            <a:r>
              <a:rPr lang="en-US" sz="1150" b="1" dirty="0">
                <a:solidFill>
                  <a:srgbClr val="2E9BA6"/>
                </a:solidFill>
                <a:latin typeface="Arial" pitchFamily="34" charset="0"/>
                <a:ea typeface="Arial" pitchFamily="34" charset="-122"/>
                <a:cs typeface="Arial" pitchFamily="34" charset="-120"/>
              </a:rPr>
              <a:t>/clean · 97,6% ngày đạt chuẩn</a:t>
            </a:r>
            <a:endParaRPr lang="en-US" sz="1200" dirty="0"/>
          </a:p>
        </p:txBody>
      </p:sp>
      <p:sp>
        <p:nvSpPr>
          <p:cNvPr id="13" name="Shape 11"/>
          <p:cNvSpPr/>
          <p:nvPr/>
        </p:nvSpPr>
        <p:spPr>
          <a:xfrm>
            <a:off x="425196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4" name="Shape 12"/>
          <p:cNvSpPr/>
          <p:nvPr/>
        </p:nvSpPr>
        <p:spPr>
          <a:xfrm>
            <a:off x="4251960" y="1481328"/>
            <a:ext cx="3566160" cy="457200"/>
          </a:xfrm>
          <a:prstGeom prst="roundRect">
            <a:avLst>
              <a:gd name="adj" fmla="val 14000"/>
            </a:avLst>
          </a:prstGeom>
          <a:solidFill>
            <a:srgbClr val="2E5AAC"/>
          </a:solidFill>
          <a:ln/>
        </p:spPr>
      </p:sp>
      <p:sp>
        <p:nvSpPr>
          <p:cNvPr id="15" name="Text 13"/>
          <p:cNvSpPr txBox="1"/>
          <p:nvPr/>
        </p:nvSpPr>
        <p:spPr>
          <a:xfrm>
            <a:off x="425196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2 · Tính AQI</a:t>
            </a:r>
            <a:endParaRPr lang="en-US" sz="1350" dirty="0"/>
          </a:p>
        </p:txBody>
      </p:sp>
      <p:sp>
        <p:nvSpPr>
          <p:cNvPr id="16" name="Text 14"/>
          <p:cNvSpPr txBox="1"/>
          <p:nvPr/>
        </p:nvSpPr>
        <p:spPr>
          <a:xfrm>
            <a:off x="445312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Bụi PM: trung bình 12 giờ (giờ gần tính nặng hơn)</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Đổi nồng độ mỗi chất thành điểm IAQI (QĐ 1459)</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AQI = điểm cao nhất trong 6 chất → gán mức + chất trội</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Hai làn lịch sử &amp; realtime dùng chung một công thức</a:t>
            </a:r>
            <a:endParaRPr lang="en-US" sz="1200" dirty="0"/>
          </a:p>
        </p:txBody>
      </p:sp>
      <p:sp>
        <p:nvSpPr>
          <p:cNvPr id="17" name="Shape 15"/>
          <p:cNvSpPr/>
          <p:nvPr/>
        </p:nvSpPr>
        <p:spPr>
          <a:xfrm>
            <a:off x="4361688" y="4892040"/>
            <a:ext cx="3346704" cy="457200"/>
          </a:xfrm>
          <a:prstGeom prst="roundRect">
            <a:avLst>
              <a:gd name="adj" fmla="val 10000"/>
            </a:avLst>
          </a:prstGeom>
          <a:solidFill>
            <a:srgbClr val="F4F7FC"/>
          </a:solidFill>
          <a:ln w="12700">
            <a:solidFill>
              <a:srgbClr val="D6DEEA"/>
            </a:solidFill>
            <a:prstDash val="solid"/>
          </a:ln>
        </p:spPr>
      </p:sp>
      <p:sp>
        <p:nvSpPr>
          <p:cNvPr id="18" name="Text 16"/>
          <p:cNvSpPr txBox="1"/>
          <p:nvPr/>
        </p:nvSpPr>
        <p:spPr>
          <a:xfrm>
            <a:off x="436168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2E5AAC"/>
                </a:solidFill>
                <a:latin typeface="Arial" pitchFamily="34" charset="0"/>
                <a:ea typeface="Arial" pitchFamily="34" charset="-122"/>
                <a:cs typeface="Arial" pitchFamily="34" charset="-120"/>
              </a:rPr>
              <a:t>→ </a:t>
            </a:r>
            <a:pPr algn="ctr" indent="0" marL="0">
              <a:buNone/>
            </a:pPr>
            <a:r>
              <a:rPr lang="en-US" sz="1150" b="1" dirty="0">
                <a:solidFill>
                  <a:srgbClr val="2E5AAC"/>
                </a:solidFill>
                <a:latin typeface="Arial" pitchFamily="34" charset="0"/>
                <a:ea typeface="Arial" pitchFamily="34" charset="-122"/>
                <a:cs typeface="Arial" pitchFamily="34" charset="-120"/>
              </a:rPr>
              <a:t>/aqi · 593 MB</a:t>
            </a:r>
            <a:endParaRPr lang="en-US" sz="1200" dirty="0"/>
          </a:p>
        </p:txBody>
      </p:sp>
      <p:sp>
        <p:nvSpPr>
          <p:cNvPr id="19" name="Shape 17"/>
          <p:cNvSpPr/>
          <p:nvPr/>
        </p:nvSpPr>
        <p:spPr>
          <a:xfrm>
            <a:off x="800100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0" name="Shape 18"/>
          <p:cNvSpPr/>
          <p:nvPr/>
        </p:nvSpPr>
        <p:spPr>
          <a:xfrm>
            <a:off x="8001000" y="1481328"/>
            <a:ext cx="3566160" cy="457200"/>
          </a:xfrm>
          <a:prstGeom prst="roundRect">
            <a:avLst>
              <a:gd name="adj" fmla="val 14000"/>
            </a:avLst>
          </a:prstGeom>
          <a:solidFill>
            <a:srgbClr val="4F9D5D"/>
          </a:solidFill>
          <a:ln/>
        </p:spPr>
      </p:sp>
      <p:sp>
        <p:nvSpPr>
          <p:cNvPr id="21" name="Text 19"/>
          <p:cNvSpPr txBox="1"/>
          <p:nvPr/>
        </p:nvSpPr>
        <p:spPr>
          <a:xfrm>
            <a:off x="800100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3 · Tổng hợp</a:t>
            </a:r>
            <a:endParaRPr lang="en-US" sz="1350" dirty="0"/>
          </a:p>
        </p:txBody>
      </p:sp>
      <p:sp>
        <p:nvSpPr>
          <p:cNvPr id="22" name="Text 20"/>
          <p:cNvSpPr txBox="1"/>
          <p:nvPr/>
        </p:nvSpPr>
        <p:spPr>
          <a:xfrm>
            <a:off x="820216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Gộp theo thành phố &amp; ngày: AQI trung bình / cao nhất</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Đếm số giờ ở từng mức trong ngày</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Xếp hạng thành phố (hạng 1 = ô nhiễm nhất)</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Lưu vào HBase để dashboard đọc nhanh</a:t>
            </a:r>
            <a:endParaRPr lang="en-US" sz="1200" dirty="0"/>
          </a:p>
        </p:txBody>
      </p:sp>
      <p:sp>
        <p:nvSpPr>
          <p:cNvPr id="23" name="Shape 21"/>
          <p:cNvSpPr/>
          <p:nvPr/>
        </p:nvSpPr>
        <p:spPr>
          <a:xfrm>
            <a:off x="8110728" y="4892040"/>
            <a:ext cx="3346704" cy="457200"/>
          </a:xfrm>
          <a:prstGeom prst="roundRect">
            <a:avLst>
              <a:gd name="adj" fmla="val 10000"/>
            </a:avLst>
          </a:prstGeom>
          <a:solidFill>
            <a:srgbClr val="F4F7FC"/>
          </a:solidFill>
          <a:ln w="12700">
            <a:solidFill>
              <a:srgbClr val="D6DEEA"/>
            </a:solidFill>
            <a:prstDash val="solid"/>
          </a:ln>
        </p:spPr>
      </p:sp>
      <p:sp>
        <p:nvSpPr>
          <p:cNvPr id="24" name="Text 22"/>
          <p:cNvSpPr txBox="1"/>
          <p:nvPr/>
        </p:nvSpPr>
        <p:spPr>
          <a:xfrm>
            <a:off x="811072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4F9D5D"/>
                </a:solidFill>
                <a:latin typeface="Arial" pitchFamily="34" charset="0"/>
                <a:ea typeface="Arial" pitchFamily="34" charset="-122"/>
                <a:cs typeface="Arial" pitchFamily="34" charset="-120"/>
              </a:rPr>
              <a:t>→ </a:t>
            </a:r>
            <a:pPr algn="ctr" indent="0" marL="0">
              <a:buNone/>
            </a:pPr>
            <a:r>
              <a:rPr lang="en-US" sz="1150" b="1" dirty="0">
                <a:solidFill>
                  <a:srgbClr val="4F9D5D"/>
                </a:solidFill>
                <a:latin typeface="Arial" pitchFamily="34" charset="0"/>
                <a:ea typeface="Arial" pitchFamily="34" charset="-122"/>
                <a:cs typeface="Arial" pitchFamily="34" charset="-120"/>
              </a:rPr>
              <a:t>/agg + HBase · ~8,26′</a:t>
            </a:r>
            <a:endParaRPr lang="en-US" sz="1200" dirty="0"/>
          </a:p>
        </p:txBody>
      </p:sp>
      <p:sp>
        <p:nvSpPr>
          <p:cNvPr id="25" name="Text 23"/>
          <p:cNvSpPr txBox="1"/>
          <p:nvPr/>
        </p:nvSpPr>
        <p:spPr>
          <a:xfrm>
            <a:off x="502920" y="5623560"/>
            <a:ext cx="11064240" cy="548640"/>
          </a:xfrm>
          <a:prstGeom prst="rect">
            <a:avLst/>
          </a:prstGeom>
          <a:noFill/>
          <a:ln/>
        </p:spPr>
        <p:txBody>
          <a:bodyPr wrap="square" rtlCol="0" anchor="ctr"/>
          <a:lstStyle/>
          <a:p>
            <a:pPr indent="0" marL="0">
              <a:buNone/>
            </a:pPr>
            <a:r>
              <a:rPr lang="en-US" sz="1200" b="1" dirty="0">
                <a:solidFill>
                  <a:srgbClr val="1F3864"/>
                </a:solidFill>
                <a:latin typeface="Arial" pitchFamily="34" charset="0"/>
                <a:ea typeface="Arial" pitchFamily="34" charset="-122"/>
                <a:cs typeface="Arial" pitchFamily="34" charset="-120"/>
              </a:rPr>
              <a:t>Điểm mấu chốt:  </a:t>
            </a:r>
            <a:pPr indent="0" marL="0">
              <a:buNone/>
            </a:pPr>
            <a:r>
              <a:rPr lang="en-US" sz="1200" dirty="0">
                <a:solidFill>
                  <a:srgbClr val="253044"/>
                </a:solidFill>
                <a:latin typeface="Arial" pitchFamily="34" charset="0"/>
                <a:ea typeface="Arial" pitchFamily="34" charset="-122"/>
                <a:cs typeface="Arial" pitchFamily="34" charset="-120"/>
              </a:rPr>
              <a:t>batch &amp; streaming gọi CHUNG một lõi aqi_core nên không lệch kết quả; owm_aqi chỉ để đối chiếu, không đưa vào công thức.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4</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3.3   </a:t>
            </a:r>
            <a:pPr indent="0" marL="0">
              <a:buNone/>
            </a:pPr>
            <a:r>
              <a:rPr lang="en-US" sz="2300" b="1" dirty="0">
                <a:solidFill>
                  <a:srgbClr val="1F3864"/>
                </a:solidFill>
                <a:latin typeface="Arial" pitchFamily="34" charset="0"/>
                <a:ea typeface="Arial" pitchFamily="34" charset="-122"/>
                <a:cs typeface="Arial" pitchFamily="34" charset="-120"/>
              </a:rPr>
              <a:t>Thuật toán AQI — đóng góp khoa học</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Tự tính AQI chuẩn Việt Nam từ nồng độ, thay vì dùng chỉ số 1–5 có sẵn của OpenWeather.</a:t>
            </a:r>
            <a:endParaRPr lang="en-US" sz="1350" dirty="0"/>
          </a:p>
        </p:txBody>
      </p:sp>
      <p:sp>
        <p:nvSpPr>
          <p:cNvPr id="7" name="Shape 5"/>
          <p:cNvSpPr/>
          <p:nvPr/>
        </p:nvSpPr>
        <p:spPr>
          <a:xfrm>
            <a:off x="548640" y="1463040"/>
            <a:ext cx="11091672" cy="1234440"/>
          </a:xfrm>
          <a:prstGeom prst="roundRect">
            <a:avLst>
              <a:gd name="adj" fmla="val 5185"/>
            </a:avLst>
          </a:prstGeom>
          <a:solidFill>
            <a:srgbClr val="1F3864"/>
          </a:solidFill>
          <a:ln/>
          <a:effectLst>
            <a:outerShdw sx="100000" sy="100000" kx="0" ky="0" algn="bl" rotWithShape="0" blurRad="88900" dist="25400" dir="5400000">
              <a:srgbClr val="9AA6B8">
                <a:alpha val="32000"/>
              </a:srgbClr>
            </a:outerShdw>
          </a:effectLst>
        </p:spPr>
      </p:sp>
      <p:sp>
        <p:nvSpPr>
          <p:cNvPr id="8" name="Text 6"/>
          <p:cNvSpPr txBox="1"/>
          <p:nvPr/>
        </p:nvSpPr>
        <p:spPr>
          <a:xfrm>
            <a:off x="822960" y="1517904"/>
            <a:ext cx="10515600" cy="292608"/>
          </a:xfrm>
          <a:prstGeom prst="rect">
            <a:avLst/>
          </a:prstGeom>
          <a:noFill/>
          <a:ln/>
        </p:spPr>
        <p:txBody>
          <a:bodyPr wrap="square" rtlCol="0" anchor="ctr"/>
          <a:lstStyle/>
          <a:p>
            <a:pPr indent="0" marL="0">
              <a:buNone/>
            </a:pPr>
            <a:r>
              <a:rPr lang="en-US" sz="1250" b="1" dirty="0">
                <a:solidFill>
                  <a:srgbClr val="9DB8E6"/>
                </a:solidFill>
                <a:latin typeface="Arial" pitchFamily="34" charset="0"/>
                <a:ea typeface="Arial" pitchFamily="34" charset="-122"/>
                <a:cs typeface="Arial" pitchFamily="34" charset="-120"/>
              </a:rPr>
              <a:t>Công thức — nội suy tuyến tính theo bảng breakpoint (QĐ 1459)</a:t>
            </a:r>
            <a:endParaRPr lang="en-US" sz="1250" dirty="0"/>
          </a:p>
        </p:txBody>
      </p:sp>
      <p:sp>
        <p:nvSpPr>
          <p:cNvPr id="9" name="Text 7"/>
          <p:cNvSpPr txBox="1"/>
          <p:nvPr/>
        </p:nvSpPr>
        <p:spPr>
          <a:xfrm>
            <a:off x="822960" y="1865376"/>
            <a:ext cx="10515600" cy="384048"/>
          </a:xfrm>
          <a:prstGeom prst="rect">
            <a:avLst/>
          </a:prstGeom>
          <a:no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IAQIₓ = (I_high − I_low) / (BP_high − BP_low) × (Cₓ − BP_low) + I_low</a:t>
            </a:r>
            <a:endParaRPr lang="en-US" sz="1300" dirty="0"/>
          </a:p>
        </p:txBody>
      </p:sp>
      <p:sp>
        <p:nvSpPr>
          <p:cNvPr id="10" name="Text 8"/>
          <p:cNvSpPr txBox="1"/>
          <p:nvPr/>
        </p:nvSpPr>
        <p:spPr>
          <a:xfrm>
            <a:off x="822960" y="2286000"/>
            <a:ext cx="10515600" cy="384048"/>
          </a:xfrm>
          <a:prstGeom prst="rect">
            <a:avLst/>
          </a:prstGeom>
          <a:no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AQI = max( IAQIₓ )   ·   x ∈ {PM2.5, PM10, O₃, NO₂, SO₂, CO}</a:t>
            </a:r>
            <a:endParaRPr lang="en-US" sz="1300" dirty="0"/>
          </a:p>
        </p:txBody>
      </p:sp>
      <p:sp>
        <p:nvSpPr>
          <p:cNvPr id="11" name="Shape 9"/>
          <p:cNvSpPr/>
          <p:nvPr/>
        </p:nvSpPr>
        <p:spPr>
          <a:xfrm>
            <a:off x="548640" y="2788920"/>
            <a:ext cx="5486400" cy="1874520"/>
          </a:xfrm>
          <a:prstGeom prst="roundRect">
            <a:avLst>
              <a:gd name="adj" fmla="val 3415"/>
            </a:avLst>
          </a:prstGeom>
          <a:solidFill>
            <a:srgbClr val="F4F7FC"/>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2" name="Text 10"/>
          <p:cNvSpPr txBox="1"/>
          <p:nvPr/>
        </p:nvSpPr>
        <p:spPr>
          <a:xfrm>
            <a:off x="777240" y="2926080"/>
            <a:ext cx="5029200" cy="292608"/>
          </a:xfrm>
          <a:prstGeom prst="rect">
            <a:avLst/>
          </a:prstGeom>
          <a:noFill/>
          <a:ln/>
        </p:spPr>
        <p:txBody>
          <a:bodyPr wrap="square" rtlCol="0" anchor="ctr"/>
          <a:lstStyle/>
          <a:p>
            <a:pPr indent="0" marL="0">
              <a:buNone/>
            </a:pPr>
            <a:r>
              <a:rPr lang="en-US" sz="1300" b="1" dirty="0">
                <a:solidFill>
                  <a:srgbClr val="2E5AAC"/>
                </a:solidFill>
                <a:latin typeface="Arial" pitchFamily="34" charset="0"/>
                <a:ea typeface="Arial" pitchFamily="34" charset="-122"/>
                <a:cs typeface="Arial" pitchFamily="34" charset="-120"/>
              </a:rPr>
              <a:t>Ý nghĩa ký hiệu</a:t>
            </a:r>
            <a:endParaRPr lang="en-US" sz="1300" dirty="0"/>
          </a:p>
        </p:txBody>
      </p:sp>
      <p:sp>
        <p:nvSpPr>
          <p:cNvPr id="13" name="Text 11"/>
          <p:cNvSpPr txBox="1"/>
          <p:nvPr/>
        </p:nvSpPr>
        <p:spPr>
          <a:xfrm>
            <a:off x="777240" y="3218688"/>
            <a:ext cx="5074920" cy="1417320"/>
          </a:xfrm>
          <a:prstGeom prst="rect">
            <a:avLst/>
          </a:prstGeom>
          <a:noFill/>
          <a:ln/>
        </p:spPr>
        <p:txBody>
          <a:bodyPr wrap="square" rtlCol="0" anchor="t"/>
          <a:lstStyle/>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Cₓ</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nồng độ đo được (đã đúng cửa sổ)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[BP_low, BP_high]</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khoảng nồng độ chứa Cₓ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[I_low, I_high]</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khoảng điểm AQI tương ứng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phân số đầu</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độ dốc (1 đơn vị nồng độ → mấy điểm)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max</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lấy chất tệ nhất (= chất trội)</a:t>
            </a:r>
            <a:endParaRPr lang="en-US" sz="1100" dirty="0"/>
          </a:p>
        </p:txBody>
      </p:sp>
      <p:sp>
        <p:nvSpPr>
          <p:cNvPr id="14" name="Shape 12"/>
          <p:cNvSpPr/>
          <p:nvPr/>
        </p:nvSpPr>
        <p:spPr>
          <a:xfrm>
            <a:off x="6172200" y="2788920"/>
            <a:ext cx="5468112" cy="1874520"/>
          </a:xfrm>
          <a:prstGeom prst="roundRect">
            <a:avLst>
              <a:gd name="adj" fmla="val 3415"/>
            </a:avLst>
          </a:prstGeom>
          <a:solidFill>
            <a:srgbClr val="EAF3EC"/>
          </a:solidFill>
          <a:ln w="15240">
            <a:solidFill>
              <a:srgbClr val="4F9D5D"/>
            </a:solidFill>
            <a:prstDash val="solid"/>
          </a:ln>
        </p:spPr>
      </p:sp>
      <p:sp>
        <p:nvSpPr>
          <p:cNvPr id="15" name="Text 13"/>
          <p:cNvSpPr txBox="1"/>
          <p:nvPr/>
        </p:nvSpPr>
        <p:spPr>
          <a:xfrm>
            <a:off x="6400800" y="2926080"/>
            <a:ext cx="5029200" cy="292608"/>
          </a:xfrm>
          <a:prstGeom prst="rect">
            <a:avLst/>
          </a:prstGeom>
          <a:noFill/>
          <a:ln/>
        </p:spPr>
        <p:txBody>
          <a:bodyPr wrap="square" rtlCol="0" anchor="ctr"/>
          <a:lstStyle/>
          <a:p>
            <a:pPr indent="0" marL="0">
              <a:buNone/>
            </a:pPr>
            <a:r>
              <a:rPr lang="en-US" sz="1300" b="1" dirty="0">
                <a:solidFill>
                  <a:srgbClr val="2F7D3A"/>
                </a:solidFill>
                <a:latin typeface="Arial" pitchFamily="34" charset="0"/>
                <a:ea typeface="Arial" pitchFamily="34" charset="-122"/>
                <a:cs typeface="Arial" pitchFamily="34" charset="-120"/>
              </a:rPr>
              <a:t>Ví dụ — PM2.5 (TB 24h) = 35,2</a:t>
            </a:r>
            <a:endParaRPr lang="en-US" sz="1300" dirty="0"/>
          </a:p>
        </p:txBody>
      </p:sp>
      <p:sp>
        <p:nvSpPr>
          <p:cNvPr id="16" name="Text 14"/>
          <p:cNvSpPr txBox="1"/>
          <p:nvPr/>
        </p:nvSpPr>
        <p:spPr>
          <a:xfrm>
            <a:off x="6400800" y="3218688"/>
            <a:ext cx="5074920" cy="1417320"/>
          </a:xfrm>
          <a:prstGeom prst="rect">
            <a:avLst/>
          </a:prstGeom>
          <a:noFill/>
          <a:ln/>
        </p:spPr>
        <p:txBody>
          <a:bodyPr wrap="square" rtlCol="0" anchor="t"/>
          <a:lstStyle/>
          <a:p>
            <a:pPr indent="0" marL="0">
              <a:lnSpc>
                <a:spcPct val="106000"/>
              </a:lnSpc>
              <a:spcAft>
                <a:spcPts val="500"/>
              </a:spcAft>
              <a:buNone/>
            </a:pPr>
            <a:r>
              <a:rPr lang="en-US" sz="1150" dirty="0">
                <a:solidFill>
                  <a:srgbClr val="253044"/>
                </a:solidFill>
                <a:latin typeface="Arial" pitchFamily="34" charset="0"/>
                <a:ea typeface="Arial" pitchFamily="34" charset="-122"/>
                <a:cs typeface="Arial" pitchFamily="34" charset="-120"/>
              </a:rPr>
              <a:t>35,2 rơi vào khoảng [25 ; 50] → điểm [50 ; 100]
</a:t>
            </a:r>
            <a:endParaRPr lang="en-US" sz="1150" dirty="0"/>
          </a:p>
          <a:p>
            <a:pPr indent="0" marL="0">
              <a:lnSpc>
                <a:spcPct val="106000"/>
              </a:lnSpc>
              <a:buNone/>
            </a:pPr>
            <a:r>
              <a:rPr lang="en-US" sz="1150" dirty="0">
                <a:solidFill>
                  <a:srgbClr val="253044"/>
                </a:solidFill>
                <a:latin typeface="Courier New" pitchFamily="34" charset="0"/>
                <a:ea typeface="Courier New" pitchFamily="34" charset="-122"/>
                <a:cs typeface="Courier New" pitchFamily="34" charset="-120"/>
              </a:rPr>
              <a:t>IAQI = (100−50)/(50−25) × (35,2−25) + 50
</a:t>
            </a:r>
            <a:endParaRPr lang="en-US" sz="1150" dirty="0"/>
          </a:p>
          <a:p>
            <a:pPr indent="0" marL="0">
              <a:lnSpc>
                <a:spcPct val="106000"/>
              </a:lnSpc>
              <a:buNone/>
            </a:pPr>
            <a:r>
              <a:rPr lang="en-US" sz="1150" dirty="0">
                <a:solidFill>
                  <a:srgbClr val="253044"/>
                </a:solidFill>
                <a:latin typeface="Courier New" pitchFamily="34" charset="0"/>
                <a:ea typeface="Courier New" pitchFamily="34" charset="-122"/>
                <a:cs typeface="Courier New" pitchFamily="34" charset="-120"/>
              </a:rPr>
              <a:t>       = 2 × 10,2 + 50 = </a:t>
            </a:r>
            <a:pPr indent="0" marL="0">
              <a:lnSpc>
                <a:spcPct val="106000"/>
              </a:lnSpc>
              <a:buNone/>
            </a:pPr>
            <a:r>
              <a:rPr lang="en-US" sz="1300" b="1" dirty="0">
                <a:solidFill>
                  <a:srgbClr val="2F7D3A"/>
                </a:solidFill>
                <a:latin typeface="Arial" pitchFamily="34" charset="0"/>
                <a:ea typeface="Arial" pitchFamily="34" charset="-122"/>
                <a:cs typeface="Arial" pitchFamily="34" charset="-120"/>
              </a:rPr>
              <a:t>70,4</a:t>
            </a:r>
            <a:endParaRPr lang="en-US" sz="1150" dirty="0"/>
          </a:p>
          <a:p>
            <a:pPr indent="0" marL="0">
              <a:lnSpc>
                <a:spcPct val="106000"/>
              </a:lnSpc>
              <a:buNone/>
            </a:pPr>
            <a:r>
              <a:rPr lang="en-US" sz="1100" i="1" dirty="0">
                <a:solidFill>
                  <a:srgbClr val="6B7280"/>
                </a:solidFill>
                <a:latin typeface="Arial" pitchFamily="34" charset="0"/>
                <a:ea typeface="Arial" pitchFamily="34" charset="-122"/>
                <a:cs typeface="Arial" pitchFamily="34" charset="-120"/>
              </a:rPr>
              <a:t>→ 35,2 nằm ~40% đoạn nồng độ nên điểm cũng ~40% đoạn AQI.</a:t>
            </a:r>
            <a:endParaRPr lang="en-US" sz="1150" dirty="0"/>
          </a:p>
        </p:txBody>
      </p:sp>
      <p:sp>
        <p:nvSpPr>
          <p:cNvPr id="17" name="Text 15"/>
          <p:cNvSpPr txBox="1"/>
          <p:nvPr/>
        </p:nvSpPr>
        <p:spPr>
          <a:xfrm>
            <a:off x="548640" y="4828032"/>
            <a:ext cx="11091672" cy="274320"/>
          </a:xfrm>
          <a:prstGeom prst="rect">
            <a:avLst/>
          </a:prstGeom>
          <a:noFill/>
          <a:ln/>
        </p:spPr>
        <p:txBody>
          <a:bodyPr wrap="square" rtlCol="0" anchor="ctr"/>
          <a:lstStyle/>
          <a:p>
            <a:pPr indent="0" marL="0">
              <a:buNone/>
            </a:pPr>
            <a:r>
              <a:rPr lang="en-US" sz="1250" b="1" dirty="0">
                <a:solidFill>
                  <a:srgbClr val="1F3864"/>
                </a:solidFill>
                <a:latin typeface="Arial" pitchFamily="34" charset="0"/>
                <a:ea typeface="Arial" pitchFamily="34" charset="-122"/>
                <a:cs typeface="Arial" pitchFamily="34" charset="-120"/>
              </a:rPr>
              <a:t>Sáu mức AQI theo QĐ 1459 — tra nhãn/màu từ giá trị AQI cuối</a:t>
            </a:r>
            <a:endParaRPr lang="en-US" sz="1250" dirty="0"/>
          </a:p>
        </p:txBody>
      </p:sp>
      <p:sp>
        <p:nvSpPr>
          <p:cNvPr id="18" name="Shape 16"/>
          <p:cNvSpPr/>
          <p:nvPr/>
        </p:nvSpPr>
        <p:spPr>
          <a:xfrm>
            <a:off x="594360" y="5138928"/>
            <a:ext cx="1714500" cy="932688"/>
          </a:xfrm>
          <a:prstGeom prst="roundRect">
            <a:avLst>
              <a:gd name="adj" fmla="val 5882"/>
            </a:avLst>
          </a:prstGeom>
          <a:solidFill>
            <a:srgbClr val="4CAF50"/>
          </a:solidFill>
          <a:ln/>
          <a:effectLst>
            <a:outerShdw sx="100000" sy="100000" kx="0" ky="0" algn="bl" rotWithShape="0" blurRad="88900" dist="25400" dir="5400000">
              <a:srgbClr val="9AA6B8">
                <a:alpha val="32000"/>
              </a:srgbClr>
            </a:outerShdw>
          </a:effectLst>
        </p:spPr>
      </p:sp>
      <p:sp>
        <p:nvSpPr>
          <p:cNvPr id="19" name="Text 17"/>
          <p:cNvSpPr txBox="1"/>
          <p:nvPr/>
        </p:nvSpPr>
        <p:spPr>
          <a:xfrm>
            <a:off x="594360"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1F2A37"/>
                </a:solidFill>
                <a:latin typeface="Arial" pitchFamily="34" charset="0"/>
                <a:ea typeface="Arial" pitchFamily="34" charset="-122"/>
                <a:cs typeface="Arial" pitchFamily="34" charset="-120"/>
              </a:rPr>
              <a:t>1
</a:t>
            </a:r>
            <a:pPr algn="ctr" indent="0" marL="0">
              <a:buNone/>
            </a:pPr>
            <a:r>
              <a:rPr lang="en-US" sz="1100" b="1" dirty="0">
                <a:solidFill>
                  <a:srgbClr val="1F2A37"/>
                </a:solidFill>
                <a:latin typeface="Arial" pitchFamily="34" charset="0"/>
                <a:ea typeface="Arial" pitchFamily="34" charset="-122"/>
                <a:cs typeface="Arial" pitchFamily="34" charset="-120"/>
              </a:rPr>
              <a:t>Tốt
</a:t>
            </a:r>
            <a:pPr algn="ctr" indent="0" marL="0">
              <a:buNone/>
            </a:pPr>
            <a:r>
              <a:rPr lang="en-US" sz="950" dirty="0">
                <a:solidFill>
                  <a:srgbClr val="33404D"/>
                </a:solidFill>
                <a:latin typeface="Arial" pitchFamily="34" charset="0"/>
                <a:ea typeface="Arial" pitchFamily="34" charset="-122"/>
                <a:cs typeface="Arial" pitchFamily="34" charset="-120"/>
              </a:rPr>
              <a:t>0–50</a:t>
            </a:r>
            <a:endParaRPr lang="en-US" sz="1600" dirty="0"/>
          </a:p>
        </p:txBody>
      </p:sp>
      <p:sp>
        <p:nvSpPr>
          <p:cNvPr id="20" name="Shape 18"/>
          <p:cNvSpPr/>
          <p:nvPr/>
        </p:nvSpPr>
        <p:spPr>
          <a:xfrm>
            <a:off x="2427732" y="5138928"/>
            <a:ext cx="1714500" cy="932688"/>
          </a:xfrm>
          <a:prstGeom prst="roundRect">
            <a:avLst>
              <a:gd name="adj" fmla="val 5882"/>
            </a:avLst>
          </a:prstGeom>
          <a:solidFill>
            <a:srgbClr val="F4C430"/>
          </a:solidFill>
          <a:ln/>
          <a:effectLst>
            <a:outerShdw sx="100000" sy="100000" kx="0" ky="0" algn="bl" rotWithShape="0" blurRad="88900" dist="25400" dir="5400000">
              <a:srgbClr val="9AA6B8">
                <a:alpha val="32000"/>
              </a:srgbClr>
            </a:outerShdw>
          </a:effectLst>
        </p:spPr>
      </p:sp>
      <p:sp>
        <p:nvSpPr>
          <p:cNvPr id="21" name="Text 19"/>
          <p:cNvSpPr txBox="1"/>
          <p:nvPr/>
        </p:nvSpPr>
        <p:spPr>
          <a:xfrm>
            <a:off x="2427732"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1F2A37"/>
                </a:solidFill>
                <a:latin typeface="Arial" pitchFamily="34" charset="0"/>
                <a:ea typeface="Arial" pitchFamily="34" charset="-122"/>
                <a:cs typeface="Arial" pitchFamily="34" charset="-120"/>
              </a:rPr>
              <a:t>2
</a:t>
            </a:r>
            <a:pPr algn="ctr" indent="0" marL="0">
              <a:buNone/>
            </a:pPr>
            <a:r>
              <a:rPr lang="en-US" sz="1100" b="1" dirty="0">
                <a:solidFill>
                  <a:srgbClr val="1F2A37"/>
                </a:solidFill>
                <a:latin typeface="Arial" pitchFamily="34" charset="0"/>
                <a:ea typeface="Arial" pitchFamily="34" charset="-122"/>
                <a:cs typeface="Arial" pitchFamily="34" charset="-120"/>
              </a:rPr>
              <a:t>Trung bình
</a:t>
            </a:r>
            <a:pPr algn="ctr" indent="0" marL="0">
              <a:buNone/>
            </a:pPr>
            <a:r>
              <a:rPr lang="en-US" sz="950" dirty="0">
                <a:solidFill>
                  <a:srgbClr val="33404D"/>
                </a:solidFill>
                <a:latin typeface="Arial" pitchFamily="34" charset="0"/>
                <a:ea typeface="Arial" pitchFamily="34" charset="-122"/>
                <a:cs typeface="Arial" pitchFamily="34" charset="-120"/>
              </a:rPr>
              <a:t>51–100</a:t>
            </a:r>
            <a:endParaRPr lang="en-US" sz="1600" dirty="0"/>
          </a:p>
        </p:txBody>
      </p:sp>
      <p:sp>
        <p:nvSpPr>
          <p:cNvPr id="22" name="Shape 20"/>
          <p:cNvSpPr/>
          <p:nvPr/>
        </p:nvSpPr>
        <p:spPr>
          <a:xfrm>
            <a:off x="4261104" y="5138928"/>
            <a:ext cx="1714500" cy="932688"/>
          </a:xfrm>
          <a:prstGeom prst="roundRect">
            <a:avLst>
              <a:gd name="adj" fmla="val 5882"/>
            </a:avLst>
          </a:prstGeom>
          <a:solidFill>
            <a:srgbClr val="F3722C"/>
          </a:solidFill>
          <a:ln/>
          <a:effectLst>
            <a:outerShdw sx="100000" sy="100000" kx="0" ky="0" algn="bl" rotWithShape="0" blurRad="88900" dist="25400" dir="5400000">
              <a:srgbClr val="9AA6B8">
                <a:alpha val="32000"/>
              </a:srgbClr>
            </a:outerShdw>
          </a:effectLst>
        </p:spPr>
      </p:sp>
      <p:sp>
        <p:nvSpPr>
          <p:cNvPr id="23" name="Text 21"/>
          <p:cNvSpPr txBox="1"/>
          <p:nvPr/>
        </p:nvSpPr>
        <p:spPr>
          <a:xfrm>
            <a:off x="4261104"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
</a:t>
            </a:r>
            <a:pPr algn="ctr" indent="0" marL="0">
              <a:buNone/>
            </a:pPr>
            <a:r>
              <a:rPr lang="en-US" sz="1100" b="1" dirty="0">
                <a:solidFill>
                  <a:srgbClr val="FFFFFF"/>
                </a:solidFill>
                <a:latin typeface="Arial" pitchFamily="34" charset="0"/>
                <a:ea typeface="Arial" pitchFamily="34" charset="-122"/>
                <a:cs typeface="Arial" pitchFamily="34" charset="-120"/>
              </a:rPr>
              <a:t>Kém
</a:t>
            </a:r>
            <a:pPr algn="ctr" indent="0" marL="0">
              <a:buNone/>
            </a:pPr>
            <a:r>
              <a:rPr lang="en-US" sz="950" dirty="0">
                <a:solidFill>
                  <a:srgbClr val="F2F2F2"/>
                </a:solidFill>
                <a:latin typeface="Arial" pitchFamily="34" charset="0"/>
                <a:ea typeface="Arial" pitchFamily="34" charset="-122"/>
                <a:cs typeface="Arial" pitchFamily="34" charset="-120"/>
              </a:rPr>
              <a:t>101–150</a:t>
            </a:r>
            <a:endParaRPr lang="en-US" sz="1600" dirty="0"/>
          </a:p>
        </p:txBody>
      </p:sp>
      <p:sp>
        <p:nvSpPr>
          <p:cNvPr id="24" name="Shape 22"/>
          <p:cNvSpPr/>
          <p:nvPr/>
        </p:nvSpPr>
        <p:spPr>
          <a:xfrm>
            <a:off x="6094476" y="5138928"/>
            <a:ext cx="1714500" cy="932688"/>
          </a:xfrm>
          <a:prstGeom prst="roundRect">
            <a:avLst>
              <a:gd name="adj" fmla="val 5882"/>
            </a:avLst>
          </a:prstGeom>
          <a:solidFill>
            <a:srgbClr val="D62828"/>
          </a:solidFill>
          <a:ln/>
          <a:effectLst>
            <a:outerShdw sx="100000" sy="100000" kx="0" ky="0" algn="bl" rotWithShape="0" blurRad="88900" dist="25400" dir="5400000">
              <a:srgbClr val="9AA6B8">
                <a:alpha val="32000"/>
              </a:srgbClr>
            </a:outerShdw>
          </a:effectLst>
        </p:spPr>
      </p:sp>
      <p:sp>
        <p:nvSpPr>
          <p:cNvPr id="25" name="Text 23"/>
          <p:cNvSpPr txBox="1"/>
          <p:nvPr/>
        </p:nvSpPr>
        <p:spPr>
          <a:xfrm>
            <a:off x="6094476"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
</a:t>
            </a:r>
            <a:pPr algn="ctr" indent="0" marL="0">
              <a:buNone/>
            </a:pPr>
            <a:r>
              <a:rPr lang="en-US" sz="1100" b="1" dirty="0">
                <a:solidFill>
                  <a:srgbClr val="FFFFFF"/>
                </a:solidFill>
                <a:latin typeface="Arial" pitchFamily="34" charset="0"/>
                <a:ea typeface="Arial" pitchFamily="34" charset="-122"/>
                <a:cs typeface="Arial" pitchFamily="34" charset="-120"/>
              </a:rPr>
              <a:t>Xấu
</a:t>
            </a:r>
            <a:pPr algn="ctr" indent="0" marL="0">
              <a:buNone/>
            </a:pPr>
            <a:r>
              <a:rPr lang="en-US" sz="950" dirty="0">
                <a:solidFill>
                  <a:srgbClr val="F2F2F2"/>
                </a:solidFill>
                <a:latin typeface="Arial" pitchFamily="34" charset="0"/>
                <a:ea typeface="Arial" pitchFamily="34" charset="-122"/>
                <a:cs typeface="Arial" pitchFamily="34" charset="-120"/>
              </a:rPr>
              <a:t>151–200</a:t>
            </a:r>
            <a:endParaRPr lang="en-US" sz="1600" dirty="0"/>
          </a:p>
        </p:txBody>
      </p:sp>
      <p:sp>
        <p:nvSpPr>
          <p:cNvPr id="26" name="Shape 24"/>
          <p:cNvSpPr/>
          <p:nvPr/>
        </p:nvSpPr>
        <p:spPr>
          <a:xfrm>
            <a:off x="7927848" y="5138928"/>
            <a:ext cx="1714500" cy="932688"/>
          </a:xfrm>
          <a:prstGeom prst="roundRect">
            <a:avLst>
              <a:gd name="adj" fmla="val 5882"/>
            </a:avLst>
          </a:prstGeom>
          <a:solidFill>
            <a:srgbClr val="8E44AD"/>
          </a:solidFill>
          <a:ln/>
          <a:effectLst>
            <a:outerShdw sx="100000" sy="100000" kx="0" ky="0" algn="bl" rotWithShape="0" blurRad="88900" dist="25400" dir="5400000">
              <a:srgbClr val="9AA6B8">
                <a:alpha val="32000"/>
              </a:srgbClr>
            </a:outerShdw>
          </a:effectLst>
        </p:spPr>
      </p:sp>
      <p:sp>
        <p:nvSpPr>
          <p:cNvPr id="27" name="Text 25"/>
          <p:cNvSpPr txBox="1"/>
          <p:nvPr/>
        </p:nvSpPr>
        <p:spPr>
          <a:xfrm>
            <a:off x="7927848"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
</a:t>
            </a:r>
            <a:pPr algn="ctr" indent="0" marL="0">
              <a:buNone/>
            </a:pPr>
            <a:r>
              <a:rPr lang="en-US" sz="1100" b="1" dirty="0">
                <a:solidFill>
                  <a:srgbClr val="FFFFFF"/>
                </a:solidFill>
                <a:latin typeface="Arial" pitchFamily="34" charset="0"/>
                <a:ea typeface="Arial" pitchFamily="34" charset="-122"/>
                <a:cs typeface="Arial" pitchFamily="34" charset="-120"/>
              </a:rPr>
              <a:t>Rất xấu
</a:t>
            </a:r>
            <a:pPr algn="ctr" indent="0" marL="0">
              <a:buNone/>
            </a:pPr>
            <a:r>
              <a:rPr lang="en-US" sz="950" dirty="0">
                <a:solidFill>
                  <a:srgbClr val="F2F2F2"/>
                </a:solidFill>
                <a:latin typeface="Arial" pitchFamily="34" charset="0"/>
                <a:ea typeface="Arial" pitchFamily="34" charset="-122"/>
                <a:cs typeface="Arial" pitchFamily="34" charset="-120"/>
              </a:rPr>
              <a:t>201–300</a:t>
            </a:r>
            <a:endParaRPr lang="en-US" sz="1600" dirty="0"/>
          </a:p>
        </p:txBody>
      </p:sp>
      <p:sp>
        <p:nvSpPr>
          <p:cNvPr id="28" name="Shape 26"/>
          <p:cNvSpPr/>
          <p:nvPr/>
        </p:nvSpPr>
        <p:spPr>
          <a:xfrm>
            <a:off x="9761220" y="5138928"/>
            <a:ext cx="1714500" cy="932688"/>
          </a:xfrm>
          <a:prstGeom prst="roundRect">
            <a:avLst>
              <a:gd name="adj" fmla="val 5882"/>
            </a:avLst>
          </a:prstGeom>
          <a:solidFill>
            <a:srgbClr val="7B2410"/>
          </a:solidFill>
          <a:ln/>
          <a:effectLst>
            <a:outerShdw sx="100000" sy="100000" kx="0" ky="0" algn="bl" rotWithShape="0" blurRad="88900" dist="25400" dir="5400000">
              <a:srgbClr val="9AA6B8">
                <a:alpha val="32000"/>
              </a:srgbClr>
            </a:outerShdw>
          </a:effectLst>
        </p:spPr>
      </p:sp>
      <p:sp>
        <p:nvSpPr>
          <p:cNvPr id="29" name="Text 27"/>
          <p:cNvSpPr txBox="1"/>
          <p:nvPr/>
        </p:nvSpPr>
        <p:spPr>
          <a:xfrm>
            <a:off x="9761220"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
</a:t>
            </a:r>
            <a:pPr algn="ctr" indent="0" marL="0">
              <a:buNone/>
            </a:pPr>
            <a:r>
              <a:rPr lang="en-US" sz="1100" b="1" dirty="0">
                <a:solidFill>
                  <a:srgbClr val="FFFFFF"/>
                </a:solidFill>
                <a:latin typeface="Arial" pitchFamily="34" charset="0"/>
                <a:ea typeface="Arial" pitchFamily="34" charset="-122"/>
                <a:cs typeface="Arial" pitchFamily="34" charset="-120"/>
              </a:rPr>
              <a:t>Nguy hại
</a:t>
            </a:r>
            <a:pPr algn="ctr" indent="0" marL="0">
              <a:buNone/>
            </a:pPr>
            <a:r>
              <a:rPr lang="en-US" sz="950" dirty="0">
                <a:solidFill>
                  <a:srgbClr val="F2F2F2"/>
                </a:solidFill>
                <a:latin typeface="Arial" pitchFamily="34" charset="0"/>
                <a:ea typeface="Arial" pitchFamily="34" charset="-122"/>
                <a:cs typeface="Arial" pitchFamily="34" charset="-120"/>
              </a:rPr>
              <a:t>301–500</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5</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3.4   </a:t>
            </a:r>
            <a:pPr indent="0" marL="0">
              <a:buNone/>
            </a:pPr>
            <a:r>
              <a:rPr lang="en-US" sz="2300" b="1" dirty="0">
                <a:solidFill>
                  <a:srgbClr val="1F3864"/>
                </a:solidFill>
                <a:latin typeface="Arial" pitchFamily="34" charset="0"/>
                <a:ea typeface="Arial" pitchFamily="34" charset="-122"/>
                <a:cs typeface="Arial" pitchFamily="34" charset="-120"/>
              </a:rPr>
              <a:t>Thực nghiệm scalability</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Đo riêng Pha 2 trên dữ liệu tổng hợp — chứng minh: dữ liệu càng lớn, phân tán càng lợi.</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5577840" cy="914400"/>
        </p:xfrm>
        <a:graphic>
          <a:graphicData uri="http://schemas.openxmlformats.org/drawingml/2006/table">
            <a:tbl>
              <a:tblPr/>
              <a:tblGrid>
                <a:gridCol w="1371600"/>
                <a:gridCol w="1051560"/>
                <a:gridCol w="1051560"/>
                <a:gridCol w="1051560"/>
                <a:gridCol w="1051560"/>
              </a:tblGrid>
              <a:tr h="457200">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Workload</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1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2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4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Speedup</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502920">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100K</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16,4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11,8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16,0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1,03×</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02920">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1M</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99,0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51,2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48,4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2,04×</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48640">
                <a:tc>
                  <a:txBody>
                    <a:bodyPr/>
                    <a:lstStyle/>
                    <a:p>
                      <a:pPr algn="ctr" indent="0" marL="0">
                        <a:buNone/>
                      </a:pPr>
                      <a:r>
                        <a:rPr lang="en-US" sz="1250" b="1" dirty="0">
                          <a:solidFill>
                            <a:srgbClr val="253044"/>
                          </a:solidFill>
                          <a:latin typeface="Arial" pitchFamily="34" charset="0"/>
                          <a:ea typeface="Arial" pitchFamily="34" charset="-122"/>
                          <a:cs typeface="Arial" pitchFamily="34" charset="-120"/>
                        </a:rPr>
                        <a:t>8M  ★</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749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385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b="1" dirty="0">
                          <a:solidFill>
                            <a:srgbClr val="253044"/>
                          </a:solidFill>
                          <a:latin typeface="Arial" pitchFamily="34" charset="0"/>
                          <a:ea typeface="Arial" pitchFamily="34" charset="-122"/>
                          <a:cs typeface="Arial" pitchFamily="34" charset="-120"/>
                        </a:rPr>
                        <a:t>309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b="1" dirty="0">
                          <a:solidFill>
                            <a:srgbClr val="2E5AAC"/>
                          </a:solidFill>
                          <a:latin typeface="Arial" pitchFamily="34" charset="0"/>
                          <a:ea typeface="Arial" pitchFamily="34" charset="-122"/>
                          <a:cs typeface="Arial" pitchFamily="34" charset="-120"/>
                        </a:rPr>
                        <a:t>2,43×</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r>
            </a:tbl>
          </a:graphicData>
        </a:graphic>
      </p:graphicFrame>
      <p:sp>
        <p:nvSpPr>
          <p:cNvPr id="8" name="Text 5"/>
          <p:cNvSpPr txBox="1"/>
          <p:nvPr/>
        </p:nvSpPr>
        <p:spPr>
          <a:xfrm>
            <a:off x="640080" y="3840480"/>
            <a:ext cx="5577840" cy="457200"/>
          </a:xfrm>
          <a:prstGeom prst="rect">
            <a:avLst/>
          </a:prstGeom>
          <a:noFill/>
          <a:ln/>
        </p:spPr>
        <p:txBody>
          <a:bodyPr wrap="square" rtlCol="0" anchor="ctr"/>
          <a:lstStyle/>
          <a:p>
            <a:pPr indent="0" marL="0">
              <a:buNone/>
            </a:pPr>
            <a:r>
              <a:rPr lang="en-US" sz="1100" i="1" dirty="0">
                <a:solidFill>
                  <a:srgbClr val="6B7280"/>
                </a:solidFill>
                <a:latin typeface="Arial" pitchFamily="34" charset="0"/>
                <a:ea typeface="Arial" pitchFamily="34" charset="-122"/>
                <a:cs typeface="Arial" pitchFamily="34" charset="-120"/>
              </a:rPr>
              <a:t>★ workload lớn nhất — lợi ích phân tán rõ nhất (4 exec nhanh hơn 1 exec 2,43×).</a:t>
            </a:r>
            <a:endParaRPr lang="en-US" sz="1100" dirty="0"/>
          </a:p>
        </p:txBody>
      </p:sp>
      <p:pic>
        <p:nvPicPr>
          <p:cNvPr id="9" name="Image 0" descr="scalability_speedup.png">    </p:cNvPr>
          <p:cNvPicPr>
            <a:picLocks noChangeAspect="1"/>
          </p:cNvPicPr>
          <p:nvPr/>
        </p:nvPicPr>
        <p:blipFill>
          <a:blip r:embed="rId1"/>
          <a:stretch>
            <a:fillRect/>
          </a:stretch>
        </p:blipFill>
        <p:spPr>
          <a:xfrm>
            <a:off x="6537960" y="1737360"/>
            <a:ext cx="4709160" cy="2980481"/>
          </a:xfrm>
          <a:prstGeom prst="rect">
            <a:avLst/>
          </a:prstGeom>
        </p:spPr>
      </p:pic>
      <p:sp>
        <p:nvSpPr>
          <p:cNvPr id="10" name="Shape 6"/>
          <p:cNvSpPr/>
          <p:nvPr/>
        </p:nvSpPr>
        <p:spPr>
          <a:xfrm>
            <a:off x="640080" y="4892040"/>
            <a:ext cx="10881360" cy="1371600"/>
          </a:xfrm>
          <a:prstGeom prst="roundRect">
            <a:avLst>
              <a:gd name="adj" fmla="val 4667"/>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1" name="Shape 7"/>
          <p:cNvSpPr/>
          <p:nvPr/>
        </p:nvSpPr>
        <p:spPr>
          <a:xfrm>
            <a:off x="640080" y="4892040"/>
            <a:ext cx="109728" cy="1371600"/>
          </a:xfrm>
          <a:prstGeom prst="roundRect">
            <a:avLst/>
          </a:prstGeom>
          <a:solidFill>
            <a:srgbClr val="E08A3C"/>
          </a:solidFill>
          <a:ln/>
        </p:spPr>
      </p:sp>
      <p:sp>
        <p:nvSpPr>
          <p:cNvPr id="12" name="Text 8"/>
          <p:cNvSpPr txBox="1"/>
          <p:nvPr/>
        </p:nvSpPr>
        <p:spPr>
          <a:xfrm>
            <a:off x="896112" y="4956048"/>
            <a:ext cx="10424160" cy="274320"/>
          </a:xfrm>
          <a:prstGeom prst="rect">
            <a:avLst/>
          </a:prstGeom>
          <a:noFill/>
          <a:ln/>
        </p:spPr>
        <p:txBody>
          <a:bodyPr wrap="square" lIns="0" tIns="0" rIns="0" bIns="0" rtlCol="0" anchor="ctr"/>
          <a:lstStyle/>
          <a:p>
            <a:pPr indent="0" marL="0">
              <a:buNone/>
            </a:pPr>
            <a:r>
              <a:rPr lang="en-US" sz="1250" b="1" dirty="0">
                <a:solidFill>
                  <a:srgbClr val="C06A1E"/>
                </a:solidFill>
                <a:latin typeface="Arial" pitchFamily="34" charset="0"/>
                <a:ea typeface="Arial" pitchFamily="34" charset="-122"/>
                <a:cs typeface="Arial" pitchFamily="34" charset="-120"/>
              </a:rPr>
              <a:t>Vài điều rút ra</a:t>
            </a:r>
            <a:endParaRPr lang="en-US" sz="1250" dirty="0"/>
          </a:p>
        </p:txBody>
      </p:sp>
      <p:sp>
        <p:nvSpPr>
          <p:cNvPr id="13" name="Text 9"/>
          <p:cNvSpPr txBox="1"/>
          <p:nvPr/>
        </p:nvSpPr>
        <p:spPr>
          <a:xfrm>
            <a:off x="896112" y="5230368"/>
            <a:ext cx="10424160" cy="98755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53044"/>
                </a:solidFill>
                <a:latin typeface="Arial" pitchFamily="34" charset="0"/>
                <a:ea typeface="Arial" pitchFamily="34" charset="-122"/>
                <a:cs typeface="Arial" pitchFamily="34" charset="-120"/>
              </a:rPr>
              <a:t>Dữ liệu nhỏ (100K): chia cho 4 máy còn chậm hơn 2 máy — vì thời gian “chia việc và gom lại” nhiều hơn thời gian tính thật.</a:t>
            </a:r>
            <a:endParaRPr lang="en-US" sz="1150" dirty="0"/>
          </a:p>
          <a:p>
            <a:pPr marL="342900" indent="-342900">
              <a:spcAft>
                <a:spcPts val="500"/>
              </a:spcAft>
              <a:buSzPct val="100000"/>
              <a:buChar char="•"/>
            </a:pPr>
            <a:r>
              <a:rPr lang="en-US" sz="1150" dirty="0">
                <a:solidFill>
                  <a:srgbClr val="253044"/>
                </a:solidFill>
                <a:latin typeface="Arial" pitchFamily="34" charset="0"/>
                <a:ea typeface="Arial" pitchFamily="34" charset="-122"/>
                <a:cs typeface="Arial" pitchFamily="34" charset="-120"/>
              </a:rPr>
              <a:t>Gấp đôi số máy không nhanh gấp đôi — dữ liệu phải chuyển qua lại giữa Spark (Java) và Python, cộng thêm bước gom dữ liệu (shuffle).</a:t>
            </a:r>
            <a:endParaRPr lang="en-US" sz="1150" dirty="0"/>
          </a:p>
          <a:p>
            <a:pPr marL="342900" indent="-342900">
              <a:buSzPct val="100000"/>
              <a:buChar char="•"/>
            </a:pPr>
            <a:r>
              <a:rPr lang="en-US" sz="1150" dirty="0">
                <a:solidFill>
                  <a:srgbClr val="253044"/>
                </a:solidFill>
                <a:latin typeface="Arial" pitchFamily="34" charset="0"/>
                <a:ea typeface="Arial" pitchFamily="34" charset="-122"/>
                <a:cs typeface="Arial" pitchFamily="34" charset="-120"/>
              </a:rPr>
              <a:t>Mới chạy 4 worker trên cùng một máy Docker, chưa phải nhiều máy thật — nên đây là bằng chứng về xu hướng, chưa phải đo trên cụm thật.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6</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3.5   </a:t>
            </a:r>
            <a:pPr indent="0" marL="0">
              <a:buNone/>
            </a:pPr>
            <a:r>
              <a:rPr lang="en-US" sz="2300" b="1" dirty="0">
                <a:solidFill>
                  <a:srgbClr val="1F3864"/>
                </a:solidFill>
                <a:latin typeface="Arial" pitchFamily="34" charset="0"/>
                <a:ea typeface="Arial" pitchFamily="34" charset="-122"/>
                <a:cs typeface="Arial" pitchFamily="34" charset="-120"/>
              </a:rPr>
              <a:t>Nhánh mở rộng — máy tự chọn mô hình</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Chạy nhiều mô hình theo 3 tầng, chọn tự động: phân cụm theo silhouette, dự báo theo RMSE/R².</a:t>
            </a:r>
            <a:endParaRPr lang="en-US" sz="1350" dirty="0"/>
          </a:p>
        </p:txBody>
      </p:sp>
      <p:sp>
        <p:nvSpPr>
          <p:cNvPr id="7" name="Text 5"/>
          <p:cNvSpPr txBox="1"/>
          <p:nvPr/>
        </p:nvSpPr>
        <p:spPr>
          <a:xfrm>
            <a:off x="548640" y="1481328"/>
            <a:ext cx="5577840" cy="320040"/>
          </a:xfrm>
          <a:prstGeom prst="rect">
            <a:avLst/>
          </a:prstGeom>
          <a:noFill/>
          <a:ln/>
        </p:spPr>
        <p:txBody>
          <a:bodyPr wrap="square" rtlCol="0" anchor="ctr"/>
          <a:lstStyle/>
          <a:p>
            <a:pPr indent="0" marL="0">
              <a:buNone/>
            </a:pPr>
            <a:r>
              <a:rPr lang="en-US" sz="1400" b="1" dirty="0">
                <a:solidFill>
                  <a:srgbClr val="7A5BA6"/>
                </a:solidFill>
                <a:latin typeface="Arial" pitchFamily="34" charset="0"/>
                <a:ea typeface="Arial" pitchFamily="34" charset="-122"/>
                <a:cs typeface="Arial" pitchFamily="34" charset="-120"/>
              </a:rPr>
              <a:t>Phân cụm vùng  </a:t>
            </a:r>
            <a:pPr indent="0" marL="0">
              <a:buNone/>
            </a:pPr>
            <a:r>
              <a:rPr lang="en-US" sz="1100" dirty="0">
                <a:solidFill>
                  <a:srgbClr val="6B7280"/>
                </a:solidFill>
                <a:latin typeface="Arial" pitchFamily="34" charset="0"/>
                <a:ea typeface="Arial" pitchFamily="34" charset="-122"/>
                <a:cs typeface="Arial" pitchFamily="34" charset="-120"/>
              </a:rPr>
              <a:t>· 2.400 điểm (thành phố × tháng)</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577840" cy="914400"/>
        </p:xfrm>
        <a:graphic>
          <a:graphicData uri="http://schemas.openxmlformats.org/drawingml/2006/table">
            <a:tbl>
              <a:tblPr/>
              <a:tblGrid>
                <a:gridCol w="2423160"/>
                <a:gridCol w="685800"/>
                <a:gridCol w="822960"/>
                <a:gridCol w="164592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Thuật toán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Tầng</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Số cụm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Silhouette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457200">
                <a:tc>
                  <a:txBody>
                    <a:bodyPr/>
                    <a:lstStyle/>
                    <a:p>
                      <a:pPr algn="l" indent="0" marL="0">
                        <a:buNone/>
                      </a:pPr>
                      <a:r>
                        <a:rPr lang="en-US" sz="1150" b="1" dirty="0">
                          <a:solidFill>
                            <a:srgbClr val="253044"/>
                          </a:solidFill>
                          <a:latin typeface="Arial" pitchFamily="34" charset="0"/>
                          <a:ea typeface="Arial" pitchFamily="34" charset="-122"/>
                          <a:cs typeface="Arial" pitchFamily="34" charset="-120"/>
                        </a:rPr>
                        <a:t>K-means (k=3)  ★</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b="1" dirty="0">
                          <a:solidFill>
                            <a:srgbClr val="7A5BA6"/>
                          </a:solidFill>
                          <a:latin typeface="Arial" pitchFamily="34" charset="0"/>
                          <a:ea typeface="Arial" pitchFamily="34" charset="-122"/>
                          <a:cs typeface="Arial" pitchFamily="34" charset="-120"/>
                        </a:rPr>
                        <a:t>0,3547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Bisecting K-means</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0,3398</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GMM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0,2354</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DBSCAN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6</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0,3140</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HDBSCAN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C0504D"/>
                          </a:solidFill>
                          <a:latin typeface="Arial" pitchFamily="34" charset="0"/>
                          <a:ea typeface="Arial" pitchFamily="34" charset="-122"/>
                          <a:cs typeface="Arial" pitchFamily="34" charset="-120"/>
                        </a:rPr>
                        <a:t>bị loại</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bl>
          </a:graphicData>
        </a:graphic>
      </p:graphicFrame>
      <p:sp>
        <p:nvSpPr>
          <p:cNvPr id="9" name="Shape 6"/>
          <p:cNvSpPr/>
          <p:nvPr/>
        </p:nvSpPr>
        <p:spPr>
          <a:xfrm>
            <a:off x="548640" y="4892040"/>
            <a:ext cx="5577840" cy="1143000"/>
          </a:xfrm>
          <a:prstGeom prst="roundRect">
            <a:avLst>
              <a:gd name="adj" fmla="val 56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0" name="Shape 7"/>
          <p:cNvSpPr/>
          <p:nvPr/>
        </p:nvSpPr>
        <p:spPr>
          <a:xfrm>
            <a:off x="548640" y="4892040"/>
            <a:ext cx="109728" cy="1143000"/>
          </a:xfrm>
          <a:prstGeom prst="roundRect">
            <a:avLst/>
          </a:prstGeom>
          <a:solidFill>
            <a:srgbClr val="7A5BA6"/>
          </a:solidFill>
          <a:ln/>
        </p:spPr>
      </p:sp>
      <p:sp>
        <p:nvSpPr>
          <p:cNvPr id="11" name="Text 8"/>
          <p:cNvSpPr txBox="1"/>
          <p:nvPr/>
        </p:nvSpPr>
        <p:spPr>
          <a:xfrm>
            <a:off x="804672" y="4892040"/>
            <a:ext cx="5166360" cy="1143000"/>
          </a:xfrm>
          <a:prstGeom prst="rect">
            <a:avLst/>
          </a:prstGeom>
          <a:noFill/>
          <a:ln/>
        </p:spPr>
        <p:txBody>
          <a:bodyPr wrap="square" rtlCol="0" anchor="ctr"/>
          <a:lstStyle/>
          <a:p>
            <a:pPr indent="0" marL="0">
              <a:buNone/>
            </a:pPr>
            <a:r>
              <a:rPr lang="en-US" sz="1250" b="1" dirty="0">
                <a:solidFill>
                  <a:srgbClr val="7A5BA6"/>
                </a:solidFill>
                <a:latin typeface="Arial" pitchFamily="34" charset="0"/>
                <a:ea typeface="Arial" pitchFamily="34" charset="-122"/>
                <a:cs typeface="Arial" pitchFamily="34" charset="-120"/>
              </a:rPr>
              <a:t>Nhận xét  </a:t>
            </a:r>
            <a:pPr indent="0" marL="0">
              <a:buNone/>
            </a:pPr>
            <a:r>
              <a:rPr lang="en-US" sz="1250" dirty="0">
                <a:solidFill>
                  <a:srgbClr val="253044"/>
                </a:solidFill>
                <a:latin typeface="Arial" pitchFamily="34" charset="0"/>
                <a:ea typeface="Arial" pitchFamily="34" charset="-122"/>
                <a:cs typeface="Arial" pitchFamily="34" charset="-120"/>
              </a:rPr>
              <a:t>K-means thắng nhưng chỉ hơn Bisecting 0,015; silhouette 0,35 = cấu trúc yếu. HDBSCAN bị loại (không thoả ≤6 cụm &amp; nhiễu ≤20%).</a:t>
            </a:r>
            <a:endParaRPr lang="en-US" sz="1250" dirty="0"/>
          </a:p>
        </p:txBody>
      </p:sp>
      <p:sp>
        <p:nvSpPr>
          <p:cNvPr id="12" name="Text 9"/>
          <p:cNvSpPr txBox="1"/>
          <p:nvPr/>
        </p:nvSpPr>
        <p:spPr>
          <a:xfrm>
            <a:off x="6355080" y="1481328"/>
            <a:ext cx="5303520" cy="320040"/>
          </a:xfrm>
          <a:prstGeom prst="rect">
            <a:avLst/>
          </a:prstGeom>
          <a:noFill/>
          <a:ln/>
        </p:spPr>
        <p:txBody>
          <a:bodyPr wrap="square" rtlCol="0" anchor="ctr"/>
          <a:lstStyle/>
          <a:p>
            <a:pPr indent="0" marL="0">
              <a:buNone/>
            </a:pPr>
            <a:r>
              <a:rPr lang="en-US" sz="1400" b="1" dirty="0">
                <a:solidFill>
                  <a:srgbClr val="2E9BA6"/>
                </a:solidFill>
                <a:latin typeface="Arial" pitchFamily="34" charset="0"/>
                <a:ea typeface="Arial" pitchFamily="34" charset="-122"/>
                <a:cs typeface="Arial" pitchFamily="34" charset="-120"/>
              </a:rPr>
              <a:t>Dự báo AQI 24h  </a:t>
            </a:r>
            <a:pPr indent="0" marL="0">
              <a:buNone/>
            </a:pPr>
            <a:r>
              <a:rPr lang="en-US" sz="1100" dirty="0">
                <a:solidFill>
                  <a:srgbClr val="6B7280"/>
                </a:solidFill>
                <a:latin typeface="Arial" pitchFamily="34" charset="0"/>
                <a:ea typeface="Arial" pitchFamily="34" charset="-122"/>
                <a:cs typeface="Arial" pitchFamily="34" charset="-120"/>
              </a:rPr>
              <a:t>· 10 tháng train / 2 tháng test</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55080" y="1828800"/>
          <a:ext cx="5303520" cy="914400"/>
        </p:xfrm>
        <a:graphic>
          <a:graphicData uri="http://schemas.openxmlformats.org/drawingml/2006/table">
            <a:tbl>
              <a:tblPr/>
              <a:tblGrid>
                <a:gridCol w="2011680"/>
                <a:gridCol w="548640"/>
                <a:gridCol w="914400"/>
                <a:gridCol w="914400"/>
                <a:gridCol w="914400"/>
              </a:tblGrid>
              <a:tr h="50292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Mô hình</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Tầng</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RMSE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MAE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R²</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50292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SGD online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20,29</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b="1" dirty="0">
                          <a:solidFill>
                            <a:srgbClr val="253044"/>
                          </a:solidFill>
                          <a:latin typeface="Arial" pitchFamily="34" charset="0"/>
                          <a:ea typeface="Arial" pitchFamily="34" charset="-122"/>
                          <a:cs typeface="Arial" pitchFamily="34" charset="-120"/>
                        </a:rPr>
                        <a:t>9,99</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0,7243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02920">
                <a:tc>
                  <a:txBody>
                    <a:bodyPr/>
                    <a:lstStyle/>
                    <a:p>
                      <a:pPr algn="l" indent="0" marL="0">
                        <a:buNone/>
                      </a:pPr>
                      <a:r>
                        <a:rPr lang="en-US" sz="1150" b="1" dirty="0">
                          <a:solidFill>
                            <a:srgbClr val="253044"/>
                          </a:solidFill>
                          <a:latin typeface="Arial" pitchFamily="34" charset="0"/>
                          <a:ea typeface="Arial" pitchFamily="34" charset="-122"/>
                          <a:cs typeface="Arial" pitchFamily="34" charset="-120"/>
                        </a:rPr>
                        <a:t>Random Forest  ★</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b="1" dirty="0">
                          <a:solidFill>
                            <a:srgbClr val="2E9BA6"/>
                          </a:solidFill>
                          <a:latin typeface="Arial" pitchFamily="34" charset="0"/>
                          <a:ea typeface="Arial" pitchFamily="34" charset="-122"/>
                          <a:cs typeface="Arial" pitchFamily="34" charset="-120"/>
                        </a:rPr>
                        <a:t>20,10</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10,65</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b="1" dirty="0">
                          <a:solidFill>
                            <a:srgbClr val="2E9BA6"/>
                          </a:solidFill>
                          <a:latin typeface="Arial" pitchFamily="34" charset="0"/>
                          <a:ea typeface="Arial" pitchFamily="34" charset="-122"/>
                          <a:cs typeface="Arial" pitchFamily="34" charset="-120"/>
                        </a:rPr>
                        <a:t>0,7297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r>
              <a:tr h="50292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CNN-LSTM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20,37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11,18</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0,7251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bl>
          </a:graphicData>
        </a:graphic>
      </p:graphicFrame>
      <p:sp>
        <p:nvSpPr>
          <p:cNvPr id="14" name="Shape 10"/>
          <p:cNvSpPr/>
          <p:nvPr/>
        </p:nvSpPr>
        <p:spPr>
          <a:xfrm>
            <a:off x="6355080" y="4892040"/>
            <a:ext cx="5303520" cy="1143000"/>
          </a:xfrm>
          <a:prstGeom prst="roundRect">
            <a:avLst>
              <a:gd name="adj" fmla="val 56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5" name="Shape 11"/>
          <p:cNvSpPr/>
          <p:nvPr/>
        </p:nvSpPr>
        <p:spPr>
          <a:xfrm>
            <a:off x="6355080" y="4892040"/>
            <a:ext cx="109728" cy="1143000"/>
          </a:xfrm>
          <a:prstGeom prst="roundRect">
            <a:avLst/>
          </a:prstGeom>
          <a:solidFill>
            <a:srgbClr val="2E9BA6"/>
          </a:solidFill>
          <a:ln/>
        </p:spPr>
      </p:sp>
      <p:sp>
        <p:nvSpPr>
          <p:cNvPr id="16" name="Text 12"/>
          <p:cNvSpPr txBox="1"/>
          <p:nvPr/>
        </p:nvSpPr>
        <p:spPr>
          <a:xfrm>
            <a:off x="6611112" y="4892040"/>
            <a:ext cx="4892040" cy="1143000"/>
          </a:xfrm>
          <a:prstGeom prst="rect">
            <a:avLst/>
          </a:prstGeom>
          <a:noFill/>
          <a:ln/>
        </p:spPr>
        <p:txBody>
          <a:bodyPr wrap="square" rtlCol="0" anchor="ctr"/>
          <a:lstStyle/>
          <a:p>
            <a:pPr indent="0" marL="0">
              <a:buNone/>
            </a:pPr>
            <a:r>
              <a:rPr lang="en-US" sz="1250" b="1" dirty="0">
                <a:solidFill>
                  <a:srgbClr val="2E9BA6"/>
                </a:solidFill>
                <a:latin typeface="Arial" pitchFamily="34" charset="0"/>
                <a:ea typeface="Arial" pitchFamily="34" charset="-122"/>
                <a:cs typeface="Arial" pitchFamily="34" charset="-120"/>
              </a:rPr>
              <a:t>Nhận xét  </a:t>
            </a:r>
            <a:pPr indent="0" marL="0">
              <a:buNone/>
            </a:pPr>
            <a:r>
              <a:rPr lang="en-US" sz="1250" dirty="0">
                <a:solidFill>
                  <a:srgbClr val="253044"/>
                </a:solidFill>
                <a:latin typeface="Arial" pitchFamily="34" charset="0"/>
                <a:ea typeface="Arial" pitchFamily="34" charset="-122"/>
                <a:cs typeface="Arial" pitchFamily="34" charset="-120"/>
              </a:rPr>
              <a:t>Random Forest thắng RMSE &amp; R²; nhưng SGD thắng MAE (9,99). CNN-LSTM test ít mẫu hơn (~120K) nên chỉ mang tính tham khảo.</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2026-09-21T11:14:01Z</dcterms:created>
  <dcterms:modified xsi:type="dcterms:W3CDTF">2026-09-21T11:14:01Z</dcterms:modified>
</cp:coreProperties>
</file>