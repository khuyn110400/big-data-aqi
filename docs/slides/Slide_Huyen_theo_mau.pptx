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đồ: ĐẦU VÀO → Pha1(/clean) → Pha2(/aqi) → Pha3(/agg,HBase) → PHỤC VỤ. Hai NHÁNH MỞ RỘNG chạy NGOÀI lõi, lấy đầu vào từ /aqi (sau Pha 2): (1) Phân cụm vùng — 5 thuật toán, chọn theo silhouette, K-means k=3; (2) Dự báo AQI 24h — SGD/Random Forest/CNN-LSTM, Random Forest thắng. Kết quả cũng đổ về HBase/Dashboard. Đây là phần Khôi/Diệp trình bày sâu; Huyền chỉ giới thiệu vị trí.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pha chi tiết. Pha 1: khử trùng lặp, loại ngoại lai, lưới giờ đầy đủ, nội suy khe ≤3h, 97,6% ngày đạt. Pha 2: NowCast 12h→IAQI→AQI=max, dùng chung aqi_core, /aqi 593MB. Pha 3: gom (thành phố,ngày), đếm mức, xếp hạng, ghi HBase, /agg ~8,26 phút. Chốt: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Nhánh mở rộng — máy tự chọn. Phân cụm: 5 thuật toán 3 tầng, chọn theo silhouette → K-means k=3 (0,3547), thắng sát Bisecting, HDBSCAN loại, cấu trúc yếu. Dự báo: 3 tầng SGD/Random Forest/CNN-LSTM, chọn theo RMSE/R² → Random Forest (20,10; 0,7297); SGD thắng MAE; CNN-LSTM ít mẫu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+ hai nhánh mở rộng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pha lõi (làm sạch → tính AQI → tổng hợp); phân cụm &amp; dự báo chạy ngoài lõi trên /aqi.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(live)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38528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0" name="Shape 8"/>
          <p:cNvSpPr/>
          <p:nvPr/>
        </p:nvSpPr>
        <p:spPr>
          <a:xfrm>
            <a:off x="2212848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12848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9B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12848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22576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95728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key=(trạm,giờ)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22576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95728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· loại ngoại lai · nội suy ≤3h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212848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/clean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17136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9" name="Shape 17"/>
          <p:cNvSpPr/>
          <p:nvPr/>
        </p:nvSpPr>
        <p:spPr>
          <a:xfrm>
            <a:off x="4791456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91456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5A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01184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74336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(NowCast 12h PM)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01184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AQI=max(IAQI)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mức+chất trội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791456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/aqi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95744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70064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4F9D5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70064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79792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52944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key=(thành phố,ngày)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79792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52944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bình/max · đếm mức · xếp hạng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370064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/agg · HBase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74352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37" name="Shape 35"/>
          <p:cNvSpPr/>
          <p:nvPr/>
        </p:nvSpPr>
        <p:spPr>
          <a:xfrm>
            <a:off x="9930384" y="1444752"/>
            <a:ext cx="1801368" cy="4315968"/>
          </a:xfrm>
          <a:prstGeom prst="roundRect">
            <a:avLst>
              <a:gd name="adj" fmla="val 4061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930384" y="2194560"/>
            <a:ext cx="1801368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
</a:t>
            </a:r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Dashboard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212848" y="4114800"/>
            <a:ext cx="7443216" cy="1627632"/>
          </a:xfrm>
          <a:prstGeom prst="roundRect">
            <a:avLst>
              <a:gd name="adj" fmla="val 4494"/>
            </a:avLst>
          </a:prstGeom>
          <a:solidFill>
            <a:srgbClr val="FAFBFE"/>
          </a:solidFill>
          <a:ln w="15875">
            <a:solidFill>
              <a:srgbClr val="7A5BA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377440" y="416966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· ngoài lõi — chạy trên /aqi, máy tự chọn mô hình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24728" y="3840480"/>
            <a:ext cx="219456" cy="256032"/>
          </a:xfrm>
          <a:prstGeom prst="downArrow">
            <a:avLst/>
          </a:prstGeom>
          <a:solidFill>
            <a:srgbClr val="7A5BA6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457200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7A5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569464" y="4572000"/>
            <a:ext cx="324612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K-means · T2 GMM, Bisecting KM · T3 DBSCAN, HDBSCAN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K-means k=3 (silhouette 0,3547)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53328" y="45720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2E9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90488" y="4572000"/>
            <a:ext cx="320040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SGD · T2 Random Forest · T3 CNN-LSTM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Random Forest (RMSE 20,10; R² 0,73)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674352" y="4974336"/>
            <a:ext cx="256032" cy="219456"/>
          </a:xfrm>
          <a:prstGeom prst="rightArrow">
            <a:avLst/>
          </a:prstGeom>
          <a:solidFill>
            <a:srgbClr val="7A5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7200" y="585216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 cài bằng Spark; batch &amp; streaming dùng chung lõi aqi_core.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tiết ba pha xử lý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hợp; mỗi pha thêm một lớp thông tin cho dữ liệu.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3566160" cy="397764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81328"/>
            <a:ext cx="3566160" cy="457200"/>
          </a:xfrm>
          <a:prstGeom prst="roundRect">
            <a:avLst>
              <a:gd name="adj" fmla="val 14000"/>
            </a:avLst>
          </a:prstGeom>
          <a:solidFill>
            <a:srgbClr val="2E9B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1481328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084832"/>
            <a:ext cx="32004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theo (trạm, giờ)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âm / vượt trần vật lý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→ lộ giờ thiếu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≤ 3h; dài hơn giữ trống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" y="4892040"/>
            <a:ext cx="3346704" cy="4572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" y="4892040"/>
            <a:ext cx="334670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ctr" indent="0" marL="0">
              <a:buNone/>
            </a:pPr>
            <a:r>
              <a:rPr lang="en-US" sz="11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/clean · 97,6% ngày đạt chuẩn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51960" y="1481328"/>
            <a:ext cx="3566160" cy="397764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51960" y="1481328"/>
            <a:ext cx="3566160" cy="457200"/>
          </a:xfrm>
          <a:prstGeom prst="roundRect">
            <a:avLst>
              <a:gd name="adj" fmla="val 14000"/>
            </a:avLst>
          </a:prstGeom>
          <a:solidFill>
            <a:srgbClr val="2E5AA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51960" y="1481328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453128" y="2084832"/>
            <a:ext cx="32004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12h / trạm cho bụi PM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(breakpoint QĐ 1459)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→ mức + chất trội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&amp; streaming dùng chung aqi_core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61688" y="4892040"/>
            <a:ext cx="3346704" cy="4572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61688" y="4892040"/>
            <a:ext cx="334670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ctr" indent="0" marL="0">
              <a:buNone/>
            </a:pPr>
            <a:r>
              <a:rPr lang="en-US" sz="11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/aqi · 593 MB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01000" y="1481328"/>
            <a:ext cx="3566160" cy="397764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01000" y="1481328"/>
            <a:ext cx="3566160" cy="457200"/>
          </a:xfrm>
          <a:prstGeom prst="roundRect">
            <a:avLst>
              <a:gd name="adj" fmla="val 14000"/>
            </a:avLst>
          </a:prstGeom>
          <a:solidFill>
            <a:srgbClr val="4F9D5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01000" y="1481328"/>
            <a:ext cx="3566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02168" y="2084832"/>
            <a:ext cx="32004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TB / max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bẩn nhất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HBase cho dashboard đọc nhanh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10728" y="4892040"/>
            <a:ext cx="3346704" cy="4572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10728" y="4892040"/>
            <a:ext cx="334670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ctr" indent="0" marL="0">
              <a:buNone/>
            </a:pPr>
            <a:r>
              <a:rPr lang="en-US" sz="115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/agg + HBase · ~8,26′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56235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lõi: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&amp; streaming gọi CHUNG một lõi aqi_core nên không lệch kết quả; owm_aqi chỉ để đối chiếu, không đưa vào công thức.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51790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 — nội suy tuyến tính theo bảng breakpoint (QĐ 1459)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65376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860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·   x ∈ {PM2.5, PM10, O₃, NO₂, SO₂, CO}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5486400" cy="1874520"/>
          </a:xfrm>
          <a:prstGeom prst="roundRect">
            <a:avLst>
              <a:gd name="adj" fmla="val 341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 ký hiệu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18688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Cₓ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nồng độ đo được (đã đúng cửa sổ)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[BP_low, BP_high]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khoảng nồng độ chứa Cₓ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[I_low, I_high]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khoảng điểm AQI tương ứng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số đầu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độ dốc (1 đơn vị nồng độ → mấy điểm)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lấy chất tệ nhất (= chất trội)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2788920"/>
            <a:ext cx="5468112" cy="1874520"/>
          </a:xfrm>
          <a:prstGeom prst="roundRect">
            <a:avLst>
              <a:gd name="adj" fmla="val 3415"/>
            </a:avLst>
          </a:prstGeom>
          <a:solidFill>
            <a:srgbClr val="EAF3EC"/>
          </a:solidFill>
          <a:ln w="15240">
            <a:solidFill>
              <a:srgbClr val="4F9D5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— PM2.5 (TB 24h) = 35,2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18688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35,2 rơi vào khoảng [25 ; 50] → điểm [50 ; 100]
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0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 = (100−50)/(50−25) × (35,2−25) + 50
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0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= 2 × 10,2 + 50 =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2F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70,4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35,2 nằm ~40% đoạn nồng độ nên điểm cũng ~40% đoạn AQI.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2803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 — tra nhãn/màu từ giá trị AQI cuối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94360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9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427732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427732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9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261104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261104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4476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094476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27848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61220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61220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4892040"/>
            <a:ext cx="109728" cy="137160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49560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Vài điều rút ra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96112" y="5230368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nhỏ (100K): chia cho 4 máy còn chậm hơn 2 máy — vì thời gian “chia việc và gom lại” nhiều hơn thời gian tính thật.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Gấp đôi số máy không nhanh gấp đôi — dữ liệu phải chuyển qua lại giữa Spark (Java) và Python, cộng thêm bước gom dữ liệu (shuffle).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Mới chạy 4 worker trên cùng một máy Docker, chưa phải nhiều máy thật — nên đây là bằng chứng về xu hướng, chưa phải đo trên cụm thật.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Nhánh mở rộng — máy tự chọn mô hình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nhiều mô hình theo 3 tầng, chọn tự động: phân cụm theo silhouette, dự báo theo RMSE/R².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8132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2.400 điểm (thành phố × tháng)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685800"/>
                <a:gridCol w="8229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Thuật toán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cụm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Silhouette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K-means (k=3)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A5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0,3547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Bisecting K-means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0,3398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0,2354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0,3140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50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loại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892040"/>
            <a:ext cx="55778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4892040"/>
            <a:ext cx="109728" cy="1143000"/>
          </a:xfrm>
          <a:prstGeom prst="roundRect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4892040"/>
            <a:ext cx="5166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 thắng nhưng chỉ hơn Bisecting 0,015; silhouette 0,35 = cấu trúc yếu. HDBSCAN bị loại (không thoả ≤6 cụm &amp; nhiễu ≤20%).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148132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10 tháng train / 2 tháng test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hình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SGD online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0,7243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0,7297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CNN-LSTM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55080" y="4892040"/>
            <a:ext cx="530352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55080" y="4892040"/>
            <a:ext cx="109728" cy="1143000"/>
          </a:xfrm>
          <a:prstGeom prst="roundRect">
            <a:avLst/>
          </a:prstGeom>
          <a:solidFill>
            <a:srgbClr val="2E9BA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11112" y="489204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thắng RMSE &amp; R²; nhưng SGD thắng MAE (9,99). CNN-LSTM test ít mẫu hơn (~120K) nên chỉ mang tính tham khảo.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2026-09-21T11:00:35Z</dcterms:created>
  <dcterms:modified xsi:type="dcterms:W3CDTF">2026-09-21T11:00:35Z</dcterms:modified>
</cp:coreProperties>
</file>