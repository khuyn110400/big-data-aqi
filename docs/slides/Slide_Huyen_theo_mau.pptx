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Mở phần Xử lý (Spark). Ba nội dung: pipeline 3 pha, thuật toán AQI, scalability. Câu chốt: Kafka chỉ vận chuyển, HDFS chỉ lưu — Spark là nơi tính.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Sơ đồ: ĐẦU VÀO → Pha1(/clean) → Pha2(/aqi) → Pha3(/agg,HBase) → PHỤC VỤ. Hai NHÁNH MỞ RỘNG chạy NGOÀI lõi, lấy đầu vào từ /aqi (sau Pha 2): (1) Phân cụm vùng — 5 thuật toán, chọn theo silhouette, K-means k=3; (2) Dự báo AQI 24h — SGD/Random Forest/CNN-LSTM, Random Forest thắng. Kết quả cũng đổ về HBase/Dashboard. Đây là phần Khôi/Diệp trình bày sâu; Huyền chỉ giới thiệu vị trí.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1 làm sạch 5 bước. Nhấn bước 3 (lưới giờ giải thích 8,7tr vs 8,5tr) và bước 4 (chỉ nội suy khe ≤3h nên tỉ lệ rất nhỏ, trung thực). 97,6% ngày đủ chuẩn. Ảnh là báo cáo chất lượng thật.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 2: NowCast 12h/trạm → IAQI → AQI=max → mức+chất trội. Pha 3: gom (thành phố,ngày), xếp hạng, ghi HBase. Chốt: dùng chung aqi_core; owm_aqi chỉ đối chiếu.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Đóng góp khoa học: IAQI nội suy tuyến tính theo breakpoint; AQI=max 6 chất; dominant=chất cho max. Ví dụ PM2.5 35,2→70,4. NowCast 12h (giờ) vs TB24h (ngày). Sáu mức QĐ1459.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thời gian Pha 2 theo 1/2/4 executor; ★ 8M speedup 2,43×. 100K overhead nên 4 exec chậm hơn 2. Dưới tuyến tính do UDF serialize+shuffle. Hạn chế: một máy. Chốt: dữ liệu lớn mới thấy lợi ích phân tán → cần Big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Nhánh mở rộng — máy tự chọn. Phân cụm: 5 thuật toán 3 tầng, chọn theo silhouette → K-means k=3 (0,3547), thắng sát Bisecting, HDBSCAN loại, cấu trúc yếu. Dự báo: 3 tầng SGD/Random Forest/CNN-LSTM, chọn theo RMSE/R² → Random Forest (20,10; 0,7297); SGD thắng MAE; CNN-LSTM ít mẫu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dữ liệu — Apache Spark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063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bày: Huyền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sạch → Tính AQI → Tổng hợp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(QĐ 1459)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77640"/>
            <a:ext cx="3383280" cy="1600200"/>
          </a:xfrm>
          <a:prstGeom prst="roundRect">
            <a:avLst>
              <a:gd name="adj" fmla="val 4571"/>
            </a:avLst>
          </a:prstGeom>
          <a:solidFill>
            <a:srgbClr val="27406B"/>
          </a:solidFill>
          <a:ln w="12700">
            <a:solidFill>
              <a:srgbClr val="3C56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4114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468172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5029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cần xử lý phân tán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8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ba pha + hai nhánh mở rộng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pha lõi (làm sạch → tính AQI → tổng hợp); phân cụm &amp; dự báo chạy ngoài lõi trên /aqi.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" y="1965960"/>
            <a:ext cx="1463040" cy="13716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VÀO
</a:t>
            </a:r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HDFS /raw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Kafka (live)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38528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0" name="Shape 8"/>
          <p:cNvSpPr/>
          <p:nvPr/>
        </p:nvSpPr>
        <p:spPr>
          <a:xfrm>
            <a:off x="2212848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12848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9B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212848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· Làm sạch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22576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95728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key=(trạm,giờ)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ghi thô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322576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95728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· loại ngoại lai · nội suy ≤3h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212848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/clean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17136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19" name="Shape 17"/>
          <p:cNvSpPr/>
          <p:nvPr/>
        </p:nvSpPr>
        <p:spPr>
          <a:xfrm>
            <a:off x="4791456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91456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2E5A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91456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· Tính AQI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01184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74336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(NowCast 12h PM)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01184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AQI=max(IAQI)</a:t>
            </a:r>
            <a:endParaRPr lang="en-US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mức+chất trội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791456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/aqi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95744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28" name="Shape 26"/>
          <p:cNvSpPr/>
          <p:nvPr/>
        </p:nvSpPr>
        <p:spPr>
          <a:xfrm>
            <a:off x="7370064" y="1444752"/>
            <a:ext cx="2286000" cy="2432304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70064" y="14447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4F9D5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70064" y="1444752"/>
            <a:ext cx="2286000" cy="4206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· Tổng hợp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479792" y="1938528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E9F0FB"/>
          </a:solidFill>
          <a:ln w="12700">
            <a:solidFill>
              <a:srgbClr val="C7D6E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552944" y="1956816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key=(thành phố,ngày)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79792" y="2743200"/>
            <a:ext cx="2066544" cy="749808"/>
          </a:xfrm>
          <a:prstGeom prst="roundRect">
            <a:avLst>
              <a:gd name="adj" fmla="val 6098"/>
            </a:avLst>
          </a:prstGeom>
          <a:solidFill>
            <a:srgbClr val="FBEBDC"/>
          </a:solidFill>
          <a:ln w="12700">
            <a:solidFill>
              <a:srgbClr val="E8C9A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52944" y="2761488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b="1" spc="100" kern="0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REDUCER  </a:t>
            </a:r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bình/max · đếm mức · xếp hạng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35295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/agg · HBase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674352" y="2487168"/>
            <a:ext cx="256032" cy="219456"/>
          </a:xfrm>
          <a:prstGeom prst="rightArrow">
            <a:avLst/>
          </a:prstGeom>
          <a:solidFill>
            <a:srgbClr val="9AA9C4"/>
          </a:solidFill>
          <a:ln/>
        </p:spPr>
      </p:sp>
      <p:sp>
        <p:nvSpPr>
          <p:cNvPr id="37" name="Shape 35"/>
          <p:cNvSpPr/>
          <p:nvPr/>
        </p:nvSpPr>
        <p:spPr>
          <a:xfrm>
            <a:off x="9930384" y="1444752"/>
            <a:ext cx="1801368" cy="4315968"/>
          </a:xfrm>
          <a:prstGeom prst="roundRect">
            <a:avLst>
              <a:gd name="adj" fmla="val 4061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930384" y="2194560"/>
            <a:ext cx="1801368" cy="11887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PHỤC VỤ
</a:t>
            </a:r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HBase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CFE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Dashboard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212848" y="4114800"/>
            <a:ext cx="7443216" cy="1627632"/>
          </a:xfrm>
          <a:prstGeom prst="roundRect">
            <a:avLst>
              <a:gd name="adj" fmla="val 4494"/>
            </a:avLst>
          </a:prstGeom>
          <a:solidFill>
            <a:srgbClr val="FAFBFE"/>
          </a:solidFill>
          <a:ln w="15875">
            <a:solidFill>
              <a:srgbClr val="7A5BA6"/>
            </a:solidFill>
            <a:prstDash val="dash"/>
          </a:ln>
        </p:spPr>
      </p:sp>
      <p:sp>
        <p:nvSpPr>
          <p:cNvPr id="40" name="Text 38"/>
          <p:cNvSpPr txBox="1"/>
          <p:nvPr/>
        </p:nvSpPr>
        <p:spPr>
          <a:xfrm>
            <a:off x="2377440" y="416966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RỘNG · ngoài lõi — chạy trên /aqi, máy tự chọn mô hình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24728" y="3840480"/>
            <a:ext cx="219456" cy="256032"/>
          </a:xfrm>
          <a:prstGeom prst="downArrow">
            <a:avLst/>
          </a:prstGeom>
          <a:solidFill>
            <a:srgbClr val="7A5BA6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4572000"/>
            <a:ext cx="35204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7A5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2569464" y="4572000"/>
            <a:ext cx="324612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K-means · T2 GMM, Bisecting KM · T3 DBSCAN, HDBSCAN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K-means k=3 (silhouette 0,3547)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053328" y="4572000"/>
            <a:ext cx="34747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2E9BA6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90488" y="4572000"/>
            <a:ext cx="3200400" cy="1024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SGD · T2 Random Forest · T3 CNN-LSTM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thắng: Random Forest (RMSE 20,10; R² 0,73)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674352" y="4974336"/>
            <a:ext cx="256032" cy="219456"/>
          </a:xfrm>
          <a:prstGeom prst="rightArrow">
            <a:avLst/>
          </a:prstGeom>
          <a:solidFill>
            <a:srgbClr val="7A5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57200" y="58521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Mapper ↔ withColumn/map · Reducer ↔ groupBy().agg().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MapReduce cài bằng Spark; batch &amp; streaming dùng chung lõi aqi_core.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1 — Làm sạch dữ liệu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bước biến 8,5 triệu bản ghi thô thành lưới giờ sạch, có gắn cờ chất lượng.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28216"/>
            <a:ext cx="475488" cy="475488"/>
          </a:xfrm>
          <a:prstGeom prst="ellipse">
            <a:avLst/>
          </a:prstGeom>
          <a:solidFill>
            <a:srgbClr val="2E9B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28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169164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Khử trùng lặp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theo (trạm, giờ)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551176"/>
            <a:ext cx="475488" cy="475488"/>
          </a:xfrm>
          <a:prstGeom prst="ellipse">
            <a:avLst/>
          </a:prstGeom>
          <a:solidFill>
            <a:srgbClr val="2E5AA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511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514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giá trị lỗi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âm / vượt trần vật lý → bỏ ô đó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74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3375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Dựng lưới giờ đầy đủ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lộ giờ mất bản ghi (8.769.600 vs 8.576.904)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197096"/>
            <a:ext cx="475488" cy="475488"/>
          </a:xfrm>
          <a:prstGeom prst="ellipse">
            <a:avLst/>
          </a:prstGeom>
          <a:solidFill>
            <a:srgbClr val="E08A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197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6052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suy khe ngắn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thiếu ≤ 3 giờ; dài hơn → giữ trống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0056"/>
            <a:ext cx="475488" cy="475488"/>
          </a:xfrm>
          <a:prstGeom prst="ellipse">
            <a:avLst/>
          </a:prstGeom>
          <a:solidFill>
            <a:srgbClr val="4F9D5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5020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98348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Gộp theo ngày  </a:t>
            </a:r>
            <a:pPr indent="0" marL="0">
              <a:buNone/>
            </a:pPr>
            <a:r>
              <a:rPr lang="en-US" sz="12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TB 24h; ngày đạt nếu ≥ 75% dữ liệu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46520" y="1737360"/>
            <a:ext cx="5120640" cy="2148840"/>
          </a:xfrm>
          <a:prstGeom prst="roundRect">
            <a:avLst>
              <a:gd name="adj" fmla="val 2553"/>
            </a:avLst>
          </a:prstGeom>
          <a:solidFill>
            <a:srgbClr val="0C1526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pic>
        <p:nvPicPr>
          <p:cNvPr id="23" name="Image 0" descr="fig_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828800"/>
            <a:ext cx="4937760" cy="182205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46520" y="39136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Hình 5.3 — báo cáo chất lượng dữ liệu sau Pha 1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446520" y="434340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675120" y="440740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97,6%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440740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ngày đủ chuẩn tính AQI ngày (≥ 75% dữ liệu)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510235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Tỉ lệ nội suy &lt; 0,02% (chỉ khe ≤ 3h) → giữ tính trung thực của dữ liệu.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tính AQI · Pha 3 tổng hợp &amp; xếp hạng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Tính AQI từng giờ cho mỗi trạm, rồi tổng hợp theo thành phố để phục vụ dashboard.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44068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19019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2 — Tính AQI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28600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NowCast 12 giờ / trạm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trung bình có trọng số cho PM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00400" y="288950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68680" y="301752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01752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IAQI từng chất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tra bảng breakpoint QĐ 1459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0" y="3621024"/>
            <a:ext cx="201168" cy="128016"/>
          </a:xfrm>
          <a:prstGeom prst="downArrow">
            <a:avLst/>
          </a:prstGeom>
          <a:solidFill>
            <a:srgbClr val="AEBCD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749040"/>
            <a:ext cx="4983480" cy="603504"/>
          </a:xfrm>
          <a:prstGeom prst="roundRect">
            <a:avLst>
              <a:gd name="adj" fmla="val 7576"/>
            </a:avLst>
          </a:prstGeom>
          <a:solidFill>
            <a:srgbClr val="E9F0FB"/>
          </a:solidFill>
          <a:ln w="12700">
            <a:solidFill>
              <a:srgbClr val="D6DE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749040"/>
            <a:ext cx="4709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AQI = max(IAQI)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gán mức + chất trội (dominant)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63640" y="1783080"/>
            <a:ext cx="5257800" cy="2788920"/>
          </a:xfrm>
          <a:prstGeom prst="roundRect">
            <a:avLst>
              <a:gd name="adj" fmla="val 229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92240" y="19019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9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 3 — Tổng hợp &amp; xếp hạng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286000"/>
            <a:ext cx="48463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Gom theo (thành phố, ngày): trung bình / max AQI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Đếm số giờ ở mỗi mức chất lượng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Xếp hạng thành phố — hạng 1 = ô nhiễm nhất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kết quả vào HBase để dashboard đọc nhanh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754880"/>
            <a:ext cx="109728" cy="960120"/>
          </a:xfrm>
          <a:prstGeom prst="roundRect">
            <a:avLst/>
          </a:prstGeom>
          <a:solidFill>
            <a:srgbClr val="2E5AA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6112" y="4754880"/>
            <a:ext cx="10469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cốt lõi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batch và streaming gọi CHUNG module aqi_core → hai làn không thể cho kết quả khác nhau. owm_aqi chỉ để đối chiếu, không đưa vào công thức.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AQI — đóng góp khoa học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tính AQI chuẩn Việt Nam từ nồng độ, thay vì dùng chỉ số 1–5 có sẵn của OpenWeather.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11091672" cy="1234440"/>
          </a:xfrm>
          <a:prstGeom prst="roundRect">
            <a:avLst>
              <a:gd name="adj" fmla="val 5185"/>
            </a:avLst>
          </a:prstGeom>
          <a:solidFill>
            <a:srgbClr val="1F3864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517904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DB8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thức — nội suy tuyến tính theo bảng breakpoint (QĐ 1459)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65376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IAQIₓ = (I_high − I_low) / (BP_high − BP_low) × (Cₓ − BP_low) + I_low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86000"/>
            <a:ext cx="10515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AQI = max( IAQIₓ )   ·   x ∈ {PM2.5, PM10, O₃, NO₂, SO₂, CO}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88920"/>
            <a:ext cx="5486400" cy="1874520"/>
          </a:xfrm>
          <a:prstGeom prst="roundRect">
            <a:avLst>
              <a:gd name="adj" fmla="val 3415"/>
            </a:avLst>
          </a:prstGeom>
          <a:solidFill>
            <a:srgbClr val="F4F7FC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 ký hiệu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Cₓ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nồng độ đo được (đã đúng cửa sổ)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[BP_low, BP_high]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nồng độ chứa Cₓ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[I_low, I_high]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khoảng điểm AQI tương ứng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số đầu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độ dốc (1 đơn vị nồng độ → mấy điểm)
</a:t>
            </a:r>
            <a:endParaRPr lang="en-US" sz="1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</a:t>
            </a:r>
            <a:pPr indent="0" marL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lấy chất tệ nhất (= chất trội)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2788920"/>
            <a:ext cx="5468112" cy="1874520"/>
          </a:xfrm>
          <a:prstGeom prst="roundRect">
            <a:avLst>
              <a:gd name="adj" fmla="val 3415"/>
            </a:avLst>
          </a:prstGeom>
          <a:solidFill>
            <a:srgbClr val="EAF3EC"/>
          </a:solidFill>
          <a:ln w="15240">
            <a:solidFill>
              <a:srgbClr val="4F9D5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— PM2.5 (TB 24h) = 35,2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218688"/>
            <a:ext cx="5074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35,2 rơi vào khoảng [25 ; 50] → điểm [50 ; 100]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IAQI = (100−50)/(50−25) × (35,2−25) + 50
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530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= 2 × 10,2 + 50 = </a:t>
            </a:r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2F7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70,4</a:t>
            </a:r>
            <a:endParaRPr lang="en-US" sz="11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35,2 nằm ~40% đoạn nồng độ nên điểm cũng ~40% đoạn AQI.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28032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Sáu mức AQI theo QĐ 1459 — tra nhãn/màu từ giá trị AQI cuối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4CAF5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9436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0–50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427732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4C43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427732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
</a:t>
            </a:r>
            <a:pPr algn="ctr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Trung bình
</a:t>
            </a:r>
            <a:pPr algn="ctr" indent="0" marL="0">
              <a:buNone/>
            </a:pPr>
            <a:r>
              <a:rPr lang="en-US" sz="950" dirty="0">
                <a:solidFill>
                  <a:srgbClr val="3340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51–100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261104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F3722C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261104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Kém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101–150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094476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D62828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094476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151–200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8E44AD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927848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Rất xấu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201–300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61220" y="5138928"/>
            <a:ext cx="1714500" cy="932688"/>
          </a:xfrm>
          <a:prstGeom prst="roundRect">
            <a:avLst>
              <a:gd name="adj" fmla="val 5882"/>
            </a:avLst>
          </a:prstGeom>
          <a:solidFill>
            <a:srgbClr val="7B2410"/>
          </a:solidFill>
          <a:ln/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761220" y="5138928"/>
            <a:ext cx="1714500" cy="9326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hại
</a:t>
            </a:r>
            <a:pPr algn="ctr" indent="0" marL="0">
              <a:buNone/>
            </a:pPr>
            <a:r>
              <a:rPr lang="en-US" sz="950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301–500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nghiệm scalability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 riêng Pha 2 trên dữ liệu tổng hợp — chứng minh: dữ liệu càng lớn, phân tán càng lợi.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Workload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exec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Speedup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48,4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2,04×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8M  ★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 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5AA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2,43×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3840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workload lớn nhất — lợi ích phân tán rõ nhất (4 exec nhanh hơn 1 exec 2,43×).</a:t>
            </a:r>
            <a:endParaRPr lang="en-US" sz="1100" dirty="0"/>
          </a:p>
        </p:txBody>
      </p:sp>
      <p:pic>
        <p:nvPicPr>
          <p:cNvPr id="9" name="Image 0" descr="scalability_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4709160" cy="2980481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4892040"/>
            <a:ext cx="10881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0080" y="4892040"/>
            <a:ext cx="109728" cy="1371600"/>
          </a:xfrm>
          <a:prstGeom prst="roundRect">
            <a:avLst/>
          </a:prstGeom>
          <a:solidFill>
            <a:srgbClr val="E08A3C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96112" y="49560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6A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Vài điều rút ra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896112" y="5230368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nhỏ (100K): chia cho 4 máy còn chậm hơn 2 máy — vì thời gian “chia việc và gom lại” nhiều hơn thời gian tính thật.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Gấp đôi số máy không nhanh gấp đôi — dữ liệu phải chuyển qua lại giữa Spark (Java) và Python, cộng thêm bước gom dữ liệu (shuffle).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Mới chạy 4 worker trên cùng một máy Docker, chưa phải nhiều máy thật — nên đây là bằng chứng về xu hướng, chưa phải đo trên cụm thật.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Công nghệ Thông tin, ĐHQG-HCM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128016" cy="566928"/>
          </a:xfrm>
          <a:prstGeom prst="rect">
            <a:avLst/>
          </a:prstGeom>
          <a:solidFill>
            <a:srgbClr val="2E5AA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02336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5A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  </a:t>
            </a:r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Nhánh mở rộng — máy tự chọn mô hình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02412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nhiều mô hình theo 3 tầng, chọn tự động: phân cụm theo silhouette, dự báo theo RMSE/R².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81328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cụm vùng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2.400 điểm (thành phố × tháng)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57784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685800"/>
                <a:gridCol w="8229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Thuật toán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cụm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Silhouette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K-means (k=3)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7A5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0,3547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Bisecting K-means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0,2354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0,3140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HDBSCAN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050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loại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892040"/>
            <a:ext cx="55778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4892040"/>
            <a:ext cx="109728" cy="1143000"/>
          </a:xfrm>
          <a:prstGeom prst="roundRect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" y="4892040"/>
            <a:ext cx="5166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 thắng nhưng chỉ hơn Bisecting 0,015; silhouette 0,35 = cấu trúc yếu. HDBSCAN bị loại (không thoả ≤6 cụm &amp; nhiễu ≤20%).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148132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 AQI 24h  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10 tháng train / 2 tháng test</a:t>
            </a:r>
            <a:endParaRPr lang="en-US" sz="14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4864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SGD online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9,99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0,7243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 ★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20,10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10,65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9B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0,7297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CNN-LSTM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11,18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530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0,7251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55080" y="4892040"/>
            <a:ext cx="530352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D6DE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6B8">
                <a:alpha val="3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55080" y="4892040"/>
            <a:ext cx="109728" cy="1143000"/>
          </a:xfrm>
          <a:prstGeom prst="roundRect">
            <a:avLst/>
          </a:prstGeom>
          <a:solidFill>
            <a:srgbClr val="2E9BA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611112" y="4892040"/>
            <a:ext cx="4892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9B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xét  </a:t>
            </a:r>
            <a:pPr indent="0" marL="0">
              <a:buNone/>
            </a:pPr>
            <a:r>
              <a:rPr lang="en-US" sz="1250" dirty="0">
                <a:solidFill>
                  <a:srgbClr val="2530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thắng RMSE &amp; R²; nhưng SGD thắng MAE (9,99). CNN-LSTM test ít mẫu hơn (~120K) nên chỉ mang tính tham khảo.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2026-09-21T10:50:54Z</dcterms:created>
  <dcterms:modified xsi:type="dcterms:W3CDTF">2026-09-21T10:50:54Z</dcterms:modified>
</cp:coreProperties>
</file>