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Xử lý (Spark). Ba nội dung: pipeline 3 pha, thuật toán AQI, scalability. Câu chốt: Kafka chỉ vận chuyển, HDFS chỉ lưu — Spark là nơi tính.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đồ: ĐẦU VÀO → Pha1(/clean) → Pha2(/aqi) → Pha3(/agg,HBase) → PHỤC VỤ. Hai NHÁNH MỞ RỘNG chạy NGOÀI lõi, lấy đầu vào từ /aqi (sau Pha 2): (1) Phân cụm vùng — 5 thuật toán, chọn theo silhouette, K-means k=3; (2) Dự báo AQI 24h — SGD/Random Forest/CNN-LSTM, Random Forest thắng. Kết quả cũng đổ về HBase/Dashboard. Đây là phần Khôi/Diệp trình bày sâu; Huyền chỉ giới thiệu vị trí.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pha chi tiết. Pha 1: khử trùng lặp, loại ngoại lai, lưới giờ đầy đủ, nội suy khe ≤3h, 97,6% ngày đạt. Pha 2: NowCast 12h→IAQI→AQI=max, dùng chung aqi_core, /aqi 593MB. Pha 3: gom (thành phố,ngày), đếm mức, xếp hạng, ghi HBase, /agg ~8,26 phút. Chốt: chung aqi_core; owm_aqi chỉ đối chiếu.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Đóng góp khoa học: IAQI nội suy tuyến tính theo breakpoint; AQI=max 6 chất; dominant=chất cho max. Ví dụ PM2.5 35,2→70,4. NowCast 12h (giờ) vs TB24h (ngày). Sáu mức QĐ1459.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thời gian Pha 2 theo 1/2/4 executor; ★ 8M speedup 2,43×. 100K overhead nên 4 exec chậm hơn 2. Dưới tuyến tính do UDF serialize+shuffle. Hạn chế: một máy. Chốt: dữ liệu lớn mới thấy lợi ích phân tán → cần Big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Nhánh mở rộng — máy tự chọn. Phân cụm: 5 thuật toán 3 tầng, chọn theo silhouette → K-means k=3 (0,3547), thắng sát Bisecting, HDBSCAN loại, cấu trúc yếu. Dự báo: 3 tầng SGD/Random Forest/CNN-LSTM, chọn theo RMSE/R² → Random Forest (20,10; 0,7297); SGD thắng MAE; CNN-LSTM ít mẫu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dữ liệu — Apache Spark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bày: Huyền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27406B"/>
          </a:solidFill>
          <a:ln w="12700">
            <a:solidFill>
              <a:srgbClr val="3C5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681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ba pha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sạch → Tính AQI → Tổng hợp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39776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27406B"/>
          </a:solidFill>
          <a:ln w="12700">
            <a:solidFill>
              <a:srgbClr val="3C5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681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AQI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khoa học (QĐ 1459)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9776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27406B"/>
          </a:solidFill>
          <a:ln w="12700">
            <a:solidFill>
              <a:srgbClr val="3C56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4681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xử lý phân tán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28016" cy="5669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023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  </a:t>
            </a:r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ba pha + hai nhánh mở rộng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pha lõi (làm sạch → tính AQI → tổng hợp); phân cụm &amp; dự báo chạy ngoài lõi trên /aqi.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965960"/>
            <a:ext cx="14630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
</a:t>
            </a:r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/raw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(live)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487168"/>
            <a:ext cx="256032" cy="219456"/>
          </a:xfrm>
          <a:prstGeom prst="rightArrow">
            <a:avLst/>
          </a:prstGeom>
          <a:solidFill>
            <a:srgbClr val="9A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2212848" y="1444752"/>
            <a:ext cx="2286000" cy="2432304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2848" y="1444752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2E9B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12848" y="1444752"/>
            <a:ext cx="2286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1 · Làm sạch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22576" y="1938528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E9F0FB"/>
          </a:solidFill>
          <a:ln w="12700">
            <a:solidFill>
              <a:srgbClr val="C7D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95728" y="195681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key=(trạm,giờ)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ghi thô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22576" y="2743200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FBEBDC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95728" y="27614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C0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khử trùng lặp · loại ngoại lai · nội suy ≤3h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212848" y="3529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/clean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17136" y="2487168"/>
            <a:ext cx="256032" cy="219456"/>
          </a:xfrm>
          <a:prstGeom prst="rightArrow">
            <a:avLst/>
          </a:prstGeom>
          <a:solidFill>
            <a:srgbClr val="9AA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91456" y="1444752"/>
            <a:ext cx="2286000" cy="2432304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91456" y="1444752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2E5AA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91456" y="1444752"/>
            <a:ext cx="2286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2 · Tính AQI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01184" y="1938528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E9F0FB"/>
          </a:solidFill>
          <a:ln w="12700">
            <a:solidFill>
              <a:srgbClr val="C7D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74336" y="195681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IAQI từng chất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(NowCast 12h PM)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01184" y="2743200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FBEBDC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74336" y="27614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C0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AQI=max(IAQI)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mức+chất trội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791456" y="3529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/aqi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95744" y="2487168"/>
            <a:ext cx="256032" cy="219456"/>
          </a:xfrm>
          <a:prstGeom prst="rightArrow">
            <a:avLst/>
          </a:prstGeom>
          <a:solidFill>
            <a:srgbClr val="9AA9C4"/>
          </a:solidFill>
          <a:ln/>
        </p:spPr>
      </p:sp>
      <p:sp>
        <p:nvSpPr>
          <p:cNvPr id="28" name="Shape 26"/>
          <p:cNvSpPr/>
          <p:nvPr/>
        </p:nvSpPr>
        <p:spPr>
          <a:xfrm>
            <a:off x="7370064" y="1444752"/>
            <a:ext cx="2286000" cy="2432304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70064" y="1444752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4F9D5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0064" y="1444752"/>
            <a:ext cx="2286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3 · Tổng hợp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79792" y="1938528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E9F0FB"/>
          </a:solidFill>
          <a:ln w="12700">
            <a:solidFill>
              <a:srgbClr val="C7D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52944" y="195681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key=(thành phố,ngày)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79792" y="2743200"/>
            <a:ext cx="2066544" cy="749808"/>
          </a:xfrm>
          <a:prstGeom prst="roundRect">
            <a:avLst>
              <a:gd name="adj" fmla="val 6098"/>
            </a:avLst>
          </a:prstGeom>
          <a:solidFill>
            <a:srgbClr val="FBEBDC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52944" y="27614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C0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 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bình/max · đếm mức · xếp hạng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370064" y="3529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9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/agg · HBase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74352" y="2487168"/>
            <a:ext cx="256032" cy="219456"/>
          </a:xfrm>
          <a:prstGeom prst="rightArrow">
            <a:avLst/>
          </a:prstGeom>
          <a:solidFill>
            <a:srgbClr val="9AA9C4"/>
          </a:solidFill>
          <a:ln/>
        </p:spPr>
      </p:sp>
      <p:sp>
        <p:nvSpPr>
          <p:cNvPr id="37" name="Shape 35"/>
          <p:cNvSpPr/>
          <p:nvPr/>
        </p:nvSpPr>
        <p:spPr>
          <a:xfrm>
            <a:off x="9930384" y="1444752"/>
            <a:ext cx="1801368" cy="4315968"/>
          </a:xfrm>
          <a:prstGeom prst="roundRect">
            <a:avLst>
              <a:gd name="adj" fmla="val 406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930384" y="2194560"/>
            <a:ext cx="1801368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PHỤC VỤ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Dashboard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12848" y="4114800"/>
            <a:ext cx="7443216" cy="1627632"/>
          </a:xfrm>
          <a:prstGeom prst="roundRect">
            <a:avLst>
              <a:gd name="adj" fmla="val 4494"/>
            </a:avLst>
          </a:prstGeom>
          <a:solidFill>
            <a:srgbClr val="FAFBFE"/>
          </a:solidFill>
          <a:ln w="15875">
            <a:solidFill>
              <a:srgbClr val="7A5BA6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2377440" y="41696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· ngoài lõi — chạy trên /aqi, máy tự chọn mô hình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24728" y="3840480"/>
            <a:ext cx="219456" cy="256032"/>
          </a:xfrm>
          <a:prstGeom prst="downArrow">
            <a:avLst/>
          </a:prstGeom>
          <a:solidFill>
            <a:srgbClr val="7A5BA6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2304" y="457200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7A5BA6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569464" y="4572000"/>
            <a:ext cx="3246120" cy="102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A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cụm vùng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K-means · T2 GMM, Bisecting KM · T3 DBSCAN, HDBSCAN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thắng: K-means k=3 (silhouette 0,3547)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53328" y="4572000"/>
            <a:ext cx="34747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2E9BA6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190488" y="4572000"/>
            <a:ext cx="3200400" cy="102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báo AQI 24h
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SGD · T2 Random Forest · T3 CNN-LSTM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thắng: Random Forest (RMSE 20,10; R² 0,73)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74352" y="4974336"/>
            <a:ext cx="256032" cy="219456"/>
          </a:xfrm>
          <a:prstGeom prst="rightArrow">
            <a:avLst/>
          </a:prstGeom>
          <a:solidFill>
            <a:srgbClr val="7A5BA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5852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↔ withColumn/map · Reducer ↔ groupBy().agg().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 cài bằng Spark; batch &amp; streaming dùng chung lõi aqi_core.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28016" cy="5669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023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  </a:t>
            </a:r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ba pha xử lý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sạch → tính AQI → tổng hợp; mỗi pha thêm một lớp thông tin cho dữ liệu.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2E9B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1 · Làm sạch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084832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Khử trùng lặp theo (trạm, giờ)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giá trị âm / vượt trần vật lý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Dựng lưới giờ đầy đủ → lộ giờ thiếu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suy khe ≤ 3h; dài hơn giữ trống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4892040"/>
            <a:ext cx="3346704" cy="4572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4892040"/>
            <a:ext cx="33467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buNone/>
            </a:pPr>
            <a:r>
              <a:rPr lang="en-US" sz="115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/clean · 97,6% ngày đạt chuẩn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481328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48132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2E5AA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2 · Tính AQI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53128" y="2084832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NowCast 12h / trạm cho bụi PM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IAQI từng chất (breakpoint QĐ 1459)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 = max(IAQI) → mức + chất trội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&amp; streaming dùng chung aqi_core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1688" y="4892040"/>
            <a:ext cx="3346704" cy="4572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61688" y="4892040"/>
            <a:ext cx="33467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buNone/>
            </a:pPr>
            <a:r>
              <a:rPr lang="en-US" sz="11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/aqi · 593 MB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1481328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48132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4F9D5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100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 3 · Tổng hợp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02168" y="2084832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 theo (thành phố, ngày): TB / max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số giờ ở mỗi mức chất lượng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thành phố — hạng 1 = bẩn nhất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HBase cho dashboard đọc nhanh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10728" y="4892040"/>
            <a:ext cx="3346704" cy="4572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10728" y="4892040"/>
            <a:ext cx="33467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9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buNone/>
            </a:pPr>
            <a:r>
              <a:rPr lang="en-US" sz="1150" b="1" dirty="0">
                <a:solidFill>
                  <a:srgbClr val="4F9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/agg + HBase · ~8,26′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mấu chốt:  </a:t>
            </a:r>
            <a:pPr indent="0" marL="0">
              <a:buNone/>
            </a:pPr>
            <a:r>
              <a:rPr lang="en-US" sz="12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&amp; streaming gọi CHUNG một lõi aqi_core nên không lệch kết quả; owm_aqi chỉ để đối chiếu, không đưa vào công thức.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28016" cy="5669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023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  </a:t>
            </a:r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AQI — đóng góp khoa học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tính AQI chuẩn Việt Nam từ nồng độ, thay vì dùng chỉ số 1–5 có sẵn của OpenWeather.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51790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— nội suy tuyến tính theo bảng breakpoint (QĐ 1459)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6537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IAQIₓ = (I_high − I_low) / (BP_high − BP_low) × (Cₓ − BP_low) + I_low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 = max( IAQIₓ )   ·   x ∈ {PM2.5, PM10, O₃, NO₂, SO₂, CO}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4F7FC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ký hiệu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18688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Cₓ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nồng độ đo được (đã đúng cửa sổ)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[BP_low, BP_high]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khoảng nồng độ chứa Cₓ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[I_low, I_high]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khoảng điểm AQI tương ứng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số đầu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độ dốc (1 đơn vị nồng độ → mấy điểm)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lấy chất tệ nhất (= chất trội)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788920"/>
            <a:ext cx="5468112" cy="1874520"/>
          </a:xfrm>
          <a:prstGeom prst="roundRect">
            <a:avLst>
              <a:gd name="adj" fmla="val 3415"/>
            </a:avLst>
          </a:prstGeom>
          <a:solidFill>
            <a:srgbClr val="EAF3EC"/>
          </a:solidFill>
          <a:ln w="15240">
            <a:solidFill>
              <a:srgbClr val="4F9D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— PM2.5 (TB 24h) = 35,2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18688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35,2 rơi vào khoảng [25 ; 50] → điểm [50 ; 100]
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IAQI = (100−50)/(50−25) × (35,2−25) + 50
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53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2 × 10,2 + 50 =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F7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70,4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35,2 nằm ~40% đoạn nồng độ nên điểm cũng ~40% đoạn AQI.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mức AQI theo QĐ 1459 — tra nhãn/màu từ giá trị AQI cuối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4CAF50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
</a:t>
            </a:r>
            <a:pPr algn="ctr" indent="0" marL="0">
              <a:buNone/>
            </a:pPr>
            <a:r>
              <a:rPr lang="en-US" sz="950" dirty="0">
                <a:solidFill>
                  <a:srgbClr val="33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0–50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27732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F4C430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427732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
</a:t>
            </a:r>
            <a:pPr algn="ctr" indent="0" marL="0">
              <a:buNone/>
            </a:pPr>
            <a:r>
              <a:rPr lang="en-US" sz="950" dirty="0">
                <a:solidFill>
                  <a:srgbClr val="33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51–100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61104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F3722C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261104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Kém
</a:t>
            </a:r>
            <a:pPr algn="ctr"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101–150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4476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D62828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094476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Xấu
</a:t>
            </a:r>
            <a:pPr algn="ctr"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151–200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27848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8E44AD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27848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xấu
</a:t>
            </a:r>
            <a:pPr algn="ctr"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201–300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61220" y="5138928"/>
            <a:ext cx="1714500" cy="932688"/>
          </a:xfrm>
          <a:prstGeom prst="roundRect">
            <a:avLst>
              <a:gd name="adj" fmla="val 5882"/>
            </a:avLst>
          </a:prstGeom>
          <a:solidFill>
            <a:srgbClr val="7B2410"/>
          </a:solidFill>
          <a:ln/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761220" y="5138928"/>
            <a:ext cx="17145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hại
</a:t>
            </a:r>
            <a:pPr algn="ctr" indent="0" marL="0">
              <a:buNone/>
            </a:pPr>
            <a:r>
              <a:rPr lang="en-US" sz="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301–500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28016" cy="5669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023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  </a:t>
            </a:r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nghiệm scalability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riêng Pha 2 trên dữ liệu tổng hợp — chứng minh: dữ liệu càng lớn, phân tán càng lợi.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5156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exec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exec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exec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99,0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8M  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5A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2,43×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38404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workload lớn nhất — lợi ích phân tán rõ nhất (4 exec nhanh hơn 1 exec 2,43×).</a:t>
            </a:r>
            <a:endParaRPr lang="en-US" sz="1100" dirty="0"/>
          </a:p>
        </p:txBody>
      </p:sp>
      <p:pic>
        <p:nvPicPr>
          <p:cNvPr id="9" name="Image 0" descr="scalability_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709160" cy="298048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" y="4892040"/>
            <a:ext cx="109728" cy="1371600"/>
          </a:xfrm>
          <a:prstGeom prst="roundRect">
            <a:avLst/>
          </a:prstGeom>
          <a:solidFill>
            <a:srgbClr val="E08A3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96112" y="49560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Vài điều rút ra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96112" y="5230368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nhỏ (100K): chia cho 4 máy còn chậm hơn 2 máy — vì thời gian “chia việc và gom lại” nhiều hơn thời gian tính thật.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Gấp đôi số máy không nhanh gấp đôi — dữ liệu phải chuyển qua lại giữa Spark (Java) và Python, cộng thêm bước gom dữ liệu (shuffle).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Mới chạy 4 worker trên cùng một máy Docker, chưa phải nhiều máy thật — nên đây là bằng chứng về xu hướng, chưa phải đo trên cụm thật.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Công nghệ Thông tin, ĐHQG-HCM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28016" cy="5669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02336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  </a:t>
            </a:r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mở rộng — máy tự chọn mô hình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nhiều mô hình theo 3 tầng, chọn tự động: phân cụm theo silhouette, dự báo theo RMSE/R².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813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cụm vùng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2.400 điểm (thành phố × tháng)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685800"/>
                <a:gridCol w="8229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Thuật toán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cụm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Silhouette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(k=3)  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A5B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0,3547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Bisecting K-means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0,3398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0,2354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DBSCAN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HDBSCAN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5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bị loại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92040"/>
            <a:ext cx="5577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4892040"/>
            <a:ext cx="109728" cy="1143000"/>
          </a:xfrm>
          <a:prstGeom prst="roundRect">
            <a:avLst/>
          </a:prstGeom>
          <a:solidFill>
            <a:srgbClr val="7A5B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" y="4892040"/>
            <a:ext cx="5166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xét  </a:t>
            </a:r>
            <a:pPr indent="0" marL="0">
              <a:buNone/>
            </a:pPr>
            <a:r>
              <a:rPr lang="en-US" sz="12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thắng nhưng chỉ hơn Bisecting 0,015; silhouette 0,35 = cấu trúc yếu. HDBSCAN bị loại (không thoả ≤6 cụm &amp; nhiễu ≤20%).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14813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báo AQI 24h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10 tháng train / 2 tháng test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hình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SGD online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 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B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9B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0,7297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CNN-LSTM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30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55080" y="4892040"/>
            <a:ext cx="53035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4892040"/>
            <a:ext cx="109728" cy="1143000"/>
          </a:xfrm>
          <a:prstGeom prst="roundRect">
            <a:avLst/>
          </a:prstGeom>
          <a:solidFill>
            <a:srgbClr val="2E9BA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11112" y="48920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xét  </a:t>
            </a:r>
            <a:pPr indent="0" marL="0">
              <a:buNone/>
            </a:pPr>
            <a:r>
              <a:rPr lang="en-US" sz="1250" dirty="0">
                <a:solidFill>
                  <a:srgbClr val="25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thắng RMSE &amp; R²; nhưng SGD thắng MAE (9,99). CNN-LSTM test ít mẫu hơn (~120K) nên chỉ mang tính tham khảo.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2026-09-21T11:02:24Z</dcterms:created>
  <dcterms:modified xsi:type="dcterms:W3CDTF">2026-09-21T11:02:24Z</dcterms:modified>
</cp:coreProperties>
</file>