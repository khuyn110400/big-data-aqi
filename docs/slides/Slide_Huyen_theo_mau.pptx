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Mở phần Xử lý (Spark). Ba nội dung: pipeline 3 pha, thuật toán AQI, scalability. Câu chốt: Kafka chỉ vận chuyển, HDFS chỉ lưu — Spark là nơi tính.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Sơ đồ pipeline 3 pha: ĐẦU VÀO → Pha1(Mapper: gắn key (trạm,giờ) / Reducer: khử trùng lặp, nội suy → /clean) → Pha2(Mapper: IAQI + NowCast / Reducer: AQI=max → /aqi) → Pha3(Mapper: key (thành phố,ngày) / Reducer: trung bình, xếp hạng → /agg,HBase) → PHỤC VỤ. Mapper↔withColumn, Reducer↔groupBy().agg(); batch+stream chung aqi_core.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1 làm sạch 5 bước. Nhấn bước 3 (lưới giờ giải thích 8,7tr vs 8,5tr) và bước 4 (chỉ nội suy khe ≤3h nên tỉ lệ rất nhỏ, trung thực). 97,6% ngày đủ chuẩn. Ảnh là báo cáo chất lượng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2: NowCast 12h/trạm → IAQI → AQI=max → mức+chất trội. Pha 3: gom (thành phố,ngày), xếp hạng, ghi HBase. Chốt: dùng chung aqi_core; owm_aqi chỉ đối chiếu.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Đóng góp khoa học: IAQI nội suy tuyến tính theo breakpoint; AQI=max 6 chất; dominant=chất cho max. Ví dụ PM2.5 35,2→70,4. NowCast 12h (giờ) vs TB24h (ngày). Sáu mức QĐ1459.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thời gian Pha 2 theo 1/2/4 executor; ★ 8M speedup 2,43×. 100K overhead nên 4 exec chậm hơn 2. Dưới tuyến tính do UDF serialize+shuffle. Hạn chế: một máy. Chốt: dữ liệu lớn mới thấy lợi ích phân tán → cần Big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 dữ liệu — Apache Spark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063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Huyền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sạch → Tính AQI → Tổng hợp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2628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góp khoa học (QĐ 1459)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5820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xử lý phân tán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 (Spark)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pha là một job Map → Reduce, đọc đầu ra pha trước rồi thêm một lớp thông tin.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761488"/>
            <a:ext cx="1554480" cy="1325880"/>
          </a:xfrm>
          <a:prstGeom prst="roundRect">
            <a:avLst>
              <a:gd name="adj" fmla="val 5517"/>
            </a:avLst>
          </a:prstGeom>
          <a:solidFill>
            <a:srgbClr val="F4F7FC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" y="2761488"/>
            <a:ext cx="1554480" cy="13258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
</a:t>
            </a:r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/raw
</a:t>
            </a:r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(live)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029968" y="3310128"/>
            <a:ext cx="274320" cy="237744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0" name="Shape 8"/>
          <p:cNvSpPr/>
          <p:nvPr/>
        </p:nvSpPr>
        <p:spPr>
          <a:xfrm>
            <a:off x="2304288" y="1572768"/>
            <a:ext cx="2331720" cy="356616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04288" y="1572768"/>
            <a:ext cx="2331720" cy="475488"/>
          </a:xfrm>
          <a:prstGeom prst="roundRect">
            <a:avLst>
              <a:gd name="adj" fmla="val 15385"/>
            </a:avLst>
          </a:prstGeom>
          <a:solidFill>
            <a:srgbClr val="2E9B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04288" y="1572768"/>
            <a:ext cx="23317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· Làm sạch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414016" y="2157984"/>
            <a:ext cx="2112264" cy="1207008"/>
          </a:xfrm>
          <a:prstGeom prst="roundRect">
            <a:avLst>
              <a:gd name="adj" fmla="val 378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87168" y="2194560"/>
            <a:ext cx="19659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0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
</a:t>
            </a:r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= (trạm, giờ)</a:t>
            </a:r>
            <a:endParaRPr lang="en-US" sz="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= bản ghi thô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414016" y="3438144"/>
            <a:ext cx="2112264" cy="1207008"/>
          </a:xfrm>
          <a:prstGeom prst="roundRect">
            <a:avLst>
              <a:gd name="adj" fmla="val 378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87168" y="3474720"/>
            <a:ext cx="19659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0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
</a:t>
            </a:r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· loại ngoại lai · nội suy khe ≤ 3h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70001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/clean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54296" y="3310128"/>
            <a:ext cx="274320" cy="237744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9" name="Shape 17"/>
          <p:cNvSpPr/>
          <p:nvPr/>
        </p:nvSpPr>
        <p:spPr>
          <a:xfrm>
            <a:off x="4928616" y="1572768"/>
            <a:ext cx="2331720" cy="356616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28616" y="1572768"/>
            <a:ext cx="2331720" cy="475488"/>
          </a:xfrm>
          <a:prstGeom prst="roundRect">
            <a:avLst>
              <a:gd name="adj" fmla="val 15385"/>
            </a:avLst>
          </a:prstGeom>
          <a:solidFill>
            <a:srgbClr val="2E5AA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928616" y="1572768"/>
            <a:ext cx="23317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· Tính AQI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38344" y="2157984"/>
            <a:ext cx="2112264" cy="1207008"/>
          </a:xfrm>
          <a:prstGeom prst="roundRect">
            <a:avLst>
              <a:gd name="adj" fmla="val 378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11496" y="2194560"/>
            <a:ext cx="19659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0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
</a:t>
            </a:r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</a:t>
            </a:r>
            <a:endParaRPr lang="en-US" sz="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(NowCast 12h cho PM)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38344" y="3438144"/>
            <a:ext cx="2112264" cy="1207008"/>
          </a:xfrm>
          <a:prstGeom prst="roundRect">
            <a:avLst>
              <a:gd name="adj" fmla="val 378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1496" y="3474720"/>
            <a:ext cx="19659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0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
</a:t>
            </a:r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= max(IAQI)</a:t>
            </a:r>
            <a:endParaRPr lang="en-US" sz="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mức + chất trội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928616" y="470001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/aqi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78624" y="3310128"/>
            <a:ext cx="274320" cy="237744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28" name="Shape 26"/>
          <p:cNvSpPr/>
          <p:nvPr/>
        </p:nvSpPr>
        <p:spPr>
          <a:xfrm>
            <a:off x="7552944" y="1572768"/>
            <a:ext cx="2331720" cy="356616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52944" y="1572768"/>
            <a:ext cx="2331720" cy="475488"/>
          </a:xfrm>
          <a:prstGeom prst="roundRect">
            <a:avLst>
              <a:gd name="adj" fmla="val 15385"/>
            </a:avLst>
          </a:prstGeom>
          <a:solidFill>
            <a:srgbClr val="4F9D5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52944" y="1572768"/>
            <a:ext cx="23317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· Tổng hợp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662672" y="2157984"/>
            <a:ext cx="2112264" cy="1207008"/>
          </a:xfrm>
          <a:prstGeom prst="roundRect">
            <a:avLst>
              <a:gd name="adj" fmla="val 378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35824" y="2194560"/>
            <a:ext cx="19659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0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
</a:t>
            </a:r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= (thành phố, ngày)</a:t>
            </a:r>
            <a:endParaRPr lang="en-US" sz="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= AQI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62672" y="3438144"/>
            <a:ext cx="2112264" cy="1207008"/>
          </a:xfrm>
          <a:prstGeom prst="roundRect">
            <a:avLst>
              <a:gd name="adj" fmla="val 378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35824" y="3474720"/>
            <a:ext cx="19659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0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
</a:t>
            </a:r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bình/max · đếm mức · xếp hạng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7552944" y="470001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/agg · HBase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902952" y="3310128"/>
            <a:ext cx="274320" cy="237744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37" name="Shape 35"/>
          <p:cNvSpPr/>
          <p:nvPr/>
        </p:nvSpPr>
        <p:spPr>
          <a:xfrm>
            <a:off x="10177272" y="2761488"/>
            <a:ext cx="1554480" cy="1325880"/>
          </a:xfrm>
          <a:prstGeom prst="roundRect">
            <a:avLst>
              <a:gd name="adj" fmla="val 5517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10177272" y="2761488"/>
            <a:ext cx="1554480" cy="13258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
</a:t>
            </a:r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
</a:t>
            </a:r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Dashboard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57200" y="5230368"/>
            <a:ext cx="11274552" cy="896112"/>
          </a:xfrm>
          <a:prstGeom prst="roundRect">
            <a:avLst>
              <a:gd name="adj" fmla="val 7143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77240" y="5230368"/>
            <a:ext cx="106070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↔ withColumn/map · Reducer ↔ groupBy().agg().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MapReduce, cài bằng Spark; batch &amp; streaming dùng chung lõi aqi_core nên không lệch kết quả.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— Làm sạch dữ liệu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bước biến 8,5 triệu bản ghi thô thành lưới giờ sạch, có gắn cờ chất lượng.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2E9B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28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69164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theo (trạm, giờ)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551176"/>
            <a:ext cx="475488" cy="475488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51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51460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giá trị lỗi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âm / vượt trần vật lý → bỏ ô đó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374136"/>
            <a:ext cx="475488" cy="47548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74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33756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Dựng lưới giờ đầy đủ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lộ giờ mất bản ghi (8.769.600 vs 8.576.904)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197096"/>
            <a:ext cx="475488" cy="475488"/>
          </a:xfrm>
          <a:prstGeom prst="ellipse">
            <a:avLst/>
          </a:prstGeom>
          <a:solidFill>
            <a:srgbClr val="E08A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970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6052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suy khe ngắn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thiếu ≤ 3 giờ; dài hơn → giữ trống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0056"/>
            <a:ext cx="475488" cy="475488"/>
          </a:xfrm>
          <a:prstGeom prst="ellipse">
            <a:avLst/>
          </a:prstGeom>
          <a:solidFill>
            <a:srgbClr val="4F9D5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5020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98348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Gộp theo ngày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TB 24h; ngày đạt nếu ≥ 75% dữ liệu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46520" y="1737360"/>
            <a:ext cx="5120640" cy="2148840"/>
          </a:xfrm>
          <a:prstGeom prst="roundRect">
            <a:avLst>
              <a:gd name="adj" fmla="val 2553"/>
            </a:avLst>
          </a:prstGeom>
          <a:solidFill>
            <a:srgbClr val="0C1526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pic>
        <p:nvPicPr>
          <p:cNvPr id="23" name="Image 0" descr="fig_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828800"/>
            <a:ext cx="4937760" cy="182205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446520" y="39136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5.3 — báo cáo chất lượng dữ liệu sau Pha 1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446520" y="4343400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675120" y="440740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97,6%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8366760" y="440740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ngày đủ chuẩn tính AQI ngày (≥ 75% dữ liệu)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510235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Tỉ lệ nội suy &lt; 0,02% (chỉ khe ≤ 3h) → giữ tính trung thực của dữ liệu.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tính AQI · Pha 3 tổng hợp &amp; xếp hạng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AQI từng giờ cho mỗi trạm, rồi tổng hợp theo thành phố để phục vụ dashboard.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44068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19019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— Tính AQI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228600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NowCast 12 giờ / trạm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trung bình có trọng số cho PM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0400" y="288950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301752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01752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tra bảng breakpoint QĐ 1459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00400" y="362102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74904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374904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= max(IAQI)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gán mức + chất trội (dominant)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25780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92240" y="19019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— Tổng hợp &amp; xếp hạng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286000"/>
            <a:ext cx="48463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 theo (thành phố, ngày): trung bình / max AQI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số giờ ở mỗi mức chất lượng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Xếp hạng thành phố — hạng 1 = ô nhiễm nhất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kết quả vào HBase để dashboard đọc nhanh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754880"/>
            <a:ext cx="109728" cy="960120"/>
          </a:xfrm>
          <a:prstGeom prst="roundRect">
            <a:avLst/>
          </a:prstGeom>
          <a:solidFill>
            <a:srgbClr val="2E5AA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6112" y="4754880"/>
            <a:ext cx="10469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cốt lõi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batch và streaming gọi CHUNG module aqi_core → hai làn không thể cho kết quả khác nhau. owm_aqi chỉ để đối chiếu, không đưa vào công thức.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 — đóng góp khoa học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tính AQI chuẩn Việt Nam từ nồng độ, thay vì dùng chỉ số 1–5 có sẵn của OpenWeather.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6858000" cy="1965960"/>
          </a:xfrm>
          <a:prstGeom prst="roundRect">
            <a:avLst>
              <a:gd name="adj" fmla="val 325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18288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thức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IAQIₓ = (I_high − I_low) / (BP_high − BP_low) × (Cₓ − BP_low) + I_low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697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AQI = max( IAQIₓ )   với 6 chất PM2.5, PM10, O₃, NO₂, SO₂, CO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2004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trội =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cho IAQI lớn nhất.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80960" y="1737360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0" y="1737360"/>
            <a:ext cx="109728" cy="914400"/>
          </a:xfrm>
          <a:prstGeom prst="roundRect">
            <a:avLst/>
          </a:prstGeom>
          <a:solidFill>
            <a:srgbClr val="4F9D5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36992" y="17373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24h = 35,2 → IAQI = 70,4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2788920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863840" y="278892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giờ dùng NowCast 12h cho PM; AQI ngày dùng trung bình 24h.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9319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mức AQI theo QĐ 1459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4CAF5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8580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
</a:t>
            </a:r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
</a:t>
            </a:r>
            <a:pPr algn="ctr" indent="0" marL="0">
              <a:buNone/>
            </a:pPr>
            <a:r>
              <a:rPr lang="en-US" sz="100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0–50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0698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F4C43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50698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
</a:t>
            </a:r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
</a:t>
            </a:r>
            <a:pPr algn="ctr" indent="0" marL="0">
              <a:buNone/>
            </a:pPr>
            <a:r>
              <a:rPr lang="en-US" sz="100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51–100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32816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F3722C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32816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Kém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101–150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14934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D62828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14934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Xấu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151–200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97052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8E44AD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7052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Rất xấu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201–300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79170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7B241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79170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hại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301–500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nghiệm scalability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riêng Pha 2 trên dữ liệu tổng hợp — chứng minh: dữ liệu càng lớn, phân tán càng lợi.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051560"/>
                <a:gridCol w="105156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Workload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8M  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5AA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38404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workload lớn nhất — lợi ích phân tán rõ nhất (4 exec nhanh hơn 1 exec 2,43×).</a:t>
            </a:r>
            <a:endParaRPr lang="en-US" sz="1100" dirty="0"/>
          </a:p>
        </p:txBody>
      </p:sp>
      <p:pic>
        <p:nvPicPr>
          <p:cNvPr id="9" name="Image 0" descr="scalability_spee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37360"/>
            <a:ext cx="4709160" cy="2980481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0080" y="5029200"/>
            <a:ext cx="109728" cy="1051560"/>
          </a:xfrm>
          <a:prstGeom prst="roundRect">
            <a:avLst/>
          </a:prstGeom>
          <a:solidFill>
            <a:srgbClr val="E08A3C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96112" y="5029200"/>
            <a:ext cx="10469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&amp; lưu ý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100K: 4 exec còn chậm hơn 2 exec (overhead lấn át). Dưới tuyến tính do Python UDF serialize + shuffle. Hạn chế: 4 worker trên MỘT máy Docker — chưa phải cụm nhiều node.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2026-09-21T08:02:27Z</dcterms:created>
  <dcterms:modified xsi:type="dcterms:W3CDTF">2026-09-21T08:02:27Z</dcterms:modified>
</cp:coreProperties>
</file>