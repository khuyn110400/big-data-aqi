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WrsuzXCNNBJSkKBNBLw/qA4qB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vi-V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">
  <p:cSld name="Tiêu đề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1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1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1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1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1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15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5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30" name="Google Shape;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1400" u="none" cap="none" strike="noStrik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b="1" sz="4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b="1" sz="28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1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2" name="Google Shape;42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" name="Google Shape;44;p1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" name="Google Shape;45;p1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1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7" name="Google Shape;47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" name="Google Shape;48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1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" name="Google Shape;50;p15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5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52" name="Google Shape;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ục lục">
  <p:cSld name="2_Mục lục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16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57" name="Google Shape;57;p1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1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6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16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16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2" name="Google Shape;62;p16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3" name="Google Shape;63;p16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16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6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6" name="Google Shape;66;p16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16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8" name="Google Shape;68;p16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16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6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" name="Google Shape;71;p16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16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73" name="Google Shape;73;p16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16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16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16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" name="Google Shape;77;p16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78" name="Google Shape;78;p16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16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16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6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2" name="Google Shape;82;p16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83" name="Google Shape;83;p16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6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16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16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6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88" name="Google Shape;88;p16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6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6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1" name="Google Shape;91;p16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" name="Google Shape;92;p16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93" name="Google Shape;93;p16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94" name="Google Shape;94;p16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16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16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16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16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99" name="Google Shape;99;p16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6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6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2" name="Google Shape;102;p16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16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04" name="Google Shape;104;p16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p16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16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16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8" name="Google Shape;108;p16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09" name="Google Shape;109;p16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110;p16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16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16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" name="Google Shape;113;p16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14" name="Google Shape;114;p16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16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16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p16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16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19" name="Google Shape;119;p16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16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16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2" name="Google Shape;122;p16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" name="Google Shape;123;p16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>
            <p:ph idx="12" type="sldNum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16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29" name="Google Shape;129;p1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1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16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A picture containing clipart, vector graphics&#10;&#10;Description automatically generated" id="132" name="Google Shape;13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" type="obj">
  <p:cSld name="OBJEC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7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38" name="Google Shape;138;p1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1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" name="Google Shape;145;p17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46" name="Google Shape;146;p17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7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7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156" name="Google Shape;156;p17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1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1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1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ống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idx="11" type="ftr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8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1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65" name="Google Shape;165;p1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1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p1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8" name="Google Shape;168;p1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p1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70" name="Google Shape;170;p1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1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1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3" name="Google Shape;173;p18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>
            <p:ph idx="12" type="sldNum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182" name="Google Shape;182;p18"/>
          <p:cNvSpPr txBox="1"/>
          <p:nvPr>
            <p:ph idx="10" type="dt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êu đề chương">
  <p:cSld name="3_Tiêu đề chương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84" name="Google Shape;18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" name="Google Shape;187;p19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88" name="Google Shape;188;p1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" name="Google Shape;189;p1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p1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1" name="Google Shape;191;p1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19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93" name="Google Shape;193;p1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1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1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6" name="Google Shape;196;p19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9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9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9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01" name="Google Shape;201;p19"/>
          <p:cNvSpPr/>
          <p:nvPr>
            <p:ph idx="1" type="body"/>
          </p:nvPr>
        </p:nvSpPr>
        <p:spPr>
          <a:xfrm>
            <a:off x="1704109" y="3019167"/>
            <a:ext cx="4583866" cy="1439258"/>
          </a:xfrm>
          <a:prstGeom prst="roundRect">
            <a:avLst>
              <a:gd fmla="val 2631" name="adj"/>
            </a:avLst>
          </a:prstGeom>
          <a:solidFill>
            <a:srgbClr val="F2F2F2"/>
          </a:solidFill>
          <a:ln cap="rnd" cmpd="sng" w="19050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b="1" i="0" sz="200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02" name="Google Shape;202;p19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203" name="Google Shape;203;p19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19"/>
            <p:cNvCxnSpPr/>
            <p:nvPr/>
          </p:nvCxnSpPr>
          <p:spPr>
            <a:xfrm flipH="1" rot="10800000">
              <a:off x="6011109" y="1480500"/>
              <a:ext cx="591405" cy="506136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19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" name="Google Shape;206;p19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9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cap="flat" cmpd="sng" w="12700">
            <a:solidFill>
              <a:srgbClr val="00C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/>
          <p:nvPr>
            <p:ph idx="2" type="pic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sp>
      <p:sp>
        <p:nvSpPr>
          <p:cNvPr id="209" name="Google Shape;209;p19"/>
          <p:cNvSpPr txBox="1"/>
          <p:nvPr>
            <p:ph idx="3" type="body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b="1" sz="36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ục lục">
  <p:cSld name="1_Mục lục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213" name="Google Shape;213;p2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2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5" name="Google Shape;215;p20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6" name="Google Shape;216;p20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7" name="Google Shape;217;p20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218" name="Google Shape;218;p20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19" name="Google Shape;219;p20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0" name="Google Shape;220;p20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1" name="Google Shape;221;p20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2" name="Google Shape;222;p20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" name="Google Shape;223;p20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24" name="Google Shape;224;p20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20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6" name="Google Shape;226;p20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7" name="Google Shape;227;p20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20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29" name="Google Shape;229;p20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0" name="Google Shape;230;p20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1" name="Google Shape;231;p20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33" name="Google Shape;233;p20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5" name="Google Shape;235;p20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20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20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38" name="Google Shape;238;p20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39" name="Google Shape;239;p20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0" name="Google Shape;240;p20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20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2" name="Google Shape;242;p20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20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44" name="Google Shape;244;p20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20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20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7" name="Google Shape;247;p20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8" name="Google Shape;248;p20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249" name="Google Shape;249;p20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50" name="Google Shape;250;p20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1" name="Google Shape;251;p20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20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3" name="Google Shape;253;p20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" name="Google Shape;254;p20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55" name="Google Shape;255;p20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20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20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8" name="Google Shape;258;p20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20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60" name="Google Shape;260;p20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1" name="Google Shape;261;p20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20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20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4" name="Google Shape;264;p20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65" name="Google Shape;265;p20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6" name="Google Shape;266;p20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0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0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9" name="Google Shape;269;p20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0" name="Google Shape;270;p20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1" name="Google Shape;271;p20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0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3" name="Google Shape;273;p20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20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75" name="Google Shape;275;p20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6" name="Google Shape;276;p20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7" name="Google Shape;277;p20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8" name="Google Shape;278;p20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9" name="Google Shape;279;p20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/>
          <p:nvPr>
            <p:ph idx="12" type="sldNum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0"/>
          <p:cNvSpPr txBox="1"/>
          <p:nvPr>
            <p:ph idx="1" type="body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p2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20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285" name="Google Shape;285;p2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" name="Google Shape;286;p2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" name="Google Shape;287;p20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88" name="Google Shape;288;p20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20"/>
          <p:cNvSpPr txBox="1"/>
          <p:nvPr>
            <p:ph idx="2" type="body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20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 chương">
  <p:cSld name="Tiêu đề chương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92" name="Google Shape;29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96" name="Google Shape;296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" name="Google Shape;297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" name="Google Shape;298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99" name="Google Shape;299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" name="Google Shape;300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01" name="Google Shape;301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4" name="Google Shape;304;p2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>
            <p:ph idx="1" type="body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21"/>
          <p:cNvSpPr txBox="1"/>
          <p:nvPr>
            <p:ph idx="2" type="body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7" name="Google Shape;307;p21"/>
          <p:cNvSpPr txBox="1"/>
          <p:nvPr>
            <p:ph idx="3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21"/>
          <p:cNvSpPr txBox="1"/>
          <p:nvPr>
            <p:ph idx="4" type="body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b="1" sz="120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09" name="Google Shape;309;p21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21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1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2" name="Google Shape;312;p2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13" name="Google Shape;313;p2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21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descr="Background pattern&#10;&#10;Description automatically generated" id="321" name="Google Shape;32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31" name="Google Shape;331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34" name="Google Shape;334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" name="Google Shape;335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36" name="Google Shape;336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7" name="Google Shape;337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8" name="Google Shape;338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9" name="Google Shape;339;p2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>
            <p:ph idx="5" type="sldNum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341" name="Google Shape;341;p21"/>
          <p:cNvSpPr txBox="1"/>
          <p:nvPr>
            <p:ph idx="6" type="body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p21"/>
          <p:cNvSpPr txBox="1"/>
          <p:nvPr>
            <p:ph idx="7" type="body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21"/>
          <p:cNvSpPr txBox="1"/>
          <p:nvPr>
            <p:ph idx="8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44" name="Google Shape;344;p21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1">
  <p:cSld name="So sanh 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8" name="Google Shape;348;p22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49" name="Google Shape;349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" name="Google Shape;351;p2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2" name="Google Shape;352;p2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 txBox="1"/>
          <p:nvPr>
            <p:ph idx="1" type="body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22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5" name="Google Shape;355;p22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56" name="Google Shape;356;p22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2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22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366" name="Google Shape;366;p22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67" name="Google Shape;367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" name="Google Shape;368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" name="Google Shape;369;p2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0" name="Google Shape;370;p22"/>
          <p:cNvSpPr txBox="1"/>
          <p:nvPr>
            <p:ph idx="2" type="body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1" name="Google Shape;371;p22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2">
  <p:cSld name="So sanh 2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23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76" name="Google Shape;376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9" name="Google Shape;379;p2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 txBox="1"/>
          <p:nvPr>
            <p:ph idx="1" type="body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23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23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83" name="Google Shape;383;p23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3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3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393" name="Google Shape;393;p23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94" name="Google Shape;394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" name="Google Shape;397;p23"/>
          <p:cNvSpPr txBox="1"/>
          <p:nvPr>
            <p:ph idx="2" type="body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23"/>
          <p:cNvSpPr txBox="1"/>
          <p:nvPr>
            <p:ph idx="3" type="body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9" name="Google Shape;399;p23"/>
          <p:cNvSpPr txBox="1"/>
          <p:nvPr>
            <p:ph idx="4" type="body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0" name="Google Shape;400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 2">
  <p:cSld name="Noi dung 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4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" name="Google Shape;404;p24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05" name="Google Shape;405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" name="Google Shape;406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" name="Google Shape;407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8" name="Google Shape;408;p2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24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p24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12" name="Google Shape;412;p24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13" name="Google Shape;413;p24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9" name="Google Shape;419;p24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4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4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423" name="Google Shape;423;p24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24" name="Google Shape;424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" name="Google Shape;425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" name="Google Shape;426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7" name="Google Shape;427;p24"/>
          <p:cNvSpPr txBox="1"/>
          <p:nvPr>
            <p:ph idx="2" type="body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ình ảnh">
  <p:cSld name="Hình ảnh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25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32" name="Google Shape;432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" name="Google Shape;433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" name="Google Shape;434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5" name="Google Shape;435;p2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25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25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9" name="Google Shape;439;p25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40" name="Google Shape;440;p25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5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25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5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450" name="Google Shape;450;p25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51" name="Google Shape;451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4" name="Google Shape;454;p25"/>
          <p:cNvSpPr/>
          <p:nvPr>
            <p:ph idx="2" type="pic"/>
          </p:nvPr>
        </p:nvSpPr>
        <p:spPr>
          <a:xfrm>
            <a:off x="5160373" y="202009"/>
            <a:ext cx="6237261" cy="5976999"/>
          </a:xfrm>
          <a:prstGeom prst="roundRect">
            <a:avLst>
              <a:gd fmla="val 57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1">
  <p:cSld name="Trang trong 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26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458" name="Google Shape;458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26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1" name="Google Shape;461;p26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6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463" name="Google Shape;463;p2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26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465" name="Google Shape;465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" name="Google Shape;466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26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8" name="Google Shape;468;p26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26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2">
  <p:cSld name="Trang trong 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7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êu đề">
  <p:cSld name="1_Tiêu đề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8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28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79" name="Google Shape;479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2" name="Google Shape;482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4" name="Google Shape;484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7" name="Google Shape;487;p28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489" name="Google Shape;4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8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491" name="Google Shape;491;p28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8"/>
          <p:cNvSpPr txBox="1"/>
          <p:nvPr>
            <p:ph idx="12" type="sldNum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493" name="Google Shape;493;p28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b="1" sz="4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28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b="1" sz="20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5" name="Google Shape;495;p28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28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28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b="1" i="0" sz="4000" u="none" cap="none" strike="noStrik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"/>
          <p:cNvSpPr txBox="1"/>
          <p:nvPr>
            <p:ph type="title"/>
          </p:nvPr>
        </p:nvSpPr>
        <p:spPr>
          <a:xfrm>
            <a:off x="774145" y="223964"/>
            <a:ext cx="10579655" cy="135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700"/>
              <a:buFont typeface="Times New Roman"/>
              <a:buNone/>
            </a:pPr>
            <a:r>
              <a:rPr lang="vi-VN" sz="3700"/>
              <a:t>Xử lý dữ liệu (Spark) — nội dung phần trình bày</a:t>
            </a:r>
            <a:endParaRPr/>
          </a:p>
        </p:txBody>
      </p:sp>
      <p:sp>
        <p:nvSpPr>
          <p:cNvPr id="520" name="Google Shape;520;p3"/>
          <p:cNvSpPr txBox="1"/>
          <p:nvPr>
            <p:ph idx="1" type="body"/>
          </p:nvPr>
        </p:nvSpPr>
        <p:spPr>
          <a:xfrm>
            <a:off x="774144" y="1809750"/>
            <a:ext cx="10655855" cy="4158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700">
                <a:solidFill>
                  <a:srgbClr val="EDF2FA"/>
                </a:solidFill>
              </a:rPr>
              <a:t>Vị trí: Spark là nơi TÍNH TOÁN — đứng giữa HDFS/Kafka (đầu vào) và HBase (đầu ra)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700">
                <a:solidFill>
                  <a:srgbClr val="EDF2FA"/>
                </a:solidFill>
              </a:rPr>
              <a:t>Ba nội dung của phần này:</a:t>
            </a:r>
            <a:endParaRPr/>
          </a:p>
          <a:p>
            <a:pPr indent="-228600" lvl="1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Pipeline ba pha: làm sạch → tính AQI → tổng hợp &amp; xếp hạng</a:t>
            </a:r>
            <a:endParaRPr/>
          </a:p>
          <a:p>
            <a:pPr indent="-228600" lvl="1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Thuật toán AQI theo QĐ 1459 — đóng góp khoa học</a:t>
            </a:r>
            <a:endParaRPr/>
          </a:p>
          <a:p>
            <a:pPr indent="-228600" lvl="1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Thực nghiệm scalability — vì sao cần xử lý phân tán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700">
                <a:solidFill>
                  <a:srgbClr val="EDF2FA"/>
                </a:solidFill>
              </a:rPr>
              <a:t>Cách hiện thực: mô hình MapReduce, cài bằng Spark (Mapper ↔ withColumn, Reducer ↔ groupBy().agg())</a:t>
            </a:r>
            <a:endParaRPr/>
          </a:p>
        </p:txBody>
      </p:sp>
      <p:sp>
        <p:nvSpPr>
          <p:cNvPr id="521" name="Google Shape;521;p3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Trường Đại học Công nghệ Thông tin, ĐHQG-HCM</a:t>
            </a:r>
            <a:endParaRPr/>
          </a:p>
        </p:txBody>
      </p:sp>
      <p:sp>
        <p:nvSpPr>
          <p:cNvPr id="522" name="Google Shape;522;p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"/>
          <p:cNvSpPr txBox="1"/>
          <p:nvPr>
            <p:ph type="title"/>
          </p:nvPr>
        </p:nvSpPr>
        <p:spPr>
          <a:xfrm>
            <a:off x="774145" y="223964"/>
            <a:ext cx="10579655" cy="135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700"/>
              <a:buFont typeface="Times New Roman"/>
              <a:buNone/>
            </a:pPr>
            <a:r>
              <a:rPr lang="vi-VN" sz="3700"/>
              <a:t>Pipeline ba pha (Spark)</a:t>
            </a:r>
            <a:endParaRPr/>
          </a:p>
        </p:txBody>
      </p:sp>
      <p:sp>
        <p:nvSpPr>
          <p:cNvPr id="529" name="Google Shape;529;p4"/>
          <p:cNvSpPr txBox="1"/>
          <p:nvPr>
            <p:ph idx="1" type="body"/>
          </p:nvPr>
        </p:nvSpPr>
        <p:spPr>
          <a:xfrm>
            <a:off x="777240" y="1810512"/>
            <a:ext cx="106527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600">
                <a:solidFill>
                  <a:srgbClr val="EDF2FA"/>
                </a:solidFill>
              </a:rPr>
              <a:t>Ba pha nối tiếp, mỗi pha đọc đầu ra pha trước rồi thêm một lớp thông tin (hợp đồng schema C1 → C4)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600">
                <a:solidFill>
                  <a:srgbClr val="EDF2FA"/>
                </a:solidFill>
              </a:rPr>
              <a:t>Pha 1 làm sạch  →  Pha 2 tính AQI  →  Pha 3 tổng hợp &amp; xếp hạng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600">
                <a:solidFill>
                  <a:srgbClr val="EDF2FA"/>
                </a:solidFill>
              </a:rPr>
              <a:t>Batch và streaming dùng CHUNG module aqi_core → không lệch kết quả</a:t>
            </a:r>
            <a:endParaRPr/>
          </a:p>
        </p:txBody>
      </p:sp>
      <p:sp>
        <p:nvSpPr>
          <p:cNvPr id="530" name="Google Shape;530;p4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Trường Đại học Công nghệ Thông tin, ĐHQG-HCM</a:t>
            </a:r>
            <a:endParaRPr/>
          </a:p>
        </p:txBody>
      </p:sp>
      <p:sp>
        <p:nvSpPr>
          <p:cNvPr id="531" name="Google Shape;531;p4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532" name="Picture 531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3246120"/>
            <a:ext cx="5669280" cy="30290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"/>
          <p:cNvSpPr txBox="1"/>
          <p:nvPr>
            <p:ph type="title"/>
          </p:nvPr>
        </p:nvSpPr>
        <p:spPr>
          <a:xfrm>
            <a:off x="774145" y="223964"/>
            <a:ext cx="10579655" cy="135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700"/>
              <a:buFont typeface="Times New Roman"/>
              <a:buNone/>
            </a:pPr>
            <a:r>
              <a:rPr lang="vi-VN" sz="3700"/>
              <a:t>Pha 1 — Làm sạch dữ liệu (5 bước)</a:t>
            </a:r>
            <a:endParaRPr/>
          </a:p>
        </p:txBody>
      </p:sp>
      <p:sp>
        <p:nvSpPr>
          <p:cNvPr id="538" name="Google Shape;538;p5"/>
          <p:cNvSpPr txBox="1"/>
          <p:nvPr>
            <p:ph idx="1" type="body"/>
          </p:nvPr>
        </p:nvSpPr>
        <p:spPr>
          <a:xfrm>
            <a:off x="777240" y="1810512"/>
            <a:ext cx="576072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Khử trùng lặp theo (trạm, giờ)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Loại ngoại lai: nồng độ âm hoặc vượt trần vật lý → đặt null cho cột đó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Dựng lưới giờ liên tục → lộ cả giờ mất bản ghi (8.769.600 vs 8.576.904)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Nội suy khe thiếu ≤ 3 giờ; thiếu &gt; 3 giờ giữ null + cờ missing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TB 24h cho PM + cờ ngày hợp lệ nếu ≥ 75% dữ liệu → 97,6% ngày đạt</a:t>
            </a:r>
            <a:endParaRPr/>
          </a:p>
        </p:txBody>
      </p:sp>
      <p:sp>
        <p:nvSpPr>
          <p:cNvPr id="539" name="Google Shape;539;p5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Trường Đại học Công nghệ Thông tin, ĐHQG-HCM</a:t>
            </a:r>
            <a:endParaRPr/>
          </a:p>
        </p:txBody>
      </p:sp>
      <p:sp>
        <p:nvSpPr>
          <p:cNvPr id="540" name="Google Shape;540;p5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541" name="Picture 540" descr="fig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4800600" cy="1770536"/>
          </a:xfrm>
          <a:prstGeom prst="rect">
            <a:avLst/>
          </a:prstGeom>
        </p:spPr>
      </p:pic>
      <p:pic>
        <p:nvPicPr>
          <p:cNvPr id="542" name="Picture 541" descr="fig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977639"/>
            <a:ext cx="4800600" cy="1364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"/>
          <p:cNvSpPr txBox="1"/>
          <p:nvPr>
            <p:ph type="title"/>
          </p:nvPr>
        </p:nvSpPr>
        <p:spPr>
          <a:xfrm>
            <a:off x="774145" y="223964"/>
            <a:ext cx="10579655" cy="135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700"/>
              <a:buFont typeface="Times New Roman"/>
              <a:buNone/>
            </a:pPr>
            <a:r>
              <a:rPr lang="vi-VN" sz="3700"/>
              <a:t>Pha 2 tính AQI · Pha 3 tổng hợp &amp; xếp hạng</a:t>
            </a:r>
            <a:endParaRPr sz="3700"/>
          </a:p>
        </p:txBody>
      </p:sp>
      <p:sp>
        <p:nvSpPr>
          <p:cNvPr id="547" name="Google Shape;547;p6"/>
          <p:cNvSpPr txBox="1"/>
          <p:nvPr>
            <p:ph idx="1" type="body"/>
          </p:nvPr>
        </p:nvSpPr>
        <p:spPr>
          <a:xfrm>
            <a:off x="777240" y="1810512"/>
            <a:ext cx="106527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Pha 2 — Tính AQI:</a:t>
            </a:r>
            <a:endParaRPr/>
          </a:p>
          <a:p>
            <a:pPr indent="-228600" lvl="1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350">
                <a:solidFill>
                  <a:srgbClr val="EDF2FA"/>
                </a:solidFill>
              </a:rPr>
              <a:t>NowCast cửa sổ 12 giờ theo từng trạm → IAQI từng chất</a:t>
            </a:r>
            <a:endParaRPr/>
          </a:p>
          <a:p>
            <a:pPr indent="-228600" lvl="1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350">
                <a:solidFill>
                  <a:srgbClr val="EDF2FA"/>
                </a:solidFill>
              </a:rPr>
              <a:t>AQI = max(IAQI) → gán mức + chất trội; batch &amp; streaming dùng chung aqi_core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Pha 3 — Tổng hợp &amp; xếp hạng:</a:t>
            </a:r>
            <a:endParaRPr/>
          </a:p>
          <a:p>
            <a:pPr indent="-228600" lvl="1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350">
                <a:solidFill>
                  <a:srgbClr val="EDF2FA"/>
                </a:solidFill>
              </a:rPr>
              <a:t>Gom theo (thành phố, ngày): trung bình / max, đếm phân bố mức</a:t>
            </a:r>
            <a:endParaRPr/>
          </a:p>
          <a:p>
            <a:pPr indent="-228600" lvl="1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350">
                <a:solidFill>
                  <a:srgbClr val="EDF2FA"/>
                </a:solidFill>
              </a:rPr>
              <a:t>Xếp hạng thành phố (hạng 1 = ô nhiễm nhất) → ghi vào HBase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500">
                <a:solidFill>
                  <a:srgbClr val="EDF2FA"/>
                </a:solidFill>
              </a:rPr>
              <a:t>owm_aqi chỉ giữ để đối chiếu, không đưa vào công thức</a:t>
            </a:r>
            <a:endParaRPr/>
          </a:p>
        </p:txBody>
      </p:sp>
      <p:sp>
        <p:nvSpPr>
          <p:cNvPr id="548" name="Google Shape;548;p6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Trường Đại học Công nghệ Thông tin, ĐHQG-HCM</a:t>
            </a:r>
            <a:endParaRPr/>
          </a:p>
        </p:txBody>
      </p:sp>
      <p:sp>
        <p:nvSpPr>
          <p:cNvPr id="549" name="Google Shape;549;p6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550" name="Picture 549" descr="fig_aq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4709160"/>
            <a:ext cx="7315200" cy="1205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"/>
          <p:cNvSpPr txBox="1"/>
          <p:nvPr>
            <p:ph type="title"/>
          </p:nvPr>
        </p:nvSpPr>
        <p:spPr>
          <a:xfrm>
            <a:off x="774145" y="223964"/>
            <a:ext cx="10579655" cy="135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700"/>
              <a:buFont typeface="Times New Roman"/>
              <a:buNone/>
            </a:pPr>
            <a:r>
              <a:rPr lang="vi-VN" sz="3700"/>
              <a:t>Thuật toán AQI theo QĐ 1459 (đóng góp khoa học)</a:t>
            </a:r>
            <a:endParaRPr sz="3700"/>
          </a:p>
        </p:txBody>
      </p:sp>
      <p:sp>
        <p:nvSpPr>
          <p:cNvPr id="556" name="Google Shape;556;p7"/>
          <p:cNvSpPr txBox="1"/>
          <p:nvPr>
            <p:ph idx="1" type="body"/>
          </p:nvPr>
        </p:nvSpPr>
        <p:spPr>
          <a:xfrm>
            <a:off x="774144" y="1809750"/>
            <a:ext cx="10655855" cy="4158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600">
                <a:solidFill>
                  <a:srgbClr val="EDF2FA"/>
                </a:solidFill>
              </a:rPr>
              <a:t>IAQI mỗi chất = nội suy tuyến tính theo bảng breakpoint:</a:t>
            </a:r>
            <a:endParaRPr/>
          </a:p>
          <a:p>
            <a:pPr indent="-228600" lvl="1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450">
                <a:solidFill>
                  <a:srgbClr val="EDF2FA"/>
                </a:solidFill>
              </a:rPr>
              <a:t>IAQI = (I_high − I_low) / (BP_high − BP_low) × (C − BP_low) + I_low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600">
                <a:solidFill>
                  <a:srgbClr val="EDF2FA"/>
                </a:solidFill>
              </a:rPr>
              <a:t>AQI = max(IAQI của các chất có dữ liệu); chất trội = chất cho giá trị max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600">
                <a:solidFill>
                  <a:srgbClr val="EDF2FA"/>
                </a:solidFill>
              </a:rPr>
              <a:t>Ví dụ: PM2.5 trung bình 24h = 35,2  →  IAQI = 70,4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600">
                <a:solidFill>
                  <a:srgbClr val="EDF2FA"/>
                </a:solidFill>
              </a:rPr>
              <a:t>Phân biệt AQI giờ (NowCast 12h cho PM) và AQI ngày (trung bình 24h)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600">
                <a:solidFill>
                  <a:srgbClr val="EDF2FA"/>
                </a:solidFill>
              </a:rPr>
              <a:t>Breakpoint để ở file JSON → đổi chuẩn VN_1459 / US_EPA không phải sửa code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600">
                <a:solidFill>
                  <a:srgbClr val="EDF2FA"/>
                </a:solidFill>
              </a:rPr>
              <a:t>Sáu mức: 1 Tốt · 2 Trung bình · 3 Kém · 4 Xấu · 5 Rất xấu · 6 Nguy hại (0–500)</a:t>
            </a:r>
            <a:endParaRPr/>
          </a:p>
        </p:txBody>
      </p:sp>
      <p:sp>
        <p:nvSpPr>
          <p:cNvPr id="557" name="Google Shape;557;p7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Trường Đại học Công nghệ Thông tin, ĐHQG-HCM</a:t>
            </a:r>
            <a:endParaRPr/>
          </a:p>
        </p:txBody>
      </p:sp>
      <p:sp>
        <p:nvSpPr>
          <p:cNvPr id="558" name="Google Shape;558;p7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"/>
          <p:cNvSpPr txBox="1"/>
          <p:nvPr>
            <p:ph type="title"/>
          </p:nvPr>
        </p:nvSpPr>
        <p:spPr>
          <a:xfrm>
            <a:off x="774145" y="223964"/>
            <a:ext cx="10579655" cy="1357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700"/>
              <a:buFont typeface="Times New Roman"/>
              <a:buNone/>
            </a:pPr>
            <a:r>
              <a:rPr lang="vi-VN" sz="3700"/>
              <a:t>Thực nghiệm scalability — vì sao cần phân tán</a:t>
            </a:r>
            <a:endParaRPr sz="3700"/>
          </a:p>
        </p:txBody>
      </p:sp>
      <p:sp>
        <p:nvSpPr>
          <p:cNvPr id="565" name="Google Shape;565;p8"/>
          <p:cNvSpPr txBox="1"/>
          <p:nvPr>
            <p:ph idx="1" type="body"/>
          </p:nvPr>
        </p:nvSpPr>
        <p:spPr>
          <a:xfrm>
            <a:off x="777240" y="1810512"/>
            <a:ext cx="54864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450">
                <a:solidFill>
                  <a:srgbClr val="EDF2FA"/>
                </a:solidFill>
              </a:rPr>
              <a:t>Đo riêng Pha 2 (phần nặng CPU nhất) trên dữ liệu tổng hợp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450">
                <a:solidFill>
                  <a:srgbClr val="EDF2FA"/>
                </a:solidFill>
              </a:rPr>
              <a:t>3 kích thước (100K / 1M / 8M) × 3 số executor (1 / 2 / 4)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450">
                <a:solidFill>
                  <a:srgbClr val="EDF2FA"/>
                </a:solidFill>
              </a:rPr>
              <a:t>8M dòng: 4 executor nhanh hơn 1 executor 2,43×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450">
                <a:solidFill>
                  <a:srgbClr val="EDF2FA"/>
                </a:solidFill>
              </a:rPr>
              <a:t>100K: 4 exec còn chậm hơn 2 exec — chi phí điều phối lấn át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450">
                <a:solidFill>
                  <a:srgbClr val="EDF2FA"/>
                </a:solidFill>
              </a:rPr>
              <a:t>Dưới tuyến tính: Python UDF serialize JVM↔Python + shuffle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450">
                <a:solidFill>
                  <a:srgbClr val="EDF2FA"/>
                </a:solidFill>
              </a:rPr>
              <a:t>Hạn chế: 4 worker trên MỘT máy Docker — chưa phải cụm nhiều node</a:t>
            </a:r>
            <a:endParaRPr/>
          </a:p>
          <a:p>
            <a:pPr indent="-228600" marL="228600" rtl="0" algn="just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450">
                <a:solidFill>
                  <a:srgbClr val="EDF2FA"/>
                </a:solidFill>
              </a:rPr>
              <a:t>Chốt: dữ liệu càng lớn, lợi ích phân tán càng rõ → cần Big Data</a:t>
            </a:r>
            <a:endParaRPr/>
          </a:p>
        </p:txBody>
      </p:sp>
      <p:sp>
        <p:nvSpPr>
          <p:cNvPr id="566" name="Google Shape;566;p8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Trường Đại học Công nghệ Thông tin, ĐHQG-HCM</a:t>
            </a:r>
            <a:endParaRPr/>
          </a:p>
        </p:txBody>
      </p:sp>
      <p:sp>
        <p:nvSpPr>
          <p:cNvPr id="567" name="Google Shape;567;p8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568" name="Picture 567" descr="scalability_spee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5029200" cy="3592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2023-03-03T01:55:04Z</dcterms:created>
  <dc:creator>Trần Hoàng Lộc</dc:creator>
</cp:coreProperties>
</file>