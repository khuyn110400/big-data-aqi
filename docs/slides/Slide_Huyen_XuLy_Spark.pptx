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lý. Câu chốt: Kafka chỉ vận chuyển, HDFS chỉ lưu — mọi phép tính đều ở Spark. Phần này gồm: pipeline 3 pha, thuật toán AQI (đóng góp khoa học), và thực nghiệm scalability.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Vị trí Spark trong pipeline. Nhấn 3 ý: (1) Spark là nơi tính; (2) batch+stream dùng chung aqi_core; (3) MapReduce chỉ là khung tư duy, cài bằng Spark DataFrame. Hình 3.3 lấy nguyên từ báo cáo.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≤3h nên tỉ lệ nội suy rất nhỏ, trung thực). Ảnh Hình 5.3 (báo cáo chất lượng) và Hình 5.2 (/clean 367,5MB) là minh chứng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 theo trạm → IAQI → AQI=max → level/dominant; dùng chung aqi_core. Pha 3: groupBy(city,dt) tính avg/max/min + phân bố mức, mode chất trội, Window xếp hạng (hạng1=bẩn nhất) → HBase. Ảnh Hình 5.4 là bằng chứng /aqi.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học. IAQI nội suy tuyến tính trong ô breakpoint; AQI=max các chất; dominant=chất cho max. Ví dụ PM2.5 35,2→70,4. Phân biệt AQI giờ (NowCast 12h PM) vs ngày (TB24h). Breakpoint tách file JSON.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Thiết kế: đo riêng Pha 2 trên dữ liệu tổng hợp (không lẫn I/O), 3×3, mỗi combo một tiến trình. Bảng thời gian + Hình 5.9. Sang slide sau nói speedup và hạn chế.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Speedup dưới đường lý tưởng do UDF serialize + shuffle. Hạn chế trung thực: một máy, đo một lần. Chốt: dữ liệu đủ lớn mới thấy lợi ích phân tán → cần Big Data. Chuyển: mời Khôi nói về HBase.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240384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0384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59456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8" name="Shape 5"/>
          <p:cNvSpPr/>
          <p:nvPr/>
        </p:nvSpPr>
        <p:spPr>
          <a:xfrm>
            <a:off x="3233776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3776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52848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5227168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FF9E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27168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6240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220560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20560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39632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7" name="Shape 14"/>
          <p:cNvSpPr/>
          <p:nvPr/>
        </p:nvSpPr>
        <p:spPr>
          <a:xfrm>
            <a:off x="9213952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3952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2606040"/>
            <a:ext cx="1371600" cy="1371600"/>
          </a:xfrm>
          <a:prstGeom prst="ellipse">
            <a:avLst/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478024" y="301752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— Pipeline ba pha &amp; thuật toán AQI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25146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4892040"/>
            <a:ext cx="10424160" cy="960120"/>
          </a:xfrm>
          <a:prstGeom prst="roundRect">
            <a:avLst>
              <a:gd name="adj" fmla="val 5714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1143000" y="489204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Chuyển tiếp:  </a:t>
            </a:r>
            <a:pPr indent="0" marL="0">
              <a:buNone/>
            </a:pPr>
            <a:r>
              <a:rPr lang="en-US" sz="1400" i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“Dữ liệu đã nằm trong HDFS, giờ đến bước xử lý bằng Spark — mời Huyền.”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Xử lý Spark — làm gì &amp; đặt ở đâu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3246120" cy="4160520"/>
          </a:xfrm>
          <a:prstGeom prst="roundRect">
            <a:avLst>
              <a:gd name="adj" fmla="val 1690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151790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ý cốt lõi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1920240"/>
            <a:ext cx="2834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
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đứng giữa HDFS/Kafka (đầu vào) và HBase (đầu ra), là nơi tính toán.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làn – một lõi
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và streaming import chung module aqi_core → không lệch kết quả.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 ↔ Spark
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Là ánh xạ khái niệm, không phải Hadoop MapReduce thật.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931920" y="1508760"/>
            <a:ext cx="7818120" cy="4265896"/>
          </a:xfrm>
          <a:prstGeom prst="roundRect">
            <a:avLst>
              <a:gd name="adj" fmla="val 1072"/>
            </a:avLst>
          </a:prstGeom>
          <a:solidFill>
            <a:srgbClr val="FFFFFF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5" name="Image 1" descr="fig_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600200"/>
            <a:ext cx="7635240" cy="4083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23360" y="5820376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3.3 — pipeline multi-phase MapReduce của nhóm (báo cáo). Ba pha lõi + hai nhánh mở rộng (do Khôi/Diệp trình bày).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 (5 bước)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806440" cy="4526280"/>
          </a:xfrm>
          <a:prstGeom prst="roundRect">
            <a:avLst>
              <a:gd name="adj" fmla="val 1212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1901952"/>
            <a:ext cx="402336" cy="402336"/>
          </a:xfrm>
          <a:prstGeom prst="ellipse">
            <a:avLst/>
          </a:prstGeom>
          <a:solidFill>
            <a:srgbClr val="FF9E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9808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1847088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dropDuplicates theo (station_id, ts_epoch)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49808" y="2724912"/>
            <a:ext cx="402336" cy="402336"/>
          </a:xfrm>
          <a:prstGeom prst="ellipse">
            <a:avLst/>
          </a:prstGeom>
          <a:solidFill>
            <a:srgbClr val="FF9E4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9808" y="2724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2670048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ngoại lai  </a:t>
            </a:r>
            <a:pPr indent="0" marL="0">
              <a:buNone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Nồng độ âm hoặc vượt trần vật lý → đặt null riêng cột đó (không bỏ cả dòng)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9808" y="3547872"/>
            <a:ext cx="402336" cy="402336"/>
          </a:xfrm>
          <a:prstGeom prst="ellipse">
            <a:avLst/>
          </a:prstGeom>
          <a:solidFill>
            <a:srgbClr val="FF9E4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493008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 </a:t>
            </a:r>
            <a:pPr indent="0" marL="0">
              <a:buNone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sequence(min→max, 3600s) → lộ cả giờ mất hẳn bản ghi (8.769.600 vs 8.576.904)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49808" y="4370832"/>
            <a:ext cx="402336" cy="402336"/>
          </a:xfrm>
          <a:prstGeom prst="ellipse">
            <a:avLst/>
          </a:prstGeom>
          <a:solidFill>
            <a:srgbClr val="FF9E4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4315968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3h: nội suy tuyến tính; &gt; 3h: giữ null + cờ missing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49808" y="5193792"/>
            <a:ext cx="402336" cy="402336"/>
          </a:xfrm>
          <a:prstGeom prst="ellipse">
            <a:avLst/>
          </a:prstGeom>
          <a:solidFill>
            <a:srgbClr val="FF9E4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49808" y="5193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5138928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ngày  </a:t>
            </a:r>
            <a:pPr indent="0" marL="0">
              <a:buNone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 PM2.5/PM10 theo 'ngày AQI'; cờ valid nếu ≥ 75% giờ (US EPA)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510528" y="1463040"/>
            <a:ext cx="5175504" cy="2002097"/>
          </a:xfrm>
          <a:prstGeom prst="roundRect">
            <a:avLst>
              <a:gd name="adj" fmla="val 2284"/>
            </a:avLst>
          </a:prstGeom>
          <a:solidFill>
            <a:srgbClr val="0C1526"/>
          </a:solidFill>
          <a:ln w="1524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28" name="Image 1" descr="fig_qua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536192"/>
            <a:ext cx="5029200" cy="1855793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510528" y="3538728"/>
            <a:ext cx="5175504" cy="1575054"/>
          </a:xfrm>
          <a:prstGeom prst="roundRect">
            <a:avLst>
              <a:gd name="adj" fmla="val 2903"/>
            </a:avLst>
          </a:prstGeom>
          <a:solidFill>
            <a:srgbClr val="0C1526"/>
          </a:solidFill>
          <a:ln w="1524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30" name="Image 2" descr="fig_cle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611880"/>
            <a:ext cx="5029200" cy="142875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6583680" y="4892040"/>
            <a:ext cx="5074920" cy="1051560"/>
          </a:xfrm>
          <a:prstGeom prst="roundRect">
            <a:avLst>
              <a:gd name="adj" fmla="val 5217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784848" y="489204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số:  </a:t>
            </a:r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~2,2–2,4%/chất · nội suy &lt; 0,02% (chỉ khe ≤3h) · 97,6% ngày đủ chuẩn · Pha 1 chạy ~1m34s.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1790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 (điểm cốt lõi)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50292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NowCast: cửa sổ 12 giờ theo từng trạm (Window.partitionBy station_id)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Gọi aqi_core → IAQI từng chất → AQI = max(IAQI) → level + chất trội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&amp; streaming dùng CHUNG aqi_core → không lệch kết quả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owm_aqi chỉ giữ để đối chiếu, không đưa vào công thức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53912" y="141732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82512" y="151790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2" y="1938528"/>
            <a:ext cx="50292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groupBy(city, dt): avg / max / min AQI + đếm số giờ mỗi mức (count_level_1..6)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worst_pollutant = chất trội xuất hiện nhiều giờ nhất trong ngày (mode)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Window.partitionBy(dt).orderBy(avg_aqi desc) → hạng 1 = ô nhiễm nhất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/agg/daily + /agg/ranking → HBase (Pha 3 ~8,26 phút)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2730856" y="4361688"/>
            <a:ext cx="6729984" cy="1230930"/>
          </a:xfrm>
          <a:prstGeom prst="roundRect">
            <a:avLst>
              <a:gd name="adj" fmla="val 3714"/>
            </a:avLst>
          </a:prstGeom>
          <a:solidFill>
            <a:srgbClr val="0C1526"/>
          </a:solidFill>
          <a:ln w="1524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8" name="Image 1" descr="fig_aq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8" y="4434840"/>
            <a:ext cx="6583680" cy="108462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5.4 — đầu ra /aqi 593 MB + cờ _SUCCESS (minh chứng Pha 2 chạy thật trên dữ liệu 5 năm).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6766560" cy="2514600"/>
          </a:xfrm>
          <a:prstGeom prst="roundRect">
            <a:avLst>
              <a:gd name="adj" fmla="val 2182"/>
            </a:avLst>
          </a:prstGeom>
          <a:solidFill>
            <a:srgbClr val="0F1F3C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17904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883664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I_low)/(BP_high − BP_low) × (Cₓ − BP_low) + I_low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33172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),   x ∈ {PM2.5, PM10, O₃, NO₂, SO₂, CO}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2834640"/>
            <a:ext cx="6309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(PM2.5, TB 24h = 35,2):  </a:t>
            </a:r>
            <a:pPr indent="0" marL="0">
              <a:buNone/>
            </a:pPr>
            <a:r>
              <a:rPr lang="en-US" sz="1200" b="1" dirty="0">
                <a:solidFill>
                  <a:srgbClr val="9DE5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= (100−50)/(50−25)×(35,2−25)+50 = 70,4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429000"/>
            <a:ext cx="6309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trội (dominant) =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cho IAQI lớn nhất.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452360" y="1417320"/>
            <a:ext cx="4187952" cy="2514600"/>
          </a:xfrm>
          <a:prstGeom prst="roundRect">
            <a:avLst>
              <a:gd name="adj" fmla="val 2182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680960" y="151790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đặc biệt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1901952"/>
            <a:ext cx="37490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VN từ nồng độ (không dùng owm_aqi)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12h cho PM ở AQI giờ; TB 24h cho AQI ngày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Breakpoint để ở file JSON → đổi VN_1459/US_EPA không sửa code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Nồng độ vượt trần → kẹp AQI = 500; âm → bỏ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 — tra nhãn &amp; màu từ giá trị AQI cuối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85216" y="4617720"/>
            <a:ext cx="1738884" cy="1234440"/>
          </a:xfrm>
          <a:prstGeom prst="roundRect">
            <a:avLst>
              <a:gd name="adj" fmla="val 4444"/>
            </a:avLst>
          </a:prstGeom>
          <a:solidFill>
            <a:srgbClr val="4CAF5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85216" y="4617720"/>
            <a:ext cx="173888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2433828" y="4617720"/>
            <a:ext cx="1738884" cy="1234440"/>
          </a:xfrm>
          <a:prstGeom prst="roundRect">
            <a:avLst>
              <a:gd name="adj" fmla="val 4444"/>
            </a:avLst>
          </a:prstGeom>
          <a:solidFill>
            <a:srgbClr val="F4C43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2433828" y="4617720"/>
            <a:ext cx="173888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4282440" y="4617720"/>
            <a:ext cx="1738884" cy="1234440"/>
          </a:xfrm>
          <a:prstGeom prst="roundRect">
            <a:avLst>
              <a:gd name="adj" fmla="val 4444"/>
            </a:avLst>
          </a:prstGeom>
          <a:solidFill>
            <a:srgbClr val="F3722C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282440" y="4617720"/>
            <a:ext cx="173888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131052" y="4617720"/>
            <a:ext cx="1738884" cy="1234440"/>
          </a:xfrm>
          <a:prstGeom prst="roundRect">
            <a:avLst>
              <a:gd name="adj" fmla="val 4444"/>
            </a:avLst>
          </a:prstGeom>
          <a:solidFill>
            <a:srgbClr val="D62828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131052" y="4617720"/>
            <a:ext cx="173888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900" dirty="0"/>
          </a:p>
        </p:txBody>
      </p:sp>
      <p:sp>
        <p:nvSpPr>
          <p:cNvPr id="29" name="Shape 26"/>
          <p:cNvSpPr/>
          <p:nvPr/>
        </p:nvSpPr>
        <p:spPr>
          <a:xfrm>
            <a:off x="7979664" y="4617720"/>
            <a:ext cx="1738884" cy="1234440"/>
          </a:xfrm>
          <a:prstGeom prst="roundRect">
            <a:avLst>
              <a:gd name="adj" fmla="val 4444"/>
            </a:avLst>
          </a:prstGeom>
          <a:solidFill>
            <a:srgbClr val="8E44AD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979664" y="4617720"/>
            <a:ext cx="173888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9828276" y="4617720"/>
            <a:ext cx="1738884" cy="1234440"/>
          </a:xfrm>
          <a:prstGeom prst="roundRect">
            <a:avLst>
              <a:gd name="adj" fmla="val 4444"/>
            </a:avLst>
          </a:prstGeom>
          <a:solidFill>
            <a:srgbClr val="7B241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828276" y="4617720"/>
            <a:ext cx="173888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(1) — thiết kế &amp; thời gian chạy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1B3157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49961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thí nghiệm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847088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(UDF NowCast + iaqi_hour) — phần nặng CPU nhất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tổng hợp sinh bằng Spark (không đọc file → đo đúng chi phí tính toán)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kích thước × 3 số executor, mỗi combo 1 tiến trình riêng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16,39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11,84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15,97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99,00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51,24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48,43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749,31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385,22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308,79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263640" y="1645920"/>
            <a:ext cx="5394960" cy="3481665"/>
          </a:xfrm>
          <a:prstGeom prst="roundRect">
            <a:avLst>
              <a:gd name="adj" fmla="val 1313"/>
            </a:avLst>
          </a:prstGeom>
          <a:solidFill>
            <a:srgbClr val="FFFFFF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6" name="Image 1" descr="scalability_runt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37360"/>
            <a:ext cx="5212080" cy="329878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55080" y="5145873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5.9 — thời gian chạy Pha 2 theo kích thước &amp; số executor.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(2) — speedup &amp; kết luận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63040"/>
            <a:ext cx="5852160" cy="3771032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2" name="Image 1" descr="scalability_speed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669280" cy="35881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523407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5.10 — speedup so với 1 executor.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720840" y="15544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949440" y="164592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kết quả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949440" y="2011680"/>
            <a:ext cx="44805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càng lớn, lợi ích phân tán càng rõ (8M: 2,43×)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(15,97s) còn CHẬM hơn 2 exec — overhead lấn át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Dưới tuyến tính: Python UDF serialize JVM↔Python + shuffle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720840" y="361188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1B3157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949440" y="370332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(nói thẳng)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949440" y="4041648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worker chạy trên CÙNG một máy (Docker) → phân tán đa tiến trình, chưa phải cụm nhiều node. Mỗi cấu hình đo một lần nên chưa có độ lệch chuẩn.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Luận điểm chốt: cần dữ liệu đủ lớn mới thấy rõ lợi ích xử lý phân tán → đây chính là lý do bài toán cần Big Data.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2026-09-21T07:17:52Z</dcterms:created>
  <dcterms:modified xsi:type="dcterms:W3CDTF">2026-09-21T07:17:52Z</dcterms:modified>
</cp:coreProperties>
</file>